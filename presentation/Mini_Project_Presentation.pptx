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84" r:id="rId1"/>
  </p:sldMasterIdLst>
  <p:notesMasterIdLst>
    <p:notesMasterId r:id="rId14"/>
  </p:notesMasterIdLst>
  <p:sldIdLst>
    <p:sldId id="256" r:id="rId8"/>
    <p:sldId id="257" r:id="rId9"/>
    <p:sldId id="258" r:id="rId10"/>
    <p:sldId id="259" r:id="rId11"/>
    <p:sldId id="260" r:id="rId12"/>
    <p:sldId id="261" r:id="rId13"/>
    <p:sldId id="262" r:id="rId7"/>
    <p:sldId id="263" r:id="rId6"/>
    <p:sldId id="264" r:id="rId5"/>
    <p:sldId id="265" r:id="rId4"/>
    <p:sldId id="266" r:id="rId3"/>
    <p:sldId id="267" r:id="rId2"/>
    <p:sldId id="268" r:id="rId20"/>
    <p:sldId id="269" r:id="rId21"/>
    <p:sldId id="270" r:id="rId22"/>
    <p:sldId id="271" r:id="rId23"/>
    <p:sldId id="272" r:id="rId24"/>
    <p:sldId id="273" r:id="rId25"/>
    <p:sldId id="274" r:id="rId26"/>
    <p:sldId id="275" r:id="rId2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E65D3A9-B56B-780A-36D4-B1817836BBE5}" v="10" dt="2026-10-10T18:58:06.712"/>
    <p1510:client id="{77F15680-6136-DC7C-E562-BAF3CA7692A8}" v="3" dt="2026-10-10T19:39:22.518"/>
    <p1510:client id="{A82CF7B8-DBCE-3986-E89B-14D6004098A4}" v="2" dt="2026-10-10T19:38:33.937"/>
    <p1510:client id="{DC4EF911-D3B8-3368-B620-103D7213DC70}" v="62" dt="2026-10-09T17:12:08.05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2.xml"/><Relationship Id="rId3" Type="http://schemas.openxmlformats.org/officeDocument/2006/relationships/slide" Target="slides/slide11.xml"/><Relationship Id="rId4" Type="http://schemas.openxmlformats.org/officeDocument/2006/relationships/slide" Target="slides/slide10.xml"/><Relationship Id="rId5" Type="http://schemas.openxmlformats.org/officeDocument/2006/relationships/slide" Target="slides/slide9.xml"/><Relationship Id="rId6" Type="http://schemas.openxmlformats.org/officeDocument/2006/relationships/slide" Target="slides/slide8.xml"/><Relationship Id="rId7" Type="http://schemas.openxmlformats.org/officeDocument/2006/relationships/slide" Target="slides/slide7.xml"/><Relationship Id="rId8" Type="http://schemas.openxmlformats.org/officeDocument/2006/relationships/slide" Target="slides/slide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 Id="rId19" Type="http://schemas.microsoft.com/office/2015/10/relationships/revisionInfo" Target="revisionInfo.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Target time: 35 seconds. Presenter: Kirill.</a:t>
            </a:r>
          </a:p>
          <a:p>
            <a:r>
              <a:t>Slide 1: Title</a:t>
            </a:r>
          </a:p>
          <a:p>
            <a:r>
              <a:t>Before we start, we press Run All in the notebook. It runs everything from the raw CSV files, from top to bottom, and takes about two minutes; we will look at it twice during the talk. The trained models load from a saved cache, because training them all from scratch takes about 25 minutes.</a:t>
            </a:r>
          </a:p>
          <a:p>
            <a:r>
              <a:t>We are Kirill and Stefanos. Our project is a network intrusion detector on CIC-UNSW-NB15. It scores 0.97. The talk is about whether we should trust that number.</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Target time: 70 seconds. Presenter: Kirill.</a:t>
            </a:r>
          </a:p>
          <a:p>
            <a:r>
              <a:t>Slide 2: Problem, data and baseline</a:t>
            </a:r>
          </a:p>
          <a:p>
            <a:r>
              <a:t>The problem: for every network flow, one conversation between two computers summarised as numbers about packets, sizes and timing, decide whether it is normal or part of an attack. The users are SOC analysts. A false alarm costs them time, and with millions of flows a day even 1% false alarms buries the real ones. A missed attack costs more per case, because the attacker goes unnoticed. So we want high recall at a low false alarm rate.</a:t>
            </a:r>
          </a:p>
          <a:p>
            <a:r>
              <a:t>The data is CIC-UNSW-NB15, flows with 76 features. I removed 141,742 exact duplicates, because a copy in training and another in test makes the test too easy, and kept all 305,105 remaining flows; no subsample. 26.3% are attacks, of nine types. The split is 60/20/20, stratified on the attack type.</a:t>
            </a:r>
          </a:p>
          <a:p>
            <a:r>
              <a:t>The trivial baseline calls everything benign. It gets 74% accuracy and catches nothing, which is why accuracy is not one of my scores.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Target time: 55 seconds. Presenter: Kirill.</a:t>
            </a:r>
          </a:p>
          <a:p>
            <a:r>
              <a:t>Slide 3: Three models, one test</a:t>
            </a:r>
          </a:p>
          <a:p>
            <a:r>
              <a:t>Two glass boxes, a decision tree and logistic regression, and one black box, gradient boosting. Every setting, the tree depth, the regularisation and the boosting grid, was chosen on the validation set, and the test set was used once at the end. Validation and test agree within 0.003 on every score.</a:t>
            </a:r>
          </a:p>
          <a:p>
            <a:r>
              <a:t>All three are far above the baseline. Boosting is best, but only by 0.003 macro-F1 over a depth-12 tree. Logistic regression catches the most attacks but raises the most false alarms. I read that small gap as a warning, not a success: if a tree solves the problem this well, the model probably relies on a few strong signals. Parts D and E show which ones.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Target time: 30 seconds. Presenter: Kirill.</a:t>
            </a:r>
          </a:p>
          <a:p>
            <a:r>
              <a:t>Slide 4: Live: the test scores, computed now</a:t>
            </a:r>
          </a:p>
          <a:p>
            <a:r>
              <a:t>This is the notebook we started almost three minutes ago. It is already past Part B: here is the test table, computed just now, with the same 0.972 as on the slide. It is now working through the explanation part. We come back at the end. Stefanos now takes Parts C, D and 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Target time: 60 seconds. Presenter: Stefanos.</a:t>
            </a:r>
          </a:p>
          <a:p>
            <a:r>
              <a:t>Slide 5: 10% of the labels</a:t>
            </a:r>
          </a:p>
          <a:p>
            <a:r>
              <a:t>Part C: what if only 10% of the training flows have labels? The lower line, boosting on those 18,306 flows, loses only 0.003 macro-F1. So there was very little to win back.</a:t>
            </a:r>
          </a:p>
          <a:p>
            <a:r>
              <a:t>I tried pseudo-labelling: the model labels the unlabelled flows it is very sure about, they join the training data, and it retrains, for two rounds. The cutoff, 0.95, was chosen on validation. The answer is no: on test it is slightly below the lower line. The reason is in the guesses: the first round added 143,824 flows and 99.5% were right, but they were flows the model already classified correctly, so they taught it nothing. An extra check with only 1% of the labels did find a small real gain. Unlabelled data help only when labels are really scarce.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Target time: 55 seconds. Presenter: Stefanos.</a:t>
            </a:r>
          </a:p>
          <a:p>
            <a:r>
              <a:t>Slide 6: What the model looks at</a:t>
            </a:r>
          </a:p>
          <a:p>
            <a:r>
              <a:t>Part D. SHAP on 1,000 validation flows. Three features carry 76% of the weight. The top two are not properties of an attack. They are TCP settings of the machine that opens the connection: the segment size and the initial window. In training, 95% of all attacks announce a window of exactly 16,383 bytes, and 89% of flows with a segment size of 20 are attacks.</a:t>
            </a:r>
          </a:p>
          <a:p>
            <a:r>
              <a:t>The UNSW-NB15 attacks were generated from a few attacker machines, so the model has learned to recognise those machines. That is a shortcut. You can see it in the plot: the top two features split into separate clouds, one value pushes hard to attack, the other to benign.</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Target time: 40 seconds. Presenter: Stefanos.</a:t>
            </a:r>
          </a:p>
          <a:p>
            <a:r>
              <a:t>Slide 7: The most confident mistake</a:t>
            </a:r>
          </a:p>
          <a:p>
            <a:r>
              <a:t>I explained three test flows: the most confident detection, the most confident correct negative, and the most confident mistake. This is the mistake: a benign flow called an attack with probability 0.999. It happens to use the attacker's TCP settings, and SHAP shows those two values alone add 5.7 and 3.5 log-odds. It is not a one-off: 1,197 of the 1,241 false alarms on the test set are benign flows with that fingerprint.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Target time: 50 seconds. Presenter: Stefanos.</a:t>
            </a:r>
          </a:p>
          <a:p>
            <a:r>
              <a:t>Slide 8: Can we trust the explanation?</a:t>
            </a:r>
          </a:p>
          <a:p>
            <a:r>
              <a:t>Is the explanation itself right? Fidelity: on 500 flows called attacks, replacing the top SHAP feature with its training median flipped every single decision to benign; a random feature, 2.8%. So SHAP is faithful, and the test confirms the shortcut as cause and effect. Stability: TreeSHAP is exact and gives the same values every time. LIME changed with the seed, and gave the same top three for all three flows, so it was describing the model in general, not the flow. They agree only partly, and of four reasons I tested the main one is fit: the model behaves like a switch, and LIME's straight line cannot describe it.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Target time: 45 seconds. Presenter: Stefanos.</a:t>
            </a:r>
          </a:p>
          <a:p>
            <a:r>
              <a:t>Slide 9: Noise and missing fields</a:t>
            </a:r>
          </a:p>
          <a:p>
            <a:r>
              <a:t>Part E. I added measurement noise, scaled to each feature's spread, and replaced fields with the training median. The rule for when to stop trusting a model was fixed before the tests. What broke first: the two tree models under noise. A thousandth of a standard deviation already halves boosting's recall. The reason is the shortcut again: the trees test for a narrow interval around the exact fingerprint value, and tiny noise moves it out. Logistic regression survives twenty times more. And in every case it was recall that broke, not the false alarm rate: fewer alerts, which looks like good news.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Target time: 45 seconds. Presenter: Stefanos.</a:t>
            </a:r>
          </a:p>
          <a:p>
            <a:r>
              <a:t>Slide 10: What an attacker would fake</a:t>
            </a:r>
          </a:p>
          <a:p>
            <a:r>
              <a:t>What would an attacker fake? I sorted the features by who controls them. 69% of the SHAP weight is on features the attacker can change cheaply, above all the TCP settings of their own machine. If every test attack simply copies the most common benign settings, and nothing else, boosting's recall drops to zero. A greedy attack search, in the separate notebook of extra checks, allowed only changes the attacker controls, needed a single change for all 50 attacks it tried. I will show that live after Part F, which Kirill presents now.</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Target time: 55 seconds. Presenter: Kirill.</a:t>
            </a:r>
          </a:p>
          <a:p>
            <a:r>
              <a:t>Slide 11: A belief rule base on two features</a:t>
            </a:r>
          </a:p>
          <a:p>
            <a:r>
              <a:t>Part F, a knowledge-based layer: a belief rule base with evidential reasoning, the engine from our Lab 3. Its inputs are the two most important SHAP features that take three distinct levels; the top feature had to be skipped because two of its three levels coincide. Three levels each gives nine rules like "if the window is High and the reply rate is Low, then High risk". Each rule's belief comes from the attack share of the training flows it covers, and the threshold was chosen on validation.</a:t>
            </a:r>
          </a:p>
          <a:p>
            <a:r>
              <a:t>The fair comparison is against a tree and a forest that see the same two features. The BRB is 0.009 macro-F1 behind, because three levels are too coarse to isolate the exact fingerprint value.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Target time: 45 seconds. Presenter: Kirill.</a:t>
            </a:r>
          </a:p>
          <a:p>
            <a:r>
              <a:t>Slide 12: What Unknown buys</a:t>
            </a:r>
          </a:p>
          <a:p>
            <a:r>
              <a:t>What does the BRB give for that cost? A traceable reason for each decision, and an explicit Unknown. For the false alarm from Part D it still says attack, but with beliefs spread over Medium and High, not 0.999. With an input missing, Unknown rises and the risk becomes a range that spans the threshold: the honest answer "cannot decide", which should go to an analyst. And it survives noise far better than the tree and forest on the same features. The costs are on the slide. Back to Stefanos for Part G.</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Target time: 60 seconds. Presenter: Stefanos.</a:t>
            </a:r>
          </a:p>
          <a:p>
            <a:r>
              <a:t>Slide 13: A new attack: Fuzzers</a:t>
            </a:r>
          </a:p>
          <a:p>
            <a:r>
              <a:t>Part G. I hid one attack type, Fuzzers, a third of the training attacks, from training only, and retrained with the same settings. Recall on Fuzzers fell from 0.988 to 0.688, while the other types barely moved. And the false alarm rate went down, so the alert count would suggest things got better. The sign was elsewhere: 82% of Fuzzers flows got a probability between 0.1 and 0.9, against 43% before.</a:t>
            </a:r>
          </a:p>
          <a:p>
            <a:r>
              <a:t>Then an analyst labels 100 Fuzzers flows, taken from the removed training flows, never from test. As ordinary flows they barely help. Weighted 100 times they bring recall to 0.845: more than half of the loss recovered. A learning curve in the extra notebook reaches 0.956 with 500 weighted labels.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Target time: 40 seconds. Presenter: Stefanos.</a:t>
            </a:r>
          </a:p>
          <a:p>
            <a:r>
              <a:t>Slide 14: Live: one attack, two settings changed</a:t>
            </a:r>
          </a:p>
          <a:p>
            <a:r>
              <a:t>Back to the notebook: the run has finished, all the way to Part G. One more cell. This is the test attack the model is most sure about, an Exploits flow, 0.9996. I change one number, the segment size, to what normal machines use. Now it is 0.003: benign. That is one system setting on the attacker's side, and the attack itself is unchanged. Kirill closes.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Target time: 55 seconds. Presenter: Kirill.</a:t>
            </a:r>
          </a:p>
          <a:p>
            <a:r>
              <a:t>Slide 15: Would we deploy this?</a:t>
            </a:r>
          </a:p>
          <a:p>
            <a:r>
              <a:t>Would we deploy this? Not as it is. On this dataset it is excellent, but its accuracy rests on recognising a few attacker machines, and that says nothing about attackers elsewhere. Also, the test set has 26% attacks; real traffic has about 2.5%, and then fewer than half of the alerts would be real.</a:t>
            </a:r>
          </a:p>
          <a:p>
            <a:r>
              <a:t>Without the three TCP features, the model loses almost nothing, 0.971, and is far more robust to noise. We would deploy that one, but not alone: timing and padding are still cheap to fake. So: that model, the BRB as a second opinion that sends undecided flows to an analyst, monitoring of the share of unsure predictions, and features computed over many flows. Thank you.</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e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solidFill>
          <a:schemeClr val="bg2">
            <a:lumMod val="75000"/>
          </a:schemeClr>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1261872" y="758952"/>
            <a:ext cx="9418320" cy="4041648"/>
          </a:xfrm>
        </p:spPr>
        <p:txBody>
          <a:bodyPr anchor="b">
            <a:normAutofit/>
          </a:bodyPr>
          <a:lstStyle>
            <a:lvl1pPr algn="l">
              <a:lnSpc>
                <a:spcPct val="85000"/>
              </a:lnSpc>
              <a:defRPr sz="7200" baseline="0">
                <a:solidFill>
                  <a:schemeClr val="tx1"/>
                </a:solidFill>
              </a:defRPr>
            </a:lvl1pPr>
          </a:lstStyle>
          <a:p>
            <a:r>
              <a:rPr lang="en-US"/>
              <a:t>Click to edit Master title style</a:t>
            </a:r>
          </a:p>
        </p:txBody>
      </p:sp>
      <p:sp>
        <p:nvSpPr>
          <p:cNvPr id="3" name="Subtitle 2"/>
          <p:cNvSpPr>
            <a:spLocks noGrp="1"/>
          </p:cNvSpPr>
          <p:nvPr>
            <p:ph type="subTitle" idx="1"/>
          </p:nvPr>
        </p:nvSpPr>
        <p:spPr>
          <a:xfrm>
            <a:off x="1261872" y="4800600"/>
            <a:ext cx="9418320" cy="1691640"/>
          </a:xfrm>
        </p:spPr>
        <p:txBody>
          <a:bodyPr>
            <a:normAutofit/>
          </a:bodyPr>
          <a:lstStyle>
            <a:lvl1pPr marL="0" indent="0" algn="l">
              <a:buNone/>
              <a:defRPr sz="2200" baseline="0">
                <a:solidFill>
                  <a:schemeClr val="tx1">
                    <a:lumMod val="75000"/>
                  </a:schemeClr>
                </a:solidFill>
              </a:defRPr>
            </a:lvl1pPr>
            <a:lvl2pPr marL="457200" indent="0" algn="ctr">
              <a:buNone/>
              <a:defRPr sz="2200"/>
            </a:lvl2pPr>
            <a:lvl3pPr marL="914400" indent="0" algn="ctr">
              <a:buNone/>
              <a:defRPr sz="22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p>
        </p:txBody>
      </p:sp>
      <p:sp>
        <p:nvSpPr>
          <p:cNvPr id="4" name="Date Placeholder 3"/>
          <p:cNvSpPr>
            <a:spLocks noGrp="1"/>
          </p:cNvSpPr>
          <p:nvPr>
            <p:ph type="dt" sz="half" idx="10"/>
          </p:nvPr>
        </p:nvSpPr>
        <p:spPr/>
        <p:txBody>
          <a:bodyPr/>
          <a:lstStyle>
            <a:lvl1pPr>
              <a:defRPr>
                <a:solidFill>
                  <a:schemeClr val="tx1">
                    <a:lumMod val="50000"/>
                  </a:schemeClr>
                </a:solidFill>
              </a:defRPr>
            </a:lvl1pPr>
          </a:lstStyle>
          <a:p>
            <a:fld id="{9E016143-E03C-4CFD-AFDC-14E5BDEA754C}" type="datetimeFigureOut">
              <a:rPr lang="en-US" dirty="0"/>
              <a:t>10/11/2026</a:t>
            </a:fld>
            <a:endParaRPr lang="en-US"/>
          </a:p>
        </p:txBody>
      </p:sp>
      <p:sp>
        <p:nvSpPr>
          <p:cNvPr id="5" name="Footer Placeholder 4"/>
          <p:cNvSpPr>
            <a:spLocks noGrp="1"/>
          </p:cNvSpPr>
          <p:nvPr>
            <p:ph type="ftr" sz="quarter" idx="11"/>
          </p:nvPr>
        </p:nvSpPr>
        <p:spPr/>
        <p:txBody>
          <a:bodyPr/>
          <a:lstStyle>
            <a:lvl1pPr>
              <a:defRPr>
                <a:solidFill>
                  <a:schemeClr val="tx1">
                    <a:lumMod val="65000"/>
                  </a:schemeClr>
                </a:solidFill>
              </a:defRPr>
            </a:lvl1pPr>
          </a:lstStyle>
          <a:p>
            <a:endParaRPr lang="en-US"/>
          </a:p>
        </p:txBody>
      </p:sp>
      <p:sp>
        <p:nvSpPr>
          <p:cNvPr id="6" name="Slide Number Placeholder 5"/>
          <p:cNvSpPr>
            <a:spLocks noGrp="1"/>
          </p:cNvSpPr>
          <p:nvPr>
            <p:ph type="sldNum" sz="quarter" idx="12"/>
          </p:nvPr>
        </p:nvSpPr>
        <p:spPr/>
        <p:txBody>
          <a:bodyPr/>
          <a:lstStyle>
            <a:lvl1pPr>
              <a:defRPr>
                <a:solidFill>
                  <a:schemeClr val="tx1">
                    <a:lumMod val="65000"/>
                  </a:schemeClr>
                </a:solidFill>
              </a:defRPr>
            </a:lvl1pPr>
          </a:lstStyle>
          <a:p>
            <a:fld id="{4FAB73BC-B049-4115-A692-8D63A059BFB8}" type="slidenum">
              <a:rPr lang="en-US" dirty="0"/>
              <a:pPr/>
              <a:t>‹#›</a:t>
            </a:fld>
            <a:endParaRPr lang="en-US"/>
          </a:p>
        </p:txBody>
      </p:sp>
      <p:sp>
        <p:nvSpPr>
          <p:cNvPr id="7" name="Rectangle 6"/>
          <p:cNvSpPr/>
          <p:nvPr/>
        </p:nvSpPr>
        <p:spPr>
          <a:xfrm>
            <a:off x="0" y="0"/>
            <a:ext cx="4572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2088223492"/>
      </p:ext>
    </p:extLst>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78C94063-DF36-4330-A365-08DA1FA5B7D6}" type="datetimeFigureOut">
              <a:rPr lang="en-US" dirty="0"/>
              <a:t>10/11/2026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a:p>
        </p:txBody>
      </p:sp>
    </p:spTree>
    <p:extLst>
      <p:ext uri="{BB962C8B-B14F-4D97-AF65-F5344CB8AC3E}">
        <p14:creationId xmlns:p14="http://schemas.microsoft.com/office/powerpoint/2010/main" val="314233721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261872" y="758952"/>
            <a:ext cx="9418320" cy="4041648"/>
          </a:xfrm>
        </p:spPr>
        <p:txBody>
          <a:bodyPr anchor="b">
            <a:normAutofit/>
          </a:bodyPr>
          <a:lstStyle>
            <a:lvl1pPr>
              <a:lnSpc>
                <a:spcPct val="85000"/>
              </a:lnSpc>
              <a:defRPr sz="7200" b="0"/>
            </a:lvl1pPr>
          </a:lstStyle>
          <a:p>
            <a:r>
              <a:rPr lang="en-US"/>
              <a:t>Click to edit Master title style</a:t>
            </a:r>
          </a:p>
        </p:txBody>
      </p:sp>
      <p:sp>
        <p:nvSpPr>
          <p:cNvPr id="3" name="Text Placeholder 2"/>
          <p:cNvSpPr>
            <a:spLocks noGrp="1"/>
          </p:cNvSpPr>
          <p:nvPr>
            <p:ph type="body" idx="1"/>
          </p:nvPr>
        </p:nvSpPr>
        <p:spPr>
          <a:xfrm>
            <a:off x="1261872" y="4800600"/>
            <a:ext cx="9418320" cy="1691640"/>
          </a:xfrm>
        </p:spPr>
        <p:txBody>
          <a:bodyPr anchor="t">
            <a:normAutofit/>
          </a:bodyPr>
          <a:lstStyle>
            <a:lvl1pPr marL="0" indent="0">
              <a:buNone/>
              <a:defRPr sz="22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08A7C6C-0F39-4D70-8E8D-FE5B9C95FA73}" type="datetimeFigureOut">
              <a:rPr lang="en-US" dirty="0"/>
              <a:t>10/11/2026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a:p>
        </p:txBody>
      </p:sp>
      <p:sp>
        <p:nvSpPr>
          <p:cNvPr id="7" name="Rectangle 6"/>
          <p:cNvSpPr/>
          <p:nvPr/>
        </p:nvSpPr>
        <p:spPr>
          <a:xfrm>
            <a:off x="0" y="0"/>
            <a:ext cx="4572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241706532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1261872" y="1828800"/>
            <a:ext cx="4480560" cy="4351337"/>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26480" y="1828800"/>
            <a:ext cx="4480560" cy="4351337"/>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DFCFA4AC-08CC-42CE-BD01-C191750A04EC}" type="datetimeFigureOut">
              <a:rPr lang="en-US" dirty="0"/>
              <a:t>10/11/2026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FAB73BC-B049-4115-A692-8D63A059BFB8}" type="slidenum">
              <a:rPr lang="en-US" dirty="0"/>
              <a:t>‹#›</a:t>
            </a:fld>
            <a:endParaRPr lang="en-US"/>
          </a:p>
        </p:txBody>
      </p:sp>
    </p:spTree>
    <p:extLst>
      <p:ext uri="{BB962C8B-B14F-4D97-AF65-F5344CB8AC3E}">
        <p14:creationId xmlns:p14="http://schemas.microsoft.com/office/powerpoint/2010/main" val="315534974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p>
        </p:txBody>
      </p:sp>
      <p:sp>
        <p:nvSpPr>
          <p:cNvPr id="3" name="Text Placeholder 2"/>
          <p:cNvSpPr>
            <a:spLocks noGrp="1"/>
          </p:cNvSpPr>
          <p:nvPr>
            <p:ph type="body" idx="1"/>
          </p:nvPr>
        </p:nvSpPr>
        <p:spPr>
          <a:xfrm>
            <a:off x="1261872" y="1713655"/>
            <a:ext cx="4480560" cy="731520"/>
          </a:xfrm>
        </p:spPr>
        <p:txBody>
          <a:bodyPr anchor="b">
            <a:normAutofit/>
          </a:bodyPr>
          <a:lstStyle>
            <a:lvl1pPr marL="0" indent="0">
              <a:spcBef>
                <a:spcPts val="0"/>
              </a:spcBef>
              <a:buNone/>
              <a:defRPr sz="2000" b="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261872" y="2507550"/>
            <a:ext cx="4480560" cy="366465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26480" y="1713655"/>
            <a:ext cx="4480560" cy="731520"/>
          </a:xfrm>
        </p:spPr>
        <p:txBody>
          <a:bodyPr anchor="b">
            <a:normAutofit/>
          </a:bodyPr>
          <a:lstStyle>
            <a:lvl1pPr marL="0" indent="0">
              <a:lnSpc>
                <a:spcPct val="95000"/>
              </a:lnSpc>
              <a:spcBef>
                <a:spcPts val="0"/>
              </a:spcBef>
              <a:buNone/>
              <a:defRPr lang="en-US" sz="2000" b="0" kern="1200" dirty="0">
                <a:solidFill>
                  <a:schemeClr val="tx2"/>
                </a:solidFill>
                <a:latin typeface="+mn-lt"/>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90000"/>
              </a:lnSpc>
              <a:spcBef>
                <a:spcPts val="2000"/>
              </a:spcBef>
              <a:buFontTx/>
              <a:buNone/>
            </a:pPr>
            <a:r>
              <a:rPr lang="en-US"/>
              <a:t>Click to edit Master text styles</a:t>
            </a:r>
          </a:p>
        </p:txBody>
      </p:sp>
      <p:sp>
        <p:nvSpPr>
          <p:cNvPr id="6" name="Content Placeholder 5"/>
          <p:cNvSpPr>
            <a:spLocks noGrp="1"/>
          </p:cNvSpPr>
          <p:nvPr>
            <p:ph sz="quarter" idx="4"/>
          </p:nvPr>
        </p:nvSpPr>
        <p:spPr>
          <a:xfrm>
            <a:off x="6126480" y="2507550"/>
            <a:ext cx="4480560" cy="366465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BA7A723-92A7-435B-B681-F25B092FEFEB}" type="datetimeFigureOut">
              <a:rPr lang="en-US" dirty="0"/>
              <a:t>10/11/2026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4FAB73BC-B049-4115-A692-8D63A059BFB8}" type="slidenum">
              <a:rPr lang="en-US" dirty="0"/>
              <a:t>‹#›</a:t>
            </a:fld>
            <a:endParaRPr lang="en-US"/>
          </a:p>
        </p:txBody>
      </p:sp>
    </p:spTree>
    <p:extLst>
      <p:ext uri="{BB962C8B-B14F-4D97-AF65-F5344CB8AC3E}">
        <p14:creationId xmlns:p14="http://schemas.microsoft.com/office/powerpoint/2010/main" val="103426039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4F170639-886C-4FCF-9EAB-ABB5DA3F3F4A}" type="datetimeFigureOut">
              <a:rPr lang="en-US" dirty="0"/>
              <a:t>10/11/2026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4FAB73BC-B049-4115-A692-8D63A059BFB8}" type="slidenum">
              <a:rPr lang="en-US" dirty="0"/>
              <a:t>‹#›</a:t>
            </a:fld>
            <a:endParaRPr lang="en-US"/>
          </a:p>
        </p:txBody>
      </p:sp>
    </p:spTree>
    <p:extLst>
      <p:ext uri="{BB962C8B-B14F-4D97-AF65-F5344CB8AC3E}">
        <p14:creationId xmlns:p14="http://schemas.microsoft.com/office/powerpoint/2010/main" val="370442467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2230651-31F4-45D2-98AE-A2108F41BC07}" type="datetimeFigureOut">
              <a:rPr lang="en-US" dirty="0"/>
              <a:t>10/11/2026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4FAB73BC-B049-4115-A692-8D63A059BFB8}" type="slidenum">
              <a:rPr lang="en-US" dirty="0"/>
              <a:t>‹#›</a:t>
            </a:fld>
            <a:endParaRPr lang="en-US"/>
          </a:p>
        </p:txBody>
      </p:sp>
    </p:spTree>
    <p:extLst>
      <p:ext uri="{BB962C8B-B14F-4D97-AF65-F5344CB8AC3E}">
        <p14:creationId xmlns:p14="http://schemas.microsoft.com/office/powerpoint/2010/main" val="197708337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1248" y="457200"/>
            <a:ext cx="3200400" cy="1600197"/>
          </a:xfrm>
        </p:spPr>
        <p:txBody>
          <a:bodyPr anchor="b">
            <a:normAutofit/>
          </a:bodyPr>
          <a:lstStyle>
            <a:lvl1pPr>
              <a:defRPr sz="3200" b="0" baseline="0"/>
            </a:lvl1pPr>
          </a:lstStyle>
          <a:p>
            <a:r>
              <a:rPr lang="en-US"/>
              <a:t>Click to edit Master title style</a:t>
            </a:r>
          </a:p>
        </p:txBody>
      </p:sp>
      <p:sp>
        <p:nvSpPr>
          <p:cNvPr id="3" name="Content Placeholder 2"/>
          <p:cNvSpPr>
            <a:spLocks noGrp="1"/>
          </p:cNvSpPr>
          <p:nvPr>
            <p:ph idx="1"/>
          </p:nvPr>
        </p:nvSpPr>
        <p:spPr>
          <a:xfrm>
            <a:off x="4504267" y="685800"/>
            <a:ext cx="6079066" cy="5486400"/>
          </a:xfr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41248" y="2099734"/>
            <a:ext cx="3200400" cy="3810001"/>
          </a:xfrm>
        </p:spPr>
        <p:txBody>
          <a:bodyPr>
            <a:normAutofit/>
          </a:bodyPr>
          <a:lstStyle>
            <a:lvl1pPr marL="0" indent="0">
              <a:lnSpc>
                <a:spcPct val="114000"/>
              </a:lnSpc>
              <a:spcBef>
                <a:spcPts val="800"/>
              </a:spcBef>
              <a:buNone/>
              <a:defRPr sz="13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6F53789A-C914-4DB1-8815-80B5EC7335C5}" type="datetimeFigureOut">
              <a:rPr lang="en-US" dirty="0"/>
              <a:t>10/11/2026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FAB73BC-B049-4115-A692-8D63A059BFB8}" type="slidenum">
              <a:rPr lang="en-US" dirty="0"/>
              <a:t>‹#›</a:t>
            </a:fld>
            <a:endParaRPr lang="en-US"/>
          </a:p>
        </p:txBody>
      </p:sp>
    </p:spTree>
    <p:extLst>
      <p:ext uri="{BB962C8B-B14F-4D97-AF65-F5344CB8AC3E}">
        <p14:creationId xmlns:p14="http://schemas.microsoft.com/office/powerpoint/2010/main" val="86002224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5105400"/>
            <a:ext cx="11292840" cy="17526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914400" y="5257800"/>
            <a:ext cx="9982200" cy="914400"/>
          </a:xfrm>
        </p:spPr>
        <p:txBody>
          <a:bodyPr anchor="b">
            <a:normAutofit/>
          </a:bodyPr>
          <a:lstStyle>
            <a:lvl1pPr>
              <a:defRPr sz="2800" b="0">
                <a:solidFill>
                  <a:schemeClr val="bg1"/>
                </a:solidFill>
              </a:defRPr>
            </a:lvl1pPr>
          </a:lstStyle>
          <a:p>
            <a:r>
              <a:rPr lang="en-US"/>
              <a:t>Click to edit Master title style</a:t>
            </a:r>
          </a:p>
        </p:txBody>
      </p:sp>
      <p:sp>
        <p:nvSpPr>
          <p:cNvPr id="3" name="Picture Placeholder 2"/>
          <p:cNvSpPr>
            <a:spLocks noGrp="1" noChangeAspect="1"/>
          </p:cNvSpPr>
          <p:nvPr>
            <p:ph type="pic" idx="1"/>
          </p:nvPr>
        </p:nvSpPr>
        <p:spPr>
          <a:xfrm>
            <a:off x="0" y="0"/>
            <a:ext cx="11292840" cy="5128923"/>
          </a:xfrm>
          <a:blipFill>
            <a:blip r:embed="rId2"/>
            <a:stretch>
              <a:fillRect/>
            </a:stretch>
          </a:blipFill>
        </p:spPr>
        <p:txBody>
          <a:bodyPr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914400" y="6108589"/>
            <a:ext cx="9982200" cy="597011"/>
          </a:xfrm>
        </p:spPr>
        <p:txBody>
          <a:bodyPr>
            <a:normAutofit/>
          </a:bodyPr>
          <a:lstStyle>
            <a:lvl1pPr marL="0" indent="0">
              <a:lnSpc>
                <a:spcPct val="100000"/>
              </a:lnSpc>
              <a:spcBef>
                <a:spcPts val="800"/>
              </a:spcBef>
              <a:buNone/>
              <a:defRPr sz="1300">
                <a:solidFill>
                  <a:schemeClr val="bg1">
                    <a:lumMod val="8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E6440AA-91A0-436F-8FDB-C0F939DCAE21}" type="datetimeFigureOut">
              <a:rPr lang="en-US" dirty="0"/>
              <a:t>10/11/2026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FAB73BC-B049-4115-A692-8D63A059BFB8}" type="slidenum">
              <a:rPr lang="en-US" dirty="0"/>
              <a:t>‹#›</a:t>
            </a:fld>
            <a:endParaRPr lang="en-US"/>
          </a:p>
        </p:txBody>
      </p:sp>
    </p:spTree>
    <p:extLst>
      <p:ext uri="{BB962C8B-B14F-4D97-AF65-F5344CB8AC3E}">
        <p14:creationId xmlns:p14="http://schemas.microsoft.com/office/powerpoint/2010/main" val="356315202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033E54A-A8CA-48C1-9504-691B58049D29}" type="datetimeFigureOut">
              <a:rPr lang="en-US" dirty="0"/>
              <a:t>10/11/2026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a:p>
        </p:txBody>
      </p:sp>
    </p:spTree>
    <p:extLst>
      <p:ext uri="{BB962C8B-B14F-4D97-AF65-F5344CB8AC3E}">
        <p14:creationId xmlns:p14="http://schemas.microsoft.com/office/powerpoint/2010/main" val="393574547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648700" y="381000"/>
            <a:ext cx="2476500" cy="5897562"/>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762000" y="381000"/>
            <a:ext cx="7734300" cy="5897562"/>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5F6C806-BBF7-471C-9527-881CE2266695}" type="datetimeFigureOut">
              <a:rPr lang="en-US" dirty="0"/>
              <a:t>10/11/2026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a:p>
        </p:txBody>
      </p:sp>
    </p:spTree>
    <p:extLst>
      <p:ext uri="{BB962C8B-B14F-4D97-AF65-F5344CB8AC3E}">
        <p14:creationId xmlns:p14="http://schemas.microsoft.com/office/powerpoint/2010/main" val="2469961777"/>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1292840" y="0"/>
            <a:ext cx="914400" cy="6858000"/>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261872" y="365760"/>
            <a:ext cx="9692640" cy="1325562"/>
          </a:xfrm>
          <a:prstGeom prst="rect">
            <a:avLst/>
          </a:prstGeom>
        </p:spPr>
        <p:txBody>
          <a:bodyPr vert="horz" lIns="91440" tIns="45720" rIns="91440" bIns="45720" rtlCol="0" anchor="b">
            <a:normAutofit/>
          </a:bodyPr>
          <a:lstStyle/>
          <a:p>
            <a:r>
              <a:rPr lang="en-US"/>
              <a:t>Click to edit Master title style</a:t>
            </a:r>
          </a:p>
        </p:txBody>
      </p:sp>
      <p:sp>
        <p:nvSpPr>
          <p:cNvPr id="3" name="Text Placeholder 2"/>
          <p:cNvSpPr>
            <a:spLocks noGrp="1"/>
          </p:cNvSpPr>
          <p:nvPr>
            <p:ph type="body" idx="1"/>
          </p:nvPr>
        </p:nvSpPr>
        <p:spPr>
          <a:xfrm>
            <a:off x="1261872" y="1828800"/>
            <a:ext cx="8595360" cy="4351337"/>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rot="16200000">
            <a:off x="10797542" y="998537"/>
            <a:ext cx="1904999" cy="365125"/>
          </a:xfrm>
          <a:prstGeom prst="rect">
            <a:avLst/>
          </a:prstGeom>
        </p:spPr>
        <p:txBody>
          <a:bodyPr vert="horz" lIns="91440" tIns="45720" rIns="91440" bIns="45720" rtlCol="0" anchor="ctr"/>
          <a:lstStyle>
            <a:lvl1pPr algn="r">
              <a:defRPr sz="1050" b="0">
                <a:solidFill>
                  <a:schemeClr val="tx2">
                    <a:lumMod val="20000"/>
                    <a:lumOff val="80000"/>
                  </a:schemeClr>
                </a:solidFill>
              </a:defRPr>
            </a:lvl1pPr>
          </a:lstStyle>
          <a:p>
            <a:fld id="{0E59FD0C-5451-4CA0-86AF-E70AE3279989}" type="datetimeFigureOut">
              <a:rPr lang="en-US" dirty="0"/>
              <a:t>10/11/2026</a:t>
            </a:fld>
            <a:endParaRPr lang="en-US"/>
          </a:p>
        </p:txBody>
      </p:sp>
      <p:sp>
        <p:nvSpPr>
          <p:cNvPr id="5" name="Footer Placeholder 4"/>
          <p:cNvSpPr>
            <a:spLocks noGrp="1"/>
          </p:cNvSpPr>
          <p:nvPr>
            <p:ph type="ftr" sz="quarter" idx="3"/>
          </p:nvPr>
        </p:nvSpPr>
        <p:spPr>
          <a:xfrm rot="16200000">
            <a:off x="9959341" y="4046537"/>
            <a:ext cx="3581400" cy="365125"/>
          </a:xfrm>
          <a:prstGeom prst="rect">
            <a:avLst/>
          </a:prstGeom>
        </p:spPr>
        <p:txBody>
          <a:bodyPr vert="horz" lIns="91440" tIns="45720" rIns="91440" bIns="45720" rtlCol="0" anchor="ctr"/>
          <a:lstStyle>
            <a:lvl1pPr algn="l">
              <a:defRPr sz="1050">
                <a:solidFill>
                  <a:schemeClr val="tx2">
                    <a:lumMod val="20000"/>
                    <a:lumOff val="80000"/>
                  </a:schemeClr>
                </a:solidFill>
              </a:defRPr>
            </a:lvl1pPr>
          </a:lstStyle>
          <a:p>
            <a:endParaRPr lang="en-US"/>
          </a:p>
        </p:txBody>
      </p:sp>
      <p:sp>
        <p:nvSpPr>
          <p:cNvPr id="6" name="Slide Number Placeholder 5"/>
          <p:cNvSpPr>
            <a:spLocks noGrp="1"/>
          </p:cNvSpPr>
          <p:nvPr>
            <p:ph type="sldNum" sz="quarter" idx="4"/>
          </p:nvPr>
        </p:nvSpPr>
        <p:spPr>
          <a:xfrm>
            <a:off x="11292840" y="6172200"/>
            <a:ext cx="914400" cy="593725"/>
          </a:xfrm>
          <a:prstGeom prst="rect">
            <a:avLst/>
          </a:prstGeom>
        </p:spPr>
        <p:txBody>
          <a:bodyPr vert="horz" lIns="45720" tIns="45720" rIns="45720" bIns="45720" rtlCol="0" anchor="ctr">
            <a:normAutofit/>
          </a:bodyPr>
          <a:lstStyle>
            <a:lvl1pPr algn="ctr">
              <a:defRPr sz="3600">
                <a:solidFill>
                  <a:schemeClr val="tx2">
                    <a:lumMod val="60000"/>
                    <a:lumOff val="40000"/>
                  </a:schemeClr>
                </a:solidFill>
              </a:defRPr>
            </a:lvl1pPr>
          </a:lstStyle>
          <a:p>
            <a:fld id="{4FAB73BC-B049-4115-A692-8D63A059BFB8}" type="slidenum">
              <a:rPr lang="en-US" dirty="0"/>
              <a:pPr/>
              <a:t>‹#›</a:t>
            </a:fld>
            <a:endParaRPr lang="en-US"/>
          </a:p>
        </p:txBody>
      </p:sp>
    </p:spTree>
    <p:extLst>
      <p:ext uri="{BB962C8B-B14F-4D97-AF65-F5344CB8AC3E}">
        <p14:creationId xmlns:p14="http://schemas.microsoft.com/office/powerpoint/2010/main" val="3936346293"/>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hf sldNum="0" hdr="0" ftr="0" dt="0"/>
  <p:txStyles>
    <p:titleStyle>
      <a:lvl1pPr algn="l" defTabSz="914400" rtl="0" eaLnBrk="1" latinLnBrk="0" hangingPunct="1">
        <a:lnSpc>
          <a:spcPct val="90000"/>
        </a:lnSpc>
        <a:spcBef>
          <a:spcPct val="0"/>
        </a:spcBef>
        <a:buNone/>
        <a:defRPr sz="4400" kern="1200" spc="-50" baseline="0">
          <a:solidFill>
            <a:schemeClr val="tx1"/>
          </a:solidFill>
          <a:latin typeface="+mj-lt"/>
          <a:ea typeface="+mj-ea"/>
          <a:cs typeface="+mj-cs"/>
        </a:defRPr>
      </a:lvl1pPr>
    </p:titleStyle>
    <p:bodyStyle>
      <a:lvl1pPr marL="182880" indent="-182880" algn="l" defTabSz="914400" rtl="0" eaLnBrk="1" latinLnBrk="0" hangingPunct="1">
        <a:lnSpc>
          <a:spcPct val="95000"/>
        </a:lnSpc>
        <a:spcBef>
          <a:spcPts val="1400"/>
        </a:spcBef>
        <a:spcAft>
          <a:spcPts val="200"/>
        </a:spcAft>
        <a:buClr>
          <a:schemeClr val="accent1"/>
        </a:buClr>
        <a:buSzPct val="80000"/>
        <a:buFont typeface="Arial" pitchFamily="34" charset="0"/>
        <a:buChar char="•"/>
        <a:defRPr sz="1800" kern="1200" spc="10" baseline="0">
          <a:solidFill>
            <a:schemeClr val="tx1"/>
          </a:solidFill>
          <a:latin typeface="+mn-lt"/>
          <a:ea typeface="+mn-ea"/>
          <a:cs typeface="+mn-cs"/>
        </a:defRPr>
      </a:lvl1pPr>
      <a:lvl2pPr marL="45720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600" kern="1200">
          <a:solidFill>
            <a:schemeClr val="tx1">
              <a:lumMod val="85000"/>
              <a:lumOff val="15000"/>
            </a:schemeClr>
          </a:solidFill>
          <a:latin typeface="+mn-lt"/>
          <a:ea typeface="+mn-ea"/>
          <a:cs typeface="+mn-cs"/>
        </a:defRPr>
      </a:lvl2pPr>
      <a:lvl3pPr marL="73152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3pPr>
      <a:lvl4pPr marL="100584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4pPr>
      <a:lvl5pPr marL="128016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5pPr>
      <a:lvl6pPr marL="16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6pPr>
      <a:lvl7pPr marL="19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7pPr>
      <a:lvl8pPr marL="22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8pPr>
      <a:lvl9pPr marL="25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 Id="rId3"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 Id="rId3"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 Id="rId3" Type="http://schemas.openxmlformats.org/officeDocument/2006/relationships/image" Target="../media/image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 Id="rId3" Type="http://schemas.openxmlformats.org/officeDocument/2006/relationships/image" Target="../media/image5.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5F3ED"/>
        </a:solidFill>
        <a:effectLst/>
      </p:bgPr>
    </p:bg>
    <p:spTree>
      <p:nvGrpSpPr>
        <p:cNvPr id="1" name=""/>
        <p:cNvGrpSpPr/>
        <p:nvPr/>
      </p:nvGrpSpPr>
      <p:grpSpPr/>
      <p:sp>
        <p:nvSpPr>
          <p:cNvPr id="2" name="TextBox 1"/>
          <p:cNvSpPr txBox="1"/>
          <p:nvPr/>
        </p:nvSpPr>
        <p:spPr>
          <a:xfrm>
            <a:off x="687600" y="525600"/>
            <a:ext cx="10821600" cy="954000"/>
          </a:xfrm>
          <a:prstGeom prst="rect">
            <a:avLst/>
          </a:prstGeom>
          <a:noFill/>
        </p:spPr>
        <p:txBody>
          <a:bodyPr wrap="square" lIns="0" rIns="0" tIns="0" bIns="0" anchor="t">
            <a:noAutofit/>
          </a:bodyPr>
          <a:lstStyle/>
          <a:p>
            <a:pPr algn="l"/>
            <a:r>
              <a:rPr sz="3300" b="1">
                <a:solidFill>
                  <a:srgbClr val="17283C"/>
                </a:solidFill>
              </a:rPr>
              <a:t>Mini Project · AI for Cybersecurity</a:t>
            </a:r>
          </a:p>
        </p:txBody>
      </p:sp>
      <p:sp>
        <p:nvSpPr>
          <p:cNvPr id="3" name="TextBox 2"/>
          <p:cNvSpPr txBox="1"/>
          <p:nvPr/>
        </p:nvSpPr>
        <p:spPr>
          <a:xfrm>
            <a:off x="687600" y="1800000"/>
            <a:ext cx="10476000" cy="1584000"/>
          </a:xfrm>
          <a:prstGeom prst="rect">
            <a:avLst/>
          </a:prstGeom>
          <a:noFill/>
        </p:spPr>
        <p:txBody>
          <a:bodyPr wrap="square" lIns="0" rIns="0" tIns="0" bIns="0" anchor="t">
            <a:noAutofit/>
          </a:bodyPr>
          <a:lstStyle/>
          <a:p>
            <a:pPr algn="l"/>
            <a:r>
              <a:rPr sz="4000" b="1">
                <a:solidFill>
                  <a:srgbClr val="17283C"/>
                </a:solidFill>
              </a:rPr>
              <a:t>An Explainable and Robust</a:t>
            </a:r>
          </a:p>
          <a:p>
            <a:pPr algn="l"/>
            <a:r>
              <a:rPr sz="4000" b="1">
                <a:solidFill>
                  <a:srgbClr val="17283C"/>
                </a:solidFill>
              </a:rPr>
              <a:t>Cyber-Defence Model</a:t>
            </a:r>
          </a:p>
        </p:txBody>
      </p:sp>
      <p:sp>
        <p:nvSpPr>
          <p:cNvPr id="4" name="TextBox 3"/>
          <p:cNvSpPr txBox="1"/>
          <p:nvPr/>
        </p:nvSpPr>
        <p:spPr>
          <a:xfrm>
            <a:off x="687600" y="3600000"/>
            <a:ext cx="10000800" cy="360000"/>
          </a:xfrm>
          <a:prstGeom prst="rect">
            <a:avLst/>
          </a:prstGeom>
          <a:noFill/>
        </p:spPr>
        <p:txBody>
          <a:bodyPr wrap="square" lIns="0" rIns="0" tIns="0" bIns="0" anchor="t">
            <a:noAutofit/>
          </a:bodyPr>
          <a:lstStyle/>
          <a:p>
            <a:pPr algn="l"/>
            <a:r>
              <a:rPr sz="2400" b="0">
                <a:solidFill>
                  <a:srgbClr val="526173"/>
                </a:solidFill>
              </a:rPr>
              <a:t>Network intrusion detection on CIC-UNSW-NB15</a:t>
            </a:r>
          </a:p>
        </p:txBody>
      </p:sp>
      <p:sp>
        <p:nvSpPr>
          <p:cNvPr id="5" name="TextBox 4"/>
          <p:cNvSpPr txBox="1"/>
          <p:nvPr/>
        </p:nvSpPr>
        <p:spPr>
          <a:xfrm>
            <a:off x="687600" y="4068000"/>
            <a:ext cx="10000800" cy="666000"/>
          </a:xfrm>
          <a:prstGeom prst="rect">
            <a:avLst/>
          </a:prstGeom>
          <a:noFill/>
        </p:spPr>
        <p:txBody>
          <a:bodyPr wrap="square" lIns="0" rIns="0" tIns="0" bIns="0" anchor="t">
            <a:noAutofit/>
          </a:bodyPr>
          <a:lstStyle/>
          <a:p>
            <a:pPr algn="l"/>
            <a:r>
              <a:rPr sz="2600" b="0">
                <a:solidFill>
                  <a:srgbClr val="245CC5"/>
                </a:solidFill>
              </a:rPr>
              <a:t>Can we trust a detector that scores 0.97?</a:t>
            </a:r>
          </a:p>
        </p:txBody>
      </p:sp>
      <p:sp>
        <p:nvSpPr>
          <p:cNvPr id="6" name="TextBox 5"/>
          <p:cNvSpPr txBox="1"/>
          <p:nvPr/>
        </p:nvSpPr>
        <p:spPr>
          <a:xfrm>
            <a:off x="687600" y="5004000"/>
            <a:ext cx="10000800" cy="936000"/>
          </a:xfrm>
          <a:prstGeom prst="rect">
            <a:avLst/>
          </a:prstGeom>
          <a:noFill/>
        </p:spPr>
        <p:txBody>
          <a:bodyPr wrap="square" lIns="0" rIns="0" tIns="0" bIns="0" anchor="t">
            <a:noAutofit/>
          </a:bodyPr>
          <a:lstStyle/>
          <a:p>
            <a:pPr algn="l"/>
            <a:r>
              <a:rPr sz="1850" b="0">
                <a:solidFill>
                  <a:srgbClr val="526173"/>
                </a:solidFill>
              </a:rPr>
              <a:t>Group 6: Kirill Silchenko, Stefanos Ntentopoulos</a:t>
            </a:r>
          </a:p>
          <a:p>
            <a:pPr algn="l"/>
            <a:r>
              <a:rPr sz="1850" b="0">
                <a:solidFill>
                  <a:srgbClr val="526173"/>
                </a:solidFill>
              </a:rPr>
              <a:t>AI for Cybersecurity (D7084E / D7041E) · 15 October 2026</a:t>
            </a:r>
          </a:p>
        </p:txBody>
      </p:sp>
      <p:sp>
        <p:nvSpPr>
          <p:cNvPr id="7" name="TextBox 6"/>
          <p:cNvSpPr txBox="1"/>
          <p:nvPr/>
        </p:nvSpPr>
        <p:spPr>
          <a:xfrm>
            <a:off x="10785600" y="6256800"/>
            <a:ext cx="363600" cy="237600"/>
          </a:xfrm>
          <a:prstGeom prst="rect">
            <a:avLst/>
          </a:prstGeom>
          <a:noFill/>
        </p:spPr>
        <p:txBody>
          <a:bodyPr wrap="square" lIns="0" rIns="0" tIns="0" bIns="0" anchor="t">
            <a:noAutofit/>
          </a:bodyPr>
          <a:lstStyle/>
          <a:p>
            <a:pPr algn="r"/>
            <a:r>
              <a:rPr sz="1250" b="0">
                <a:solidFill>
                  <a:srgbClr val="526173"/>
                </a:solidFill>
              </a:rPr>
              <a:t>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5F3ED"/>
        </a:solidFill>
        <a:effectLst/>
      </p:bgPr>
    </p:bg>
    <p:spTree>
      <p:nvGrpSpPr>
        <p:cNvPr id="1" name=""/>
        <p:cNvGrpSpPr/>
        <p:nvPr/>
      </p:nvGrpSpPr>
      <p:grpSpPr/>
      <p:sp>
        <p:nvSpPr>
          <p:cNvPr id="2" name="TextBox 1"/>
          <p:cNvSpPr txBox="1"/>
          <p:nvPr/>
        </p:nvSpPr>
        <p:spPr>
          <a:xfrm>
            <a:off x="687600" y="525600"/>
            <a:ext cx="10821600" cy="954000"/>
          </a:xfrm>
          <a:prstGeom prst="rect">
            <a:avLst/>
          </a:prstGeom>
          <a:noFill/>
        </p:spPr>
        <p:txBody>
          <a:bodyPr wrap="square" lIns="0" rIns="0" tIns="0" bIns="0" anchor="t">
            <a:noAutofit/>
          </a:bodyPr>
          <a:lstStyle/>
          <a:p>
            <a:pPr algn="l"/>
            <a:r>
              <a:rPr sz="3300" b="1">
                <a:solidFill>
                  <a:srgbClr val="17283C"/>
                </a:solidFill>
              </a:rPr>
              <a:t>Problem, data and baseline</a:t>
            </a:r>
          </a:p>
        </p:txBody>
      </p:sp>
      <p:sp>
        <p:nvSpPr>
          <p:cNvPr id="3" name="TextBox 2"/>
          <p:cNvSpPr txBox="1"/>
          <p:nvPr/>
        </p:nvSpPr>
        <p:spPr>
          <a:xfrm>
            <a:off x="10785600" y="6256800"/>
            <a:ext cx="363600" cy="237600"/>
          </a:xfrm>
          <a:prstGeom prst="rect">
            <a:avLst/>
          </a:prstGeom>
          <a:noFill/>
        </p:spPr>
        <p:txBody>
          <a:bodyPr wrap="square" lIns="0" rIns="0" tIns="0" bIns="0" anchor="t">
            <a:noAutofit/>
          </a:bodyPr>
          <a:lstStyle/>
          <a:p>
            <a:pPr algn="r"/>
            <a:r>
              <a:rPr sz="1250" b="0">
                <a:solidFill>
                  <a:srgbClr val="526173"/>
                </a:solidFill>
              </a:rPr>
              <a:t>2</a:t>
            </a:r>
          </a:p>
        </p:txBody>
      </p:sp>
      <p:sp>
        <p:nvSpPr>
          <p:cNvPr id="4" name="TextBox 3"/>
          <p:cNvSpPr txBox="1"/>
          <p:nvPr/>
        </p:nvSpPr>
        <p:spPr>
          <a:xfrm>
            <a:off x="687600" y="6210000"/>
            <a:ext cx="9864000" cy="334800"/>
          </a:xfrm>
          <a:prstGeom prst="rect">
            <a:avLst/>
          </a:prstGeom>
          <a:noFill/>
        </p:spPr>
        <p:txBody>
          <a:bodyPr wrap="square" lIns="0" rIns="0" tIns="0" bIns="0" anchor="t">
            <a:noAutofit/>
          </a:bodyPr>
          <a:lstStyle/>
          <a:p>
            <a:pPr algn="l"/>
            <a:r>
              <a:rPr sz="1200" b="0">
                <a:solidFill>
                  <a:srgbClr val="526173"/>
                </a:solidFill>
              </a:rPr>
              <a:t>Notebook Part A · results/tables/A2_class_balance.csv, A4_baseline.csv</a:t>
            </a:r>
          </a:p>
        </p:txBody>
      </p:sp>
      <p:sp>
        <p:nvSpPr>
          <p:cNvPr id="5" name="TextBox 4"/>
          <p:cNvSpPr txBox="1"/>
          <p:nvPr/>
        </p:nvSpPr>
        <p:spPr>
          <a:xfrm>
            <a:off x="687600" y="1782000"/>
            <a:ext cx="2484000" cy="1152000"/>
          </a:xfrm>
          <a:prstGeom prst="rect">
            <a:avLst/>
          </a:prstGeom>
          <a:noFill/>
        </p:spPr>
        <p:txBody>
          <a:bodyPr wrap="square" lIns="0" rIns="0" tIns="0" bIns="0" anchor="t">
            <a:noAutofit/>
          </a:bodyPr>
          <a:lstStyle/>
          <a:p>
            <a:pPr algn="l"/>
            <a:r>
              <a:rPr sz="2250" b="1">
                <a:solidFill>
                  <a:srgbClr val="245CC5"/>
                </a:solidFill>
              </a:rPr>
              <a:t>Who uses it</a:t>
            </a:r>
          </a:p>
        </p:txBody>
      </p:sp>
      <p:sp>
        <p:nvSpPr>
          <p:cNvPr id="6" name="TextBox 5"/>
          <p:cNvSpPr txBox="1"/>
          <p:nvPr/>
        </p:nvSpPr>
        <p:spPr>
          <a:xfrm>
            <a:off x="3311999" y="1782000"/>
            <a:ext cx="4896000" cy="1152000"/>
          </a:xfrm>
          <a:prstGeom prst="rect">
            <a:avLst/>
          </a:prstGeom>
          <a:noFill/>
        </p:spPr>
        <p:txBody>
          <a:bodyPr wrap="square" lIns="0" rIns="0" tIns="0" bIns="0" anchor="t">
            <a:noAutofit/>
          </a:bodyPr>
          <a:lstStyle/>
          <a:p>
            <a:pPr algn="l"/>
            <a:r>
              <a:rPr sz="1850" b="0">
                <a:solidFill>
                  <a:srgbClr val="17283C"/>
                </a:solidFill>
              </a:rPr>
              <a:t>SOC analysts, who get an alert for every flow called an attack.</a:t>
            </a:r>
          </a:p>
        </p:txBody>
      </p:sp>
      <p:sp>
        <p:nvSpPr>
          <p:cNvPr id="7" name="TextBox 6"/>
          <p:cNvSpPr txBox="1"/>
          <p:nvPr/>
        </p:nvSpPr>
        <p:spPr>
          <a:xfrm>
            <a:off x="687600" y="3006000"/>
            <a:ext cx="2484000" cy="1152000"/>
          </a:xfrm>
          <a:prstGeom prst="rect">
            <a:avLst/>
          </a:prstGeom>
          <a:noFill/>
        </p:spPr>
        <p:txBody>
          <a:bodyPr wrap="square" lIns="0" rIns="0" tIns="0" bIns="0" anchor="t">
            <a:noAutofit/>
          </a:bodyPr>
          <a:lstStyle/>
          <a:p>
            <a:pPr algn="l"/>
            <a:r>
              <a:rPr sz="2250" b="1">
                <a:solidFill>
                  <a:srgbClr val="245CC5"/>
                </a:solidFill>
              </a:rPr>
              <a:t>What errors cost</a:t>
            </a:r>
          </a:p>
        </p:txBody>
      </p:sp>
      <p:sp>
        <p:nvSpPr>
          <p:cNvPr id="8" name="TextBox 7"/>
          <p:cNvSpPr txBox="1"/>
          <p:nvPr/>
        </p:nvSpPr>
        <p:spPr>
          <a:xfrm>
            <a:off x="3311999" y="3006000"/>
            <a:ext cx="4896000" cy="1152000"/>
          </a:xfrm>
          <a:prstGeom prst="rect">
            <a:avLst/>
          </a:prstGeom>
          <a:noFill/>
        </p:spPr>
        <p:txBody>
          <a:bodyPr wrap="square" lIns="0" rIns="0" tIns="0" bIns="0" anchor="t">
            <a:noAutofit/>
          </a:bodyPr>
          <a:lstStyle/>
          <a:p>
            <a:pPr algn="l"/>
            <a:r>
              <a:rPr sz="1850" b="0">
                <a:solidFill>
                  <a:srgbClr val="17283C"/>
                </a:solidFill>
              </a:rPr>
              <a:t>A false alarm costs analyst time and causes alert fatigue; a missed attack costs more, per case.</a:t>
            </a:r>
          </a:p>
        </p:txBody>
      </p:sp>
      <p:sp>
        <p:nvSpPr>
          <p:cNvPr id="9" name="TextBox 8"/>
          <p:cNvSpPr txBox="1"/>
          <p:nvPr/>
        </p:nvSpPr>
        <p:spPr>
          <a:xfrm>
            <a:off x="687600" y="4230000"/>
            <a:ext cx="2484000" cy="1152000"/>
          </a:xfrm>
          <a:prstGeom prst="rect">
            <a:avLst/>
          </a:prstGeom>
          <a:noFill/>
        </p:spPr>
        <p:txBody>
          <a:bodyPr wrap="square" lIns="0" rIns="0" tIns="0" bIns="0" anchor="t">
            <a:noAutofit/>
          </a:bodyPr>
          <a:lstStyle/>
          <a:p>
            <a:pPr algn="l"/>
            <a:r>
              <a:rPr sz="2250" b="1">
                <a:solidFill>
                  <a:srgbClr val="245CC5"/>
                </a:solidFill>
              </a:rPr>
              <a:t>The data</a:t>
            </a:r>
          </a:p>
        </p:txBody>
      </p:sp>
      <p:sp>
        <p:nvSpPr>
          <p:cNvPr id="10" name="TextBox 9"/>
          <p:cNvSpPr txBox="1"/>
          <p:nvPr/>
        </p:nvSpPr>
        <p:spPr>
          <a:xfrm>
            <a:off x="3311999" y="4230000"/>
            <a:ext cx="4896000" cy="1152000"/>
          </a:xfrm>
          <a:prstGeom prst="rect">
            <a:avLst/>
          </a:prstGeom>
          <a:noFill/>
        </p:spPr>
        <p:txBody>
          <a:bodyPr wrap="square" lIns="0" rIns="0" tIns="0" bIns="0" anchor="t">
            <a:noAutofit/>
          </a:bodyPr>
          <a:lstStyle/>
          <a:p>
            <a:pPr algn="l"/>
            <a:r>
              <a:rPr sz="1850" b="0">
                <a:solidFill>
                  <a:srgbClr val="17283C"/>
                </a:solidFill>
              </a:rPr>
              <a:t>305,105 clean flows (141,742 duplicates removed), 26.3% attacks, nine attack types, split 60/20/20 stratified.</a:t>
            </a:r>
          </a:p>
        </p:txBody>
      </p:sp>
      <p:sp>
        <p:nvSpPr>
          <p:cNvPr id="11" name="Rectangle 10"/>
          <p:cNvSpPr/>
          <p:nvPr/>
        </p:nvSpPr>
        <p:spPr>
          <a:xfrm>
            <a:off x="8640000" y="1782000"/>
            <a:ext cx="2869200" cy="3456000"/>
          </a:xfrm>
          <a:prstGeom prst="rect">
            <a:avLst/>
          </a:prstGeom>
          <a:solidFill>
            <a:srgbClr val="DFE9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856000" y="2015999"/>
            <a:ext cx="2520000" cy="1044000"/>
          </a:xfrm>
          <a:prstGeom prst="rect">
            <a:avLst/>
          </a:prstGeom>
          <a:noFill/>
        </p:spPr>
        <p:txBody>
          <a:bodyPr wrap="square" lIns="0" rIns="0" tIns="0" bIns="0" anchor="b">
            <a:noAutofit/>
          </a:bodyPr>
          <a:lstStyle/>
          <a:p>
            <a:pPr algn="l"/>
            <a:r>
              <a:rPr sz="6000" b="1">
                <a:solidFill>
                  <a:srgbClr val="087F79"/>
                </a:solidFill>
              </a:rPr>
              <a:t>0.737</a:t>
            </a:r>
          </a:p>
        </p:txBody>
      </p:sp>
      <p:sp>
        <p:nvSpPr>
          <p:cNvPr id="13" name="TextBox 12"/>
          <p:cNvSpPr txBox="1"/>
          <p:nvPr/>
        </p:nvSpPr>
        <p:spPr>
          <a:xfrm>
            <a:off x="8856000" y="3096000"/>
            <a:ext cx="2520000" cy="1800000"/>
          </a:xfrm>
          <a:prstGeom prst="rect">
            <a:avLst/>
          </a:prstGeom>
          <a:noFill/>
        </p:spPr>
        <p:txBody>
          <a:bodyPr wrap="square" lIns="0" rIns="0" tIns="0" bIns="0" anchor="t">
            <a:noAutofit/>
          </a:bodyPr>
          <a:lstStyle/>
          <a:p>
            <a:pPr algn="l"/>
            <a:r>
              <a:rPr sz="1900" b="0">
                <a:solidFill>
                  <a:srgbClr val="17283C"/>
                </a:solidFill>
              </a:rPr>
              <a:t>accuracy for "always benign", with recall 0.</a:t>
            </a:r>
          </a:p>
        </p:txBody>
      </p:sp>
      <p:sp>
        <p:nvSpPr>
          <p:cNvPr id="14" name="TextBox 13"/>
          <p:cNvSpPr txBox="1"/>
          <p:nvPr/>
        </p:nvSpPr>
        <p:spPr>
          <a:xfrm>
            <a:off x="687600" y="5436000"/>
            <a:ext cx="10821600" cy="702000"/>
          </a:xfrm>
          <a:prstGeom prst="rect">
            <a:avLst/>
          </a:prstGeom>
          <a:noFill/>
        </p:spPr>
        <p:txBody>
          <a:bodyPr wrap="square" lIns="0" rIns="0" tIns="0" bIns="0" anchor="t">
            <a:noAutofit/>
          </a:bodyPr>
          <a:lstStyle/>
          <a:p>
            <a:pPr algn="l"/>
            <a:r>
              <a:rPr sz="2000" b="1">
                <a:solidFill>
                  <a:srgbClr val="245CC5"/>
                </a:solidFill>
              </a:rPr>
              <a:t>Accuracy is useless here; we report macro-F1, recall, PR-AUC and the false alarm rate (FAR).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5F3ED"/>
        </a:solidFill>
        <a:effectLst/>
      </p:bgPr>
    </p:bg>
    <p:spTree>
      <p:nvGrpSpPr>
        <p:cNvPr id="1" name=""/>
        <p:cNvGrpSpPr/>
        <p:nvPr/>
      </p:nvGrpSpPr>
      <p:grpSpPr/>
      <p:sp>
        <p:nvSpPr>
          <p:cNvPr id="2" name="TextBox 1"/>
          <p:cNvSpPr txBox="1"/>
          <p:nvPr/>
        </p:nvSpPr>
        <p:spPr>
          <a:xfrm>
            <a:off x="687600" y="525600"/>
            <a:ext cx="10821600" cy="954000"/>
          </a:xfrm>
          <a:prstGeom prst="rect">
            <a:avLst/>
          </a:prstGeom>
          <a:noFill/>
        </p:spPr>
        <p:txBody>
          <a:bodyPr wrap="square" lIns="0" rIns="0" tIns="0" bIns="0" anchor="t">
            <a:noAutofit/>
          </a:bodyPr>
          <a:lstStyle/>
          <a:p>
            <a:pPr algn="l"/>
            <a:r>
              <a:rPr sz="3300" b="1">
                <a:solidFill>
                  <a:srgbClr val="17283C"/>
                </a:solidFill>
              </a:rPr>
              <a:t>Three models, one test</a:t>
            </a:r>
          </a:p>
        </p:txBody>
      </p:sp>
      <p:sp>
        <p:nvSpPr>
          <p:cNvPr id="3" name="TextBox 2"/>
          <p:cNvSpPr txBox="1"/>
          <p:nvPr/>
        </p:nvSpPr>
        <p:spPr>
          <a:xfrm>
            <a:off x="10785600" y="6256800"/>
            <a:ext cx="363600" cy="237600"/>
          </a:xfrm>
          <a:prstGeom prst="rect">
            <a:avLst/>
          </a:prstGeom>
          <a:noFill/>
        </p:spPr>
        <p:txBody>
          <a:bodyPr wrap="square" lIns="0" rIns="0" tIns="0" bIns="0" anchor="t">
            <a:noAutofit/>
          </a:bodyPr>
          <a:lstStyle/>
          <a:p>
            <a:pPr algn="r"/>
            <a:r>
              <a:rPr sz="1250" b="0">
                <a:solidFill>
                  <a:srgbClr val="526173"/>
                </a:solidFill>
              </a:rPr>
              <a:t>3</a:t>
            </a:r>
          </a:p>
        </p:txBody>
      </p:sp>
      <p:sp>
        <p:nvSpPr>
          <p:cNvPr id="4" name="TextBox 3"/>
          <p:cNvSpPr txBox="1"/>
          <p:nvPr/>
        </p:nvSpPr>
        <p:spPr>
          <a:xfrm>
            <a:off x="687600" y="6210000"/>
            <a:ext cx="9864000" cy="334800"/>
          </a:xfrm>
          <a:prstGeom prst="rect">
            <a:avLst/>
          </a:prstGeom>
          <a:noFill/>
        </p:spPr>
        <p:txBody>
          <a:bodyPr wrap="square" lIns="0" rIns="0" tIns="0" bIns="0" anchor="t">
            <a:noAutofit/>
          </a:bodyPr>
          <a:lstStyle/>
          <a:p>
            <a:pPr algn="l"/>
            <a:r>
              <a:rPr sz="1200" b="0">
                <a:solidFill>
                  <a:srgbClr val="526173"/>
                </a:solidFill>
              </a:rPr>
              <a:t>Notebook Part B · results/tables/B3_test_scores.csv</a:t>
            </a:r>
          </a:p>
        </p:txBody>
      </p:sp>
      <p:sp>
        <p:nvSpPr>
          <p:cNvPr id="5" name="TextBox 4"/>
          <p:cNvSpPr txBox="1"/>
          <p:nvPr/>
        </p:nvSpPr>
        <p:spPr>
          <a:xfrm>
            <a:off x="687600" y="1864800"/>
            <a:ext cx="3347999" cy="468000"/>
          </a:xfrm>
          <a:prstGeom prst="rect">
            <a:avLst/>
          </a:prstGeom>
          <a:noFill/>
        </p:spPr>
        <p:txBody>
          <a:bodyPr wrap="square" lIns="0" rIns="0" tIns="0" bIns="0" anchor="t">
            <a:noAutofit/>
          </a:bodyPr>
          <a:lstStyle/>
          <a:p>
            <a:pPr algn="l"/>
            <a:r>
              <a:rPr sz="1700" b="1">
                <a:solidFill>
                  <a:srgbClr val="526173"/>
                </a:solidFill>
              </a:rPr>
              <a:t>Test set (61,021 flows)</a:t>
            </a:r>
          </a:p>
        </p:txBody>
      </p:sp>
      <p:sp>
        <p:nvSpPr>
          <p:cNvPr id="6" name="TextBox 5"/>
          <p:cNvSpPr txBox="1"/>
          <p:nvPr/>
        </p:nvSpPr>
        <p:spPr>
          <a:xfrm>
            <a:off x="4143600" y="1864800"/>
            <a:ext cx="1116000" cy="468000"/>
          </a:xfrm>
          <a:prstGeom prst="rect">
            <a:avLst/>
          </a:prstGeom>
          <a:noFill/>
        </p:spPr>
        <p:txBody>
          <a:bodyPr wrap="square" lIns="0" rIns="0" tIns="0" bIns="0" anchor="t">
            <a:noAutofit/>
          </a:bodyPr>
          <a:lstStyle/>
          <a:p>
            <a:pPr algn="r"/>
            <a:r>
              <a:rPr sz="1700" b="1">
                <a:solidFill>
                  <a:srgbClr val="526173"/>
                </a:solidFill>
              </a:rPr>
              <a:t>Macro-F1</a:t>
            </a:r>
          </a:p>
        </p:txBody>
      </p:sp>
      <p:sp>
        <p:nvSpPr>
          <p:cNvPr id="7" name="TextBox 6"/>
          <p:cNvSpPr txBox="1"/>
          <p:nvPr/>
        </p:nvSpPr>
        <p:spPr>
          <a:xfrm>
            <a:off x="5367600" y="1864800"/>
            <a:ext cx="972000" cy="468000"/>
          </a:xfrm>
          <a:prstGeom prst="rect">
            <a:avLst/>
          </a:prstGeom>
          <a:noFill/>
        </p:spPr>
        <p:txBody>
          <a:bodyPr wrap="square" lIns="0" rIns="0" tIns="0" bIns="0" anchor="t">
            <a:noAutofit/>
          </a:bodyPr>
          <a:lstStyle/>
          <a:p>
            <a:pPr algn="r"/>
            <a:r>
              <a:rPr sz="1700" b="1">
                <a:solidFill>
                  <a:srgbClr val="526173"/>
                </a:solidFill>
              </a:rPr>
              <a:t>Recall</a:t>
            </a:r>
          </a:p>
        </p:txBody>
      </p:sp>
      <p:sp>
        <p:nvSpPr>
          <p:cNvPr id="8" name="TextBox 7"/>
          <p:cNvSpPr txBox="1"/>
          <p:nvPr/>
        </p:nvSpPr>
        <p:spPr>
          <a:xfrm>
            <a:off x="6447600" y="1864800"/>
            <a:ext cx="900000" cy="468000"/>
          </a:xfrm>
          <a:prstGeom prst="rect">
            <a:avLst/>
          </a:prstGeom>
          <a:noFill/>
        </p:spPr>
        <p:txBody>
          <a:bodyPr wrap="square" lIns="0" rIns="0" tIns="0" bIns="0" anchor="t">
            <a:noAutofit/>
          </a:bodyPr>
          <a:lstStyle/>
          <a:p>
            <a:pPr algn="r"/>
            <a:r>
              <a:rPr sz="1700" b="1">
                <a:solidFill>
                  <a:srgbClr val="526173"/>
                </a:solidFill>
              </a:rPr>
              <a:t>FAR</a:t>
            </a:r>
          </a:p>
        </p:txBody>
      </p:sp>
      <p:cxnSp>
        <p:nvCxnSpPr>
          <p:cNvPr id="9" name="Connector 8"/>
          <p:cNvCxnSpPr/>
          <p:nvPr/>
        </p:nvCxnSpPr>
        <p:spPr>
          <a:xfrm>
            <a:off x="687600" y="2340000"/>
            <a:ext cx="6768000" cy="0"/>
          </a:xfrm>
          <a:prstGeom prst="line">
            <a:avLst/>
          </a:prstGeom>
          <a:ln w="12700">
            <a:solidFill>
              <a:srgbClr val="17283C"/>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687600" y="2404800"/>
            <a:ext cx="3347999" cy="468000"/>
          </a:xfrm>
          <a:prstGeom prst="rect">
            <a:avLst/>
          </a:prstGeom>
          <a:noFill/>
        </p:spPr>
        <p:txBody>
          <a:bodyPr wrap="square" lIns="0" rIns="0" tIns="0" bIns="0" anchor="t">
            <a:noAutofit/>
          </a:bodyPr>
          <a:lstStyle/>
          <a:p>
            <a:pPr algn="l"/>
            <a:r>
              <a:rPr sz="1900" b="0">
                <a:solidFill>
                  <a:srgbClr val="17283C"/>
                </a:solidFill>
              </a:rPr>
              <a:t>Always benign</a:t>
            </a:r>
          </a:p>
        </p:txBody>
      </p:sp>
      <p:sp>
        <p:nvSpPr>
          <p:cNvPr id="11" name="TextBox 10"/>
          <p:cNvSpPr txBox="1"/>
          <p:nvPr/>
        </p:nvSpPr>
        <p:spPr>
          <a:xfrm>
            <a:off x="4143600" y="2404800"/>
            <a:ext cx="1116000" cy="468000"/>
          </a:xfrm>
          <a:prstGeom prst="rect">
            <a:avLst/>
          </a:prstGeom>
          <a:noFill/>
        </p:spPr>
        <p:txBody>
          <a:bodyPr wrap="square" lIns="0" rIns="0" tIns="0" bIns="0" anchor="t">
            <a:noAutofit/>
          </a:bodyPr>
          <a:lstStyle/>
          <a:p>
            <a:pPr algn="r"/>
            <a:r>
              <a:rPr sz="1900" b="0">
                <a:solidFill>
                  <a:srgbClr val="17283C"/>
                </a:solidFill>
              </a:rPr>
              <a:t>0.424</a:t>
            </a:r>
          </a:p>
        </p:txBody>
      </p:sp>
      <p:sp>
        <p:nvSpPr>
          <p:cNvPr id="12" name="TextBox 11"/>
          <p:cNvSpPr txBox="1"/>
          <p:nvPr/>
        </p:nvSpPr>
        <p:spPr>
          <a:xfrm>
            <a:off x="5367600" y="2404800"/>
            <a:ext cx="972000" cy="468000"/>
          </a:xfrm>
          <a:prstGeom prst="rect">
            <a:avLst/>
          </a:prstGeom>
          <a:noFill/>
        </p:spPr>
        <p:txBody>
          <a:bodyPr wrap="square" lIns="0" rIns="0" tIns="0" bIns="0" anchor="t">
            <a:noAutofit/>
          </a:bodyPr>
          <a:lstStyle/>
          <a:p>
            <a:pPr algn="r"/>
            <a:r>
              <a:rPr sz="1900" b="0">
                <a:solidFill>
                  <a:srgbClr val="17283C"/>
                </a:solidFill>
              </a:rPr>
              <a:t>0.000</a:t>
            </a:r>
          </a:p>
        </p:txBody>
      </p:sp>
      <p:sp>
        <p:nvSpPr>
          <p:cNvPr id="13" name="TextBox 12"/>
          <p:cNvSpPr txBox="1"/>
          <p:nvPr/>
        </p:nvSpPr>
        <p:spPr>
          <a:xfrm>
            <a:off x="6447600" y="2404800"/>
            <a:ext cx="900000" cy="468000"/>
          </a:xfrm>
          <a:prstGeom prst="rect">
            <a:avLst/>
          </a:prstGeom>
          <a:noFill/>
        </p:spPr>
        <p:txBody>
          <a:bodyPr wrap="square" lIns="0" rIns="0" tIns="0" bIns="0" anchor="t">
            <a:noAutofit/>
          </a:bodyPr>
          <a:lstStyle/>
          <a:p>
            <a:pPr algn="r"/>
            <a:r>
              <a:rPr sz="1900" b="0">
                <a:solidFill>
                  <a:srgbClr val="17283C"/>
                </a:solidFill>
              </a:rPr>
              <a:t>0.000</a:t>
            </a:r>
          </a:p>
        </p:txBody>
      </p:sp>
      <p:cxnSp>
        <p:nvCxnSpPr>
          <p:cNvPr id="14" name="Connector 13"/>
          <p:cNvCxnSpPr/>
          <p:nvPr/>
        </p:nvCxnSpPr>
        <p:spPr>
          <a:xfrm>
            <a:off x="687600" y="2880000"/>
            <a:ext cx="6768000" cy="0"/>
          </a:xfrm>
          <a:prstGeom prst="line">
            <a:avLst/>
          </a:prstGeom>
          <a:ln w="9525">
            <a:solidFill>
              <a:srgbClr val="C9CDD2"/>
            </a:solidFill>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687600" y="2944800"/>
            <a:ext cx="3347999" cy="468000"/>
          </a:xfrm>
          <a:prstGeom prst="rect">
            <a:avLst/>
          </a:prstGeom>
          <a:noFill/>
        </p:spPr>
        <p:txBody>
          <a:bodyPr wrap="square" lIns="0" rIns="0" tIns="0" bIns="0" anchor="t">
            <a:noAutofit/>
          </a:bodyPr>
          <a:lstStyle/>
          <a:p>
            <a:pPr algn="l"/>
            <a:r>
              <a:rPr sz="1900" b="0">
                <a:solidFill>
                  <a:srgbClr val="17283C"/>
                </a:solidFill>
              </a:rPr>
              <a:t>Decision tree (depth 12)</a:t>
            </a:r>
          </a:p>
        </p:txBody>
      </p:sp>
      <p:sp>
        <p:nvSpPr>
          <p:cNvPr id="16" name="TextBox 15"/>
          <p:cNvSpPr txBox="1"/>
          <p:nvPr/>
        </p:nvSpPr>
        <p:spPr>
          <a:xfrm>
            <a:off x="4143600" y="2944800"/>
            <a:ext cx="1116000" cy="468000"/>
          </a:xfrm>
          <a:prstGeom prst="rect">
            <a:avLst/>
          </a:prstGeom>
          <a:noFill/>
        </p:spPr>
        <p:txBody>
          <a:bodyPr wrap="square" lIns="0" rIns="0" tIns="0" bIns="0" anchor="t">
            <a:noAutofit/>
          </a:bodyPr>
          <a:lstStyle/>
          <a:p>
            <a:pPr algn="r"/>
            <a:r>
              <a:rPr sz="1900" b="0">
                <a:solidFill>
                  <a:srgbClr val="17283C"/>
                </a:solidFill>
              </a:rPr>
              <a:t>0.969</a:t>
            </a:r>
          </a:p>
        </p:txBody>
      </p:sp>
      <p:sp>
        <p:nvSpPr>
          <p:cNvPr id="17" name="TextBox 16"/>
          <p:cNvSpPr txBox="1"/>
          <p:nvPr/>
        </p:nvSpPr>
        <p:spPr>
          <a:xfrm>
            <a:off x="5367600" y="2944800"/>
            <a:ext cx="972000" cy="468000"/>
          </a:xfrm>
          <a:prstGeom prst="rect">
            <a:avLst/>
          </a:prstGeom>
          <a:noFill/>
        </p:spPr>
        <p:txBody>
          <a:bodyPr wrap="square" lIns="0" rIns="0" tIns="0" bIns="0" anchor="t">
            <a:noAutofit/>
          </a:bodyPr>
          <a:lstStyle/>
          <a:p>
            <a:pPr algn="r"/>
            <a:r>
              <a:rPr sz="1900" b="0">
                <a:solidFill>
                  <a:srgbClr val="17283C"/>
                </a:solidFill>
              </a:rPr>
              <a:t>0.985</a:t>
            </a:r>
          </a:p>
        </p:txBody>
      </p:sp>
      <p:sp>
        <p:nvSpPr>
          <p:cNvPr id="18" name="TextBox 17"/>
          <p:cNvSpPr txBox="1"/>
          <p:nvPr/>
        </p:nvSpPr>
        <p:spPr>
          <a:xfrm>
            <a:off x="6447600" y="2944800"/>
            <a:ext cx="900000" cy="468000"/>
          </a:xfrm>
          <a:prstGeom prst="rect">
            <a:avLst/>
          </a:prstGeom>
          <a:noFill/>
        </p:spPr>
        <p:txBody>
          <a:bodyPr wrap="square" lIns="0" rIns="0" tIns="0" bIns="0" anchor="t">
            <a:noAutofit/>
          </a:bodyPr>
          <a:lstStyle/>
          <a:p>
            <a:pPr algn="r"/>
            <a:r>
              <a:rPr sz="1900" b="0">
                <a:solidFill>
                  <a:srgbClr val="17283C"/>
                </a:solidFill>
              </a:rPr>
              <a:t>0.028</a:t>
            </a:r>
          </a:p>
        </p:txBody>
      </p:sp>
      <p:cxnSp>
        <p:nvCxnSpPr>
          <p:cNvPr id="19" name="Connector 18"/>
          <p:cNvCxnSpPr/>
          <p:nvPr/>
        </p:nvCxnSpPr>
        <p:spPr>
          <a:xfrm>
            <a:off x="687600" y="3420000"/>
            <a:ext cx="6768000" cy="0"/>
          </a:xfrm>
          <a:prstGeom prst="line">
            <a:avLst/>
          </a:prstGeom>
          <a:ln w="9525">
            <a:solidFill>
              <a:srgbClr val="C9CDD2"/>
            </a:solidFill>
          </a:ln>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687600" y="3484800"/>
            <a:ext cx="3347999" cy="468000"/>
          </a:xfrm>
          <a:prstGeom prst="rect">
            <a:avLst/>
          </a:prstGeom>
          <a:noFill/>
        </p:spPr>
        <p:txBody>
          <a:bodyPr wrap="square" lIns="0" rIns="0" tIns="0" bIns="0" anchor="t">
            <a:noAutofit/>
          </a:bodyPr>
          <a:lstStyle/>
          <a:p>
            <a:pPr algn="l"/>
            <a:r>
              <a:rPr sz="1900" b="0">
                <a:solidFill>
                  <a:srgbClr val="17283C"/>
                </a:solidFill>
              </a:rPr>
              <a:t>Logistic regression</a:t>
            </a:r>
          </a:p>
        </p:txBody>
      </p:sp>
      <p:sp>
        <p:nvSpPr>
          <p:cNvPr id="21" name="TextBox 20"/>
          <p:cNvSpPr txBox="1"/>
          <p:nvPr/>
        </p:nvSpPr>
        <p:spPr>
          <a:xfrm>
            <a:off x="4143600" y="3484800"/>
            <a:ext cx="1116000" cy="468000"/>
          </a:xfrm>
          <a:prstGeom prst="rect">
            <a:avLst/>
          </a:prstGeom>
          <a:noFill/>
        </p:spPr>
        <p:txBody>
          <a:bodyPr wrap="square" lIns="0" rIns="0" tIns="0" bIns="0" anchor="t">
            <a:noAutofit/>
          </a:bodyPr>
          <a:lstStyle/>
          <a:p>
            <a:pPr algn="r"/>
            <a:r>
              <a:rPr sz="1900" b="0">
                <a:solidFill>
                  <a:srgbClr val="17283C"/>
                </a:solidFill>
              </a:rPr>
              <a:t>0.961</a:t>
            </a:r>
          </a:p>
        </p:txBody>
      </p:sp>
      <p:sp>
        <p:nvSpPr>
          <p:cNvPr id="22" name="TextBox 21"/>
          <p:cNvSpPr txBox="1"/>
          <p:nvPr/>
        </p:nvSpPr>
        <p:spPr>
          <a:xfrm>
            <a:off x="5367600" y="3484800"/>
            <a:ext cx="972000" cy="468000"/>
          </a:xfrm>
          <a:prstGeom prst="rect">
            <a:avLst/>
          </a:prstGeom>
          <a:noFill/>
        </p:spPr>
        <p:txBody>
          <a:bodyPr wrap="square" lIns="0" rIns="0" tIns="0" bIns="0" anchor="t">
            <a:noAutofit/>
          </a:bodyPr>
          <a:lstStyle/>
          <a:p>
            <a:pPr algn="r"/>
            <a:r>
              <a:rPr sz="1900" b="0">
                <a:solidFill>
                  <a:srgbClr val="17283C"/>
                </a:solidFill>
              </a:rPr>
              <a:t>0.996</a:t>
            </a:r>
          </a:p>
        </p:txBody>
      </p:sp>
      <p:sp>
        <p:nvSpPr>
          <p:cNvPr id="23" name="TextBox 22"/>
          <p:cNvSpPr txBox="1"/>
          <p:nvPr/>
        </p:nvSpPr>
        <p:spPr>
          <a:xfrm>
            <a:off x="6447600" y="3484800"/>
            <a:ext cx="900000" cy="468000"/>
          </a:xfrm>
          <a:prstGeom prst="rect">
            <a:avLst/>
          </a:prstGeom>
          <a:noFill/>
        </p:spPr>
        <p:txBody>
          <a:bodyPr wrap="square" lIns="0" rIns="0" tIns="0" bIns="0" anchor="t">
            <a:noAutofit/>
          </a:bodyPr>
          <a:lstStyle/>
          <a:p>
            <a:pPr algn="r"/>
            <a:r>
              <a:rPr sz="1900" b="0">
                <a:solidFill>
                  <a:srgbClr val="17283C"/>
                </a:solidFill>
              </a:rPr>
              <a:t>0.041</a:t>
            </a:r>
          </a:p>
        </p:txBody>
      </p:sp>
      <p:cxnSp>
        <p:nvCxnSpPr>
          <p:cNvPr id="24" name="Connector 23"/>
          <p:cNvCxnSpPr/>
          <p:nvPr/>
        </p:nvCxnSpPr>
        <p:spPr>
          <a:xfrm>
            <a:off x="687600" y="3960000"/>
            <a:ext cx="6768000" cy="0"/>
          </a:xfrm>
          <a:prstGeom prst="line">
            <a:avLst/>
          </a:prstGeom>
          <a:ln w="9525">
            <a:solidFill>
              <a:srgbClr val="C9CDD2"/>
            </a:solidFill>
          </a:ln>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687600" y="4024800"/>
            <a:ext cx="3347999" cy="468000"/>
          </a:xfrm>
          <a:prstGeom prst="rect">
            <a:avLst/>
          </a:prstGeom>
          <a:noFill/>
        </p:spPr>
        <p:txBody>
          <a:bodyPr wrap="square" lIns="0" rIns="0" tIns="0" bIns="0" anchor="t">
            <a:noAutofit/>
          </a:bodyPr>
          <a:lstStyle/>
          <a:p>
            <a:pPr algn="l"/>
            <a:r>
              <a:rPr sz="1900" b="1">
                <a:solidFill>
                  <a:srgbClr val="17283C"/>
                </a:solidFill>
              </a:rPr>
              <a:t>Gradient boosting</a:t>
            </a:r>
          </a:p>
        </p:txBody>
      </p:sp>
      <p:sp>
        <p:nvSpPr>
          <p:cNvPr id="26" name="TextBox 25"/>
          <p:cNvSpPr txBox="1"/>
          <p:nvPr/>
        </p:nvSpPr>
        <p:spPr>
          <a:xfrm>
            <a:off x="4143600" y="4024800"/>
            <a:ext cx="1116000" cy="468000"/>
          </a:xfrm>
          <a:prstGeom prst="rect">
            <a:avLst/>
          </a:prstGeom>
          <a:noFill/>
        </p:spPr>
        <p:txBody>
          <a:bodyPr wrap="square" lIns="0" rIns="0" tIns="0" bIns="0" anchor="t">
            <a:noAutofit/>
          </a:bodyPr>
          <a:lstStyle/>
          <a:p>
            <a:pPr algn="r"/>
            <a:r>
              <a:rPr sz="1900" b="1">
                <a:solidFill>
                  <a:srgbClr val="17283C"/>
                </a:solidFill>
              </a:rPr>
              <a:t>0.972</a:t>
            </a:r>
          </a:p>
        </p:txBody>
      </p:sp>
      <p:sp>
        <p:nvSpPr>
          <p:cNvPr id="27" name="TextBox 26"/>
          <p:cNvSpPr txBox="1"/>
          <p:nvPr/>
        </p:nvSpPr>
        <p:spPr>
          <a:xfrm>
            <a:off x="5367600" y="4024800"/>
            <a:ext cx="972000" cy="468000"/>
          </a:xfrm>
          <a:prstGeom prst="rect">
            <a:avLst/>
          </a:prstGeom>
          <a:noFill/>
        </p:spPr>
        <p:txBody>
          <a:bodyPr wrap="square" lIns="0" rIns="0" tIns="0" bIns="0" anchor="t">
            <a:noAutofit/>
          </a:bodyPr>
          <a:lstStyle/>
          <a:p>
            <a:pPr algn="r"/>
            <a:r>
              <a:rPr sz="1900" b="0">
                <a:solidFill>
                  <a:srgbClr val="17283C"/>
                </a:solidFill>
              </a:rPr>
              <a:t>0.992</a:t>
            </a:r>
          </a:p>
        </p:txBody>
      </p:sp>
      <p:sp>
        <p:nvSpPr>
          <p:cNvPr id="28" name="TextBox 27"/>
          <p:cNvSpPr txBox="1"/>
          <p:nvPr/>
        </p:nvSpPr>
        <p:spPr>
          <a:xfrm>
            <a:off x="6447600" y="4024800"/>
            <a:ext cx="900000" cy="468000"/>
          </a:xfrm>
          <a:prstGeom prst="rect">
            <a:avLst/>
          </a:prstGeom>
          <a:noFill/>
        </p:spPr>
        <p:txBody>
          <a:bodyPr wrap="square" lIns="0" rIns="0" tIns="0" bIns="0" anchor="t">
            <a:noAutofit/>
          </a:bodyPr>
          <a:lstStyle/>
          <a:p>
            <a:pPr algn="r"/>
            <a:r>
              <a:rPr sz="1900" b="1">
                <a:solidFill>
                  <a:srgbClr val="17283C"/>
                </a:solidFill>
              </a:rPr>
              <a:t>0.028</a:t>
            </a:r>
          </a:p>
        </p:txBody>
      </p:sp>
      <p:cxnSp>
        <p:nvCxnSpPr>
          <p:cNvPr id="29" name="Connector 28"/>
          <p:cNvCxnSpPr/>
          <p:nvPr/>
        </p:nvCxnSpPr>
        <p:spPr>
          <a:xfrm>
            <a:off x="687600" y="4500000"/>
            <a:ext cx="6768000" cy="0"/>
          </a:xfrm>
          <a:prstGeom prst="line">
            <a:avLst/>
          </a:prstGeom>
          <a:ln w="9525">
            <a:solidFill>
              <a:srgbClr val="C9CDD2"/>
            </a:solidFill>
          </a:ln>
        </p:spPr>
        <p:style>
          <a:lnRef idx="2">
            <a:schemeClr val="accent1"/>
          </a:lnRef>
          <a:fillRef idx="0">
            <a:schemeClr val="accent1"/>
          </a:fillRef>
          <a:effectRef idx="1">
            <a:schemeClr val="accent1"/>
          </a:effectRef>
          <a:fontRef idx="minor">
            <a:schemeClr val="tx1"/>
          </a:fontRef>
        </p:style>
      </p:cxnSp>
      <p:sp>
        <p:nvSpPr>
          <p:cNvPr id="30" name="TextBox 29"/>
          <p:cNvSpPr txBox="1"/>
          <p:nvPr/>
        </p:nvSpPr>
        <p:spPr>
          <a:xfrm>
            <a:off x="8280000" y="2015999"/>
            <a:ext cx="3240000" cy="1044000"/>
          </a:xfrm>
          <a:prstGeom prst="rect">
            <a:avLst/>
          </a:prstGeom>
          <a:noFill/>
        </p:spPr>
        <p:txBody>
          <a:bodyPr wrap="square" lIns="0" rIns="0" tIns="0" bIns="0" anchor="b">
            <a:noAutofit/>
          </a:bodyPr>
          <a:lstStyle/>
          <a:p>
            <a:pPr algn="l"/>
            <a:r>
              <a:rPr sz="6600" b="1">
                <a:solidFill>
                  <a:srgbClr val="245CC5"/>
                </a:solidFill>
              </a:rPr>
              <a:t>+0.003</a:t>
            </a:r>
          </a:p>
        </p:txBody>
      </p:sp>
      <p:sp>
        <p:nvSpPr>
          <p:cNvPr id="31" name="TextBox 30"/>
          <p:cNvSpPr txBox="1"/>
          <p:nvPr/>
        </p:nvSpPr>
        <p:spPr>
          <a:xfrm>
            <a:off x="8280000" y="3096000"/>
            <a:ext cx="3240000" cy="1440000"/>
          </a:xfrm>
          <a:prstGeom prst="rect">
            <a:avLst/>
          </a:prstGeom>
          <a:noFill/>
        </p:spPr>
        <p:txBody>
          <a:bodyPr wrap="square" lIns="0" rIns="0" tIns="0" bIns="0" anchor="t">
            <a:noAutofit/>
          </a:bodyPr>
          <a:lstStyle/>
          <a:p>
            <a:pPr algn="l"/>
            <a:r>
              <a:rPr sz="2000" b="0">
                <a:solidFill>
                  <a:srgbClr val="17283C"/>
                </a:solidFill>
              </a:rPr>
              <a:t>what the black box buys over a readable tree.</a:t>
            </a:r>
          </a:p>
        </p:txBody>
      </p:sp>
      <p:sp>
        <p:nvSpPr>
          <p:cNvPr id="32" name="TextBox 31"/>
          <p:cNvSpPr txBox="1"/>
          <p:nvPr/>
        </p:nvSpPr>
        <p:spPr>
          <a:xfrm>
            <a:off x="687600" y="5436000"/>
            <a:ext cx="10821600" cy="702000"/>
          </a:xfrm>
          <a:prstGeom prst="rect">
            <a:avLst/>
          </a:prstGeom>
          <a:noFill/>
        </p:spPr>
        <p:txBody>
          <a:bodyPr wrap="square" lIns="0" rIns="0" tIns="0" bIns="0" anchor="t">
            <a:noAutofit/>
          </a:bodyPr>
          <a:lstStyle/>
          <a:p>
            <a:pPr algn="l"/>
            <a:r>
              <a:rPr sz="2000" b="1">
                <a:solidFill>
                  <a:srgbClr val="245CC5"/>
                </a:solidFill>
              </a:rPr>
              <a:t>Settings chosen on validation; test used once, and it agrees within 0.003.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5F3ED"/>
        </a:solidFill>
        <a:effectLst/>
      </p:bgPr>
    </p:bg>
    <p:spTree>
      <p:nvGrpSpPr>
        <p:cNvPr id="1" name=""/>
        <p:cNvGrpSpPr/>
        <p:nvPr/>
      </p:nvGrpSpPr>
      <p:grpSpPr/>
      <p:sp>
        <p:nvSpPr>
          <p:cNvPr id="2" name="TextBox 1"/>
          <p:cNvSpPr txBox="1"/>
          <p:nvPr/>
        </p:nvSpPr>
        <p:spPr>
          <a:xfrm>
            <a:off x="10785600" y="6256800"/>
            <a:ext cx="363600" cy="237600"/>
          </a:xfrm>
          <a:prstGeom prst="rect">
            <a:avLst/>
          </a:prstGeom>
          <a:noFill/>
        </p:spPr>
        <p:txBody>
          <a:bodyPr wrap="square" lIns="0" rIns="0" tIns="0" bIns="0" anchor="t">
            <a:noAutofit/>
          </a:bodyPr>
          <a:lstStyle/>
          <a:p>
            <a:pPr algn="r"/>
            <a:r>
              <a:rPr sz="1250" b="0">
                <a:solidFill>
                  <a:srgbClr val="526173"/>
                </a:solidFill>
              </a:rPr>
              <a:t>4</a:t>
            </a:r>
          </a:p>
        </p:txBody>
      </p:sp>
      <p:sp>
        <p:nvSpPr>
          <p:cNvPr id="3" name="TextBox 2"/>
          <p:cNvSpPr txBox="1"/>
          <p:nvPr/>
        </p:nvSpPr>
        <p:spPr>
          <a:xfrm>
            <a:off x="687600" y="6210000"/>
            <a:ext cx="9864000" cy="334800"/>
          </a:xfrm>
          <a:prstGeom prst="rect">
            <a:avLst/>
          </a:prstGeom>
          <a:noFill/>
        </p:spPr>
        <p:txBody>
          <a:bodyPr wrap="square" lIns="0" rIns="0" tIns="0" bIns="0" anchor="t">
            <a:noAutofit/>
          </a:bodyPr>
          <a:lstStyle/>
          <a:p>
            <a:pPr algn="l"/>
            <a:r>
              <a:rPr sz="1200" b="0">
                <a:solidFill>
                  <a:srgbClr val="526173"/>
                </a:solidFill>
              </a:rPr>
              <a:t>mini_project_unsw_nb15.ipynb, running now (Restart Kernel and Run All on slide 1)</a:t>
            </a:r>
          </a:p>
        </p:txBody>
      </p:sp>
      <p:sp>
        <p:nvSpPr>
          <p:cNvPr id="4" name="Rectangle 3"/>
          <p:cNvSpPr/>
          <p:nvPr/>
        </p:nvSpPr>
        <p:spPr>
          <a:xfrm>
            <a:off x="687600" y="1584000"/>
            <a:ext cx="10821600" cy="3564000"/>
          </a:xfrm>
          <a:prstGeom prst="rect">
            <a:avLst/>
          </a:prstGeom>
          <a:solidFill>
            <a:srgbClr val="DFE9F3"/>
          </a:solidFill>
          <a:ln w="13970">
            <a:solidFill>
              <a:srgbClr val="245CC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19600" y="1908000"/>
            <a:ext cx="9936000" cy="827999"/>
          </a:xfrm>
          <a:prstGeom prst="rect">
            <a:avLst/>
          </a:prstGeom>
          <a:noFill/>
        </p:spPr>
        <p:txBody>
          <a:bodyPr wrap="square" lIns="0" rIns="0" tIns="0" bIns="0" anchor="t">
            <a:noAutofit/>
          </a:bodyPr>
          <a:lstStyle/>
          <a:p>
            <a:pPr algn="l"/>
            <a:r>
              <a:rPr sz="4800" b="1">
                <a:solidFill>
                  <a:srgbClr val="245CC5"/>
                </a:solidFill>
              </a:rPr>
              <a:t>Live: the notebook</a:t>
            </a:r>
          </a:p>
        </p:txBody>
      </p:sp>
      <p:sp>
        <p:nvSpPr>
          <p:cNvPr id="6" name="TextBox 5"/>
          <p:cNvSpPr txBox="1"/>
          <p:nvPr/>
        </p:nvSpPr>
        <p:spPr>
          <a:xfrm>
            <a:off x="1119600" y="2880000"/>
            <a:ext cx="9936000" cy="540000"/>
          </a:xfrm>
          <a:prstGeom prst="rect">
            <a:avLst/>
          </a:prstGeom>
          <a:noFill/>
        </p:spPr>
        <p:txBody>
          <a:bodyPr wrap="square" lIns="0" rIns="0" tIns="0" bIns="0" anchor="t">
            <a:noAutofit/>
          </a:bodyPr>
          <a:lstStyle/>
          <a:p>
            <a:pPr algn="l"/>
            <a:r>
              <a:rPr sz="2800" b="1">
                <a:solidFill>
                  <a:srgbClr val="17283C"/>
                </a:solidFill>
              </a:rPr>
              <a:t>The test scores, computed now</a:t>
            </a:r>
          </a:p>
        </p:txBody>
      </p:sp>
      <p:sp>
        <p:nvSpPr>
          <p:cNvPr id="7" name="TextBox 6"/>
          <p:cNvSpPr txBox="1"/>
          <p:nvPr/>
        </p:nvSpPr>
        <p:spPr>
          <a:xfrm>
            <a:off x="1119600" y="3564000"/>
            <a:ext cx="9936000" cy="1440000"/>
          </a:xfrm>
          <a:prstGeom prst="rect">
            <a:avLst/>
          </a:prstGeom>
          <a:noFill/>
        </p:spPr>
        <p:txBody>
          <a:bodyPr wrap="square" lIns="0" rIns="0" tIns="0" bIns="0" anchor="t">
            <a:noAutofit/>
          </a:bodyPr>
          <a:lstStyle/>
          <a:p>
            <a:pPr algn="l">
              <a:spcAft>
                <a:spcPts val="600"/>
              </a:spcAft>
            </a:pPr>
            <a:r>
              <a:rPr sz="2100" b="0">
                <a:solidFill>
                  <a:srgbClr val="17283C"/>
                </a:solidFill>
              </a:rPr>
              <a:t>Section "Part B: scores on the test set, next to the trivial baseline"</a:t>
            </a:r>
          </a:p>
          <a:p>
            <a:pPr algn="l"/>
            <a:r>
              <a:rPr sz="2100" b="0">
                <a:solidFill>
                  <a:srgbClr val="17283C"/>
                </a:solidFill>
              </a:rPr>
              <a:t>Computed from the raw CSV files during this talk; the trained models load from the saved cache.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5F3ED"/>
        </a:solidFill>
        <a:effectLst/>
      </p:bgPr>
    </p:bg>
    <p:spTree>
      <p:nvGrpSpPr>
        <p:cNvPr id="1" name=""/>
        <p:cNvGrpSpPr/>
        <p:nvPr/>
      </p:nvGrpSpPr>
      <p:grpSpPr/>
      <p:sp>
        <p:nvSpPr>
          <p:cNvPr id="2" name="TextBox 1"/>
          <p:cNvSpPr txBox="1"/>
          <p:nvPr/>
        </p:nvSpPr>
        <p:spPr>
          <a:xfrm>
            <a:off x="687600" y="525600"/>
            <a:ext cx="10821600" cy="954000"/>
          </a:xfrm>
          <a:prstGeom prst="rect">
            <a:avLst/>
          </a:prstGeom>
          <a:noFill/>
        </p:spPr>
        <p:txBody>
          <a:bodyPr wrap="square" lIns="0" rIns="0" tIns="0" bIns="0" anchor="t">
            <a:noAutofit/>
          </a:bodyPr>
          <a:lstStyle/>
          <a:p>
            <a:pPr algn="l"/>
            <a:r>
              <a:rPr sz="3300" b="1">
                <a:solidFill>
                  <a:srgbClr val="17283C"/>
                </a:solidFill>
              </a:rPr>
              <a:t>10% of the labels</a:t>
            </a:r>
          </a:p>
        </p:txBody>
      </p:sp>
      <p:sp>
        <p:nvSpPr>
          <p:cNvPr id="3" name="TextBox 2"/>
          <p:cNvSpPr txBox="1"/>
          <p:nvPr/>
        </p:nvSpPr>
        <p:spPr>
          <a:xfrm>
            <a:off x="10785600" y="6256800"/>
            <a:ext cx="363600" cy="237600"/>
          </a:xfrm>
          <a:prstGeom prst="rect">
            <a:avLst/>
          </a:prstGeom>
          <a:noFill/>
        </p:spPr>
        <p:txBody>
          <a:bodyPr wrap="square" lIns="0" rIns="0" tIns="0" bIns="0" anchor="t">
            <a:noAutofit/>
          </a:bodyPr>
          <a:lstStyle/>
          <a:p>
            <a:pPr algn="r"/>
            <a:r>
              <a:rPr sz="1250" b="0">
                <a:solidFill>
                  <a:srgbClr val="526173"/>
                </a:solidFill>
              </a:rPr>
              <a:t>5</a:t>
            </a:r>
          </a:p>
        </p:txBody>
      </p:sp>
      <p:sp>
        <p:nvSpPr>
          <p:cNvPr id="4" name="TextBox 3"/>
          <p:cNvSpPr txBox="1"/>
          <p:nvPr/>
        </p:nvSpPr>
        <p:spPr>
          <a:xfrm>
            <a:off x="687600" y="6210000"/>
            <a:ext cx="9864000" cy="334800"/>
          </a:xfrm>
          <a:prstGeom prst="rect">
            <a:avLst/>
          </a:prstGeom>
          <a:noFill/>
        </p:spPr>
        <p:txBody>
          <a:bodyPr wrap="square" lIns="0" rIns="0" tIns="0" bIns="0" anchor="t">
            <a:noAutofit/>
          </a:bodyPr>
          <a:lstStyle/>
          <a:p>
            <a:pPr algn="l"/>
            <a:r>
              <a:rPr sz="1200" b="0">
                <a:solidFill>
                  <a:srgbClr val="526173"/>
                </a:solidFill>
              </a:rPr>
              <a:t>Notebook Part C · results/tables/C2_rounds.csv, C4_all_models_test.csv</a:t>
            </a:r>
          </a:p>
        </p:txBody>
      </p:sp>
      <p:sp>
        <p:nvSpPr>
          <p:cNvPr id="5" name="TextBox 4"/>
          <p:cNvSpPr txBox="1"/>
          <p:nvPr/>
        </p:nvSpPr>
        <p:spPr>
          <a:xfrm>
            <a:off x="687600" y="1800000"/>
            <a:ext cx="3780000" cy="1044000"/>
          </a:xfrm>
          <a:prstGeom prst="rect">
            <a:avLst/>
          </a:prstGeom>
          <a:noFill/>
        </p:spPr>
        <p:txBody>
          <a:bodyPr wrap="square" lIns="0" rIns="0" tIns="0" bIns="0" anchor="b">
            <a:noAutofit/>
          </a:bodyPr>
          <a:lstStyle/>
          <a:p>
            <a:pPr algn="l"/>
            <a:r>
              <a:rPr sz="6600" b="1">
                <a:solidFill>
                  <a:srgbClr val="245CC5"/>
                </a:solidFill>
              </a:rPr>
              <a:t>−0.003</a:t>
            </a:r>
          </a:p>
        </p:txBody>
      </p:sp>
      <p:sp>
        <p:nvSpPr>
          <p:cNvPr id="6" name="TextBox 5"/>
          <p:cNvSpPr txBox="1"/>
          <p:nvPr/>
        </p:nvSpPr>
        <p:spPr>
          <a:xfrm>
            <a:off x="687600" y="2880000"/>
            <a:ext cx="3780000" cy="1980000"/>
          </a:xfrm>
          <a:prstGeom prst="rect">
            <a:avLst/>
          </a:prstGeom>
          <a:noFill/>
        </p:spPr>
        <p:txBody>
          <a:bodyPr wrap="square" lIns="0" rIns="0" tIns="0" bIns="0" anchor="t">
            <a:noAutofit/>
          </a:bodyPr>
          <a:lstStyle/>
          <a:p>
            <a:pPr algn="l"/>
            <a:r>
              <a:rPr sz="1900" b="0">
                <a:solidFill>
                  <a:srgbClr val="17283C"/>
                </a:solidFill>
              </a:rPr>
              <a:t>macro-F1, the cost of hiding 90% of the labels (lower line 0.969 against 0.972).</a:t>
            </a:r>
          </a:p>
        </p:txBody>
      </p:sp>
      <p:sp>
        <p:nvSpPr>
          <p:cNvPr id="7" name="TextBox 6"/>
          <p:cNvSpPr txBox="1"/>
          <p:nvPr/>
        </p:nvSpPr>
        <p:spPr>
          <a:xfrm>
            <a:off x="4896000" y="1655999"/>
            <a:ext cx="6613200" cy="360000"/>
          </a:xfrm>
          <a:prstGeom prst="rect">
            <a:avLst/>
          </a:prstGeom>
          <a:noFill/>
        </p:spPr>
        <p:txBody>
          <a:bodyPr wrap="square" lIns="0" rIns="0" tIns="0" bIns="0" anchor="t">
            <a:noAutofit/>
          </a:bodyPr>
          <a:lstStyle/>
          <a:p>
            <a:pPr algn="l"/>
            <a:r>
              <a:rPr sz="2100" b="1">
                <a:solidFill>
                  <a:srgbClr val="245CC5"/>
                </a:solidFill>
              </a:rPr>
              <a:t>Pseudo-labelling</a:t>
            </a:r>
          </a:p>
        </p:txBody>
      </p:sp>
      <p:sp>
        <p:nvSpPr>
          <p:cNvPr id="8" name="TextBox 7"/>
          <p:cNvSpPr txBox="1"/>
          <p:nvPr/>
        </p:nvSpPr>
        <p:spPr>
          <a:xfrm>
            <a:off x="4896000" y="2033999"/>
            <a:ext cx="6613200" cy="774000"/>
          </a:xfrm>
          <a:prstGeom prst="rect">
            <a:avLst/>
          </a:prstGeom>
          <a:noFill/>
        </p:spPr>
        <p:txBody>
          <a:bodyPr wrap="square" lIns="0" rIns="0" tIns="0" bIns="0" anchor="t">
            <a:noAutofit/>
          </a:bodyPr>
          <a:lstStyle/>
          <a:p>
            <a:pPr algn="l"/>
            <a:r>
              <a:rPr sz="1800" b="0">
                <a:solidFill>
                  <a:srgbClr val="17283C"/>
                </a:solidFill>
              </a:rPr>
              <a:t>The model labels the flows it is at least 95% sure of, two rounds (cutoff chosen on validation).</a:t>
            </a:r>
          </a:p>
        </p:txBody>
      </p:sp>
      <p:sp>
        <p:nvSpPr>
          <p:cNvPr id="9" name="TextBox 8"/>
          <p:cNvSpPr txBox="1"/>
          <p:nvPr/>
        </p:nvSpPr>
        <p:spPr>
          <a:xfrm>
            <a:off x="4896000" y="2844000"/>
            <a:ext cx="6613200" cy="360000"/>
          </a:xfrm>
          <a:prstGeom prst="rect">
            <a:avLst/>
          </a:prstGeom>
          <a:noFill/>
        </p:spPr>
        <p:txBody>
          <a:bodyPr wrap="square" lIns="0" rIns="0" tIns="0" bIns="0" anchor="t">
            <a:noAutofit/>
          </a:bodyPr>
          <a:lstStyle/>
          <a:p>
            <a:pPr algn="l"/>
            <a:r>
              <a:rPr sz="2100" b="1">
                <a:solidFill>
                  <a:srgbClr val="245CC5"/>
                </a:solidFill>
              </a:rPr>
              <a:t>Result</a:t>
            </a:r>
          </a:p>
        </p:txBody>
      </p:sp>
      <p:sp>
        <p:nvSpPr>
          <p:cNvPr id="10" name="TextBox 9"/>
          <p:cNvSpPr txBox="1"/>
          <p:nvPr/>
        </p:nvSpPr>
        <p:spPr>
          <a:xfrm>
            <a:off x="4896000" y="3221999"/>
            <a:ext cx="6613200" cy="774000"/>
          </a:xfrm>
          <a:prstGeom prst="rect">
            <a:avLst/>
          </a:prstGeom>
          <a:noFill/>
        </p:spPr>
        <p:txBody>
          <a:bodyPr wrap="square" lIns="0" rIns="0" tIns="0" bIns="0" anchor="t">
            <a:noAutofit/>
          </a:bodyPr>
          <a:lstStyle/>
          <a:p>
            <a:pPr algn="l"/>
            <a:r>
              <a:rPr sz="1800" b="0">
                <a:solidFill>
                  <a:srgbClr val="17283C"/>
                </a:solidFill>
              </a:rPr>
              <a:t>Test macro-F1 0.9685 with pseudo-labels, against 0.9688 without: no gain.</a:t>
            </a:r>
          </a:p>
        </p:txBody>
      </p:sp>
      <p:sp>
        <p:nvSpPr>
          <p:cNvPr id="11" name="TextBox 10"/>
          <p:cNvSpPr txBox="1"/>
          <p:nvPr/>
        </p:nvSpPr>
        <p:spPr>
          <a:xfrm>
            <a:off x="4896000" y="4031999"/>
            <a:ext cx="6613200" cy="360000"/>
          </a:xfrm>
          <a:prstGeom prst="rect">
            <a:avLst/>
          </a:prstGeom>
          <a:noFill/>
        </p:spPr>
        <p:txBody>
          <a:bodyPr wrap="square" lIns="0" rIns="0" tIns="0" bIns="0" anchor="t">
            <a:noAutofit/>
          </a:bodyPr>
          <a:lstStyle/>
          <a:p>
            <a:pPr algn="l"/>
            <a:r>
              <a:rPr sz="2100" b="1">
                <a:solidFill>
                  <a:srgbClr val="245CC5"/>
                </a:solidFill>
              </a:rPr>
              <a:t>Why</a:t>
            </a:r>
          </a:p>
        </p:txBody>
      </p:sp>
      <p:sp>
        <p:nvSpPr>
          <p:cNvPr id="12" name="TextBox 11"/>
          <p:cNvSpPr txBox="1"/>
          <p:nvPr/>
        </p:nvSpPr>
        <p:spPr>
          <a:xfrm>
            <a:off x="4896000" y="4410000"/>
            <a:ext cx="6613200" cy="774000"/>
          </a:xfrm>
          <a:prstGeom prst="rect">
            <a:avLst/>
          </a:prstGeom>
          <a:noFill/>
        </p:spPr>
        <p:txBody>
          <a:bodyPr wrap="square" lIns="0" rIns="0" tIns="0" bIns="0" anchor="t">
            <a:noAutofit/>
          </a:bodyPr>
          <a:lstStyle/>
          <a:p>
            <a:pPr algn="l"/>
            <a:r>
              <a:rPr sz="1800" b="0">
                <a:solidFill>
                  <a:srgbClr val="17283C"/>
                </a:solidFill>
              </a:rPr>
              <a:t>Round 1 added 143,824 guesses, 99.5% right, but all flows the model already got right.</a:t>
            </a:r>
          </a:p>
        </p:txBody>
      </p:sp>
      <p:sp>
        <p:nvSpPr>
          <p:cNvPr id="13" name="TextBox 12"/>
          <p:cNvSpPr txBox="1"/>
          <p:nvPr/>
        </p:nvSpPr>
        <p:spPr>
          <a:xfrm>
            <a:off x="687600" y="5436000"/>
            <a:ext cx="10821600" cy="702000"/>
          </a:xfrm>
          <a:prstGeom prst="rect">
            <a:avLst/>
          </a:prstGeom>
          <a:noFill/>
        </p:spPr>
        <p:txBody>
          <a:bodyPr wrap="square" lIns="0" rIns="0" tIns="0" bIns="0" anchor="t">
            <a:noAutofit/>
          </a:bodyPr>
          <a:lstStyle/>
          <a:p>
            <a:pPr algn="l"/>
            <a:r>
              <a:rPr sz="2000" b="1">
                <a:solidFill>
                  <a:srgbClr val="245CC5"/>
                </a:solidFill>
              </a:rPr>
              <a:t>The unlabelled data did not help: the confident guesses were right, but not new.</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5F3ED"/>
        </a:solidFill>
        <a:effectLst/>
      </p:bgPr>
    </p:bg>
    <p:spTree>
      <p:nvGrpSpPr>
        <p:cNvPr id="1" name=""/>
        <p:cNvGrpSpPr/>
        <p:nvPr/>
      </p:nvGrpSpPr>
      <p:grpSpPr/>
      <p:sp>
        <p:nvSpPr>
          <p:cNvPr id="2" name="TextBox 1"/>
          <p:cNvSpPr txBox="1"/>
          <p:nvPr/>
        </p:nvSpPr>
        <p:spPr>
          <a:xfrm>
            <a:off x="687600" y="525600"/>
            <a:ext cx="10821600" cy="954000"/>
          </a:xfrm>
          <a:prstGeom prst="rect">
            <a:avLst/>
          </a:prstGeom>
          <a:noFill/>
        </p:spPr>
        <p:txBody>
          <a:bodyPr wrap="square" lIns="0" rIns="0" tIns="0" bIns="0" anchor="t">
            <a:noAutofit/>
          </a:bodyPr>
          <a:lstStyle/>
          <a:p>
            <a:pPr algn="l"/>
            <a:r>
              <a:rPr sz="3300" b="1">
                <a:solidFill>
                  <a:srgbClr val="17283C"/>
                </a:solidFill>
              </a:rPr>
              <a:t>What the model looks at</a:t>
            </a:r>
          </a:p>
        </p:txBody>
      </p:sp>
      <p:sp>
        <p:nvSpPr>
          <p:cNvPr id="3" name="TextBox 2"/>
          <p:cNvSpPr txBox="1"/>
          <p:nvPr/>
        </p:nvSpPr>
        <p:spPr>
          <a:xfrm>
            <a:off x="10785600" y="6256800"/>
            <a:ext cx="363600" cy="237600"/>
          </a:xfrm>
          <a:prstGeom prst="rect">
            <a:avLst/>
          </a:prstGeom>
          <a:noFill/>
        </p:spPr>
        <p:txBody>
          <a:bodyPr wrap="square" lIns="0" rIns="0" tIns="0" bIns="0" anchor="t">
            <a:noAutofit/>
          </a:bodyPr>
          <a:lstStyle/>
          <a:p>
            <a:pPr algn="r"/>
            <a:r>
              <a:rPr sz="1250" b="0">
                <a:solidFill>
                  <a:srgbClr val="526173"/>
                </a:solidFill>
              </a:rPr>
              <a:t>6</a:t>
            </a:r>
          </a:p>
        </p:txBody>
      </p:sp>
      <p:sp>
        <p:nvSpPr>
          <p:cNvPr id="4" name="TextBox 3"/>
          <p:cNvSpPr txBox="1"/>
          <p:nvPr/>
        </p:nvSpPr>
        <p:spPr>
          <a:xfrm>
            <a:off x="687600" y="6210000"/>
            <a:ext cx="9864000" cy="334800"/>
          </a:xfrm>
          <a:prstGeom prst="rect">
            <a:avLst/>
          </a:prstGeom>
          <a:noFill/>
        </p:spPr>
        <p:txBody>
          <a:bodyPr wrap="square" lIns="0" rIns="0" tIns="0" bIns="0" anchor="t">
            <a:noAutofit/>
          </a:bodyPr>
          <a:lstStyle/>
          <a:p>
            <a:pPr algn="l"/>
            <a:r>
              <a:rPr sz="1200" b="0">
                <a:solidFill>
                  <a:srgbClr val="526173"/>
                </a:solidFill>
              </a:rPr>
              <a:t>Notebook Part D · results/figures/D1_shap_beeswarm.png, results/tables/D1_shap_top.csv</a:t>
            </a:r>
          </a:p>
        </p:txBody>
      </p:sp>
      <p:sp>
        <p:nvSpPr>
          <p:cNvPr id="5" name="Rectangle 4"/>
          <p:cNvSpPr/>
          <p:nvPr/>
        </p:nvSpPr>
        <p:spPr>
          <a:xfrm>
            <a:off x="651599" y="1620000"/>
            <a:ext cx="5908378" cy="3636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D1_shap_beeswarm.png"/>
          <p:cNvPicPr>
            <a:picLocks noChangeAspect="1"/>
          </p:cNvPicPr>
          <p:nvPr/>
        </p:nvPicPr>
        <p:blipFill>
          <a:blip r:embed="rId3"/>
          <a:stretch>
            <a:fillRect/>
          </a:stretch>
        </p:blipFill>
        <p:spPr>
          <a:xfrm>
            <a:off x="687600" y="1655999"/>
            <a:ext cx="5836378" cy="3564000"/>
          </a:xfrm>
          <a:prstGeom prst="rect">
            <a:avLst/>
          </a:prstGeom>
        </p:spPr>
      </p:pic>
      <p:sp>
        <p:nvSpPr>
          <p:cNvPr id="7" name="TextBox 6"/>
          <p:cNvSpPr txBox="1"/>
          <p:nvPr/>
        </p:nvSpPr>
        <p:spPr>
          <a:xfrm>
            <a:off x="6883978" y="1584000"/>
            <a:ext cx="4625221" cy="1044000"/>
          </a:xfrm>
          <a:prstGeom prst="rect">
            <a:avLst/>
          </a:prstGeom>
          <a:noFill/>
        </p:spPr>
        <p:txBody>
          <a:bodyPr wrap="square" lIns="0" rIns="0" tIns="0" bIns="0" anchor="b">
            <a:noAutofit/>
          </a:bodyPr>
          <a:lstStyle/>
          <a:p>
            <a:pPr algn="l"/>
            <a:r>
              <a:rPr sz="6000" b="1">
                <a:solidFill>
                  <a:srgbClr val="245CC5"/>
                </a:solidFill>
              </a:rPr>
              <a:t>76%</a:t>
            </a:r>
          </a:p>
        </p:txBody>
      </p:sp>
      <p:sp>
        <p:nvSpPr>
          <p:cNvPr id="8" name="TextBox 7"/>
          <p:cNvSpPr txBox="1"/>
          <p:nvPr/>
        </p:nvSpPr>
        <p:spPr>
          <a:xfrm>
            <a:off x="6883978" y="2664000"/>
            <a:ext cx="4625221" cy="864000"/>
          </a:xfrm>
          <a:prstGeom prst="rect">
            <a:avLst/>
          </a:prstGeom>
          <a:noFill/>
        </p:spPr>
        <p:txBody>
          <a:bodyPr wrap="square" lIns="0" rIns="0" tIns="0" bIns="0" anchor="t">
            <a:noAutofit/>
          </a:bodyPr>
          <a:lstStyle/>
          <a:p>
            <a:pPr algn="l"/>
            <a:r>
              <a:rPr sz="1850" b="0">
                <a:solidFill>
                  <a:srgbClr val="17283C"/>
                </a:solidFill>
              </a:rPr>
              <a:t>of the SHAP weight on three features.</a:t>
            </a:r>
          </a:p>
        </p:txBody>
      </p:sp>
      <p:sp>
        <p:nvSpPr>
          <p:cNvPr id="9" name="TextBox 8"/>
          <p:cNvSpPr txBox="1"/>
          <p:nvPr/>
        </p:nvSpPr>
        <p:spPr>
          <a:xfrm>
            <a:off x="6883978" y="3456000"/>
            <a:ext cx="4625221" cy="1764000"/>
          </a:xfrm>
          <a:prstGeom prst="rect">
            <a:avLst/>
          </a:prstGeom>
          <a:noFill/>
        </p:spPr>
        <p:txBody>
          <a:bodyPr wrap="square" lIns="0" rIns="0" tIns="0" bIns="0" anchor="t">
            <a:noAutofit/>
          </a:bodyPr>
          <a:lstStyle/>
          <a:p>
            <a:pPr algn="l">
              <a:spcAft>
                <a:spcPts val="800"/>
              </a:spcAft>
            </a:pPr>
            <a:r>
              <a:rPr sz="1700" b="0">
                <a:solidFill>
                  <a:srgbClr val="17283C"/>
                </a:solidFill>
              </a:rPr>
              <a:t>Fwd Seg Size Min 42%, FWD Init Win Bytes 21%, Bwd Packets/s 13%.</a:t>
            </a:r>
          </a:p>
          <a:p>
            <a:pPr algn="l"/>
            <a:r>
              <a:rPr sz="1700" b="0">
                <a:solidFill>
                  <a:srgbClr val="17283C"/>
                </a:solidFill>
              </a:rPr>
              <a:t>The first two are </a:t>
            </a:r>
            <a:r>
              <a:rPr sz="1700" b="1">
                <a:solidFill>
                  <a:srgbClr val="17283C"/>
                </a:solidFill>
              </a:rPr>
              <a:t>TCP settings of the attacker's own machine</a:t>
            </a:r>
            <a:r>
              <a:rPr sz="1700" b="0">
                <a:solidFill>
                  <a:srgbClr val="17283C"/>
                </a:solidFill>
              </a:rPr>
              <a:t>: 95% of training attacks announce a window of exactly 16,383 bytes.</a:t>
            </a:r>
          </a:p>
        </p:txBody>
      </p:sp>
      <p:sp>
        <p:nvSpPr>
          <p:cNvPr id="10" name="TextBox 9"/>
          <p:cNvSpPr txBox="1"/>
          <p:nvPr/>
        </p:nvSpPr>
        <p:spPr>
          <a:xfrm>
            <a:off x="687600" y="5436000"/>
            <a:ext cx="10821600" cy="702000"/>
          </a:xfrm>
          <a:prstGeom prst="rect">
            <a:avLst/>
          </a:prstGeom>
          <a:noFill/>
        </p:spPr>
        <p:txBody>
          <a:bodyPr wrap="square" lIns="0" rIns="0" tIns="0" bIns="0" anchor="t">
            <a:noAutofit/>
          </a:bodyPr>
          <a:lstStyle/>
          <a:p>
            <a:pPr algn="l"/>
            <a:r>
              <a:rPr sz="2000" b="1">
                <a:solidFill>
                  <a:srgbClr val="245CC5"/>
                </a:solidFill>
              </a:rPr>
              <a:t>The model recognises the attacker machines' TCP fingerprint: a shortcut, not attack behaviour.</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5F3ED"/>
        </a:solidFill>
        <a:effectLst/>
      </p:bgPr>
    </p:bg>
    <p:spTree>
      <p:nvGrpSpPr>
        <p:cNvPr id="1" name=""/>
        <p:cNvGrpSpPr/>
        <p:nvPr/>
      </p:nvGrpSpPr>
      <p:grpSpPr/>
      <p:sp>
        <p:nvSpPr>
          <p:cNvPr id="2" name="TextBox 1"/>
          <p:cNvSpPr txBox="1"/>
          <p:nvPr/>
        </p:nvSpPr>
        <p:spPr>
          <a:xfrm>
            <a:off x="687600" y="525600"/>
            <a:ext cx="10821600" cy="954000"/>
          </a:xfrm>
          <a:prstGeom prst="rect">
            <a:avLst/>
          </a:prstGeom>
          <a:noFill/>
        </p:spPr>
        <p:txBody>
          <a:bodyPr wrap="square" lIns="0" rIns="0" tIns="0" bIns="0" anchor="t">
            <a:noAutofit/>
          </a:bodyPr>
          <a:lstStyle/>
          <a:p>
            <a:pPr algn="l"/>
            <a:r>
              <a:rPr sz="3300" b="1">
                <a:solidFill>
                  <a:srgbClr val="17283C"/>
                </a:solidFill>
              </a:rPr>
              <a:t>The most confident mistake</a:t>
            </a:r>
          </a:p>
        </p:txBody>
      </p:sp>
      <p:sp>
        <p:nvSpPr>
          <p:cNvPr id="3" name="TextBox 2"/>
          <p:cNvSpPr txBox="1"/>
          <p:nvPr/>
        </p:nvSpPr>
        <p:spPr>
          <a:xfrm>
            <a:off x="10785600" y="6256800"/>
            <a:ext cx="363600" cy="237600"/>
          </a:xfrm>
          <a:prstGeom prst="rect">
            <a:avLst/>
          </a:prstGeom>
          <a:noFill/>
        </p:spPr>
        <p:txBody>
          <a:bodyPr wrap="square" lIns="0" rIns="0" tIns="0" bIns="0" anchor="t">
            <a:noAutofit/>
          </a:bodyPr>
          <a:lstStyle/>
          <a:p>
            <a:pPr algn="r"/>
            <a:r>
              <a:rPr sz="1250" b="0">
                <a:solidFill>
                  <a:srgbClr val="526173"/>
                </a:solidFill>
              </a:rPr>
              <a:t>7</a:t>
            </a:r>
          </a:p>
        </p:txBody>
      </p:sp>
      <p:sp>
        <p:nvSpPr>
          <p:cNvPr id="4" name="TextBox 3"/>
          <p:cNvSpPr txBox="1"/>
          <p:nvPr/>
        </p:nvSpPr>
        <p:spPr>
          <a:xfrm>
            <a:off x="687600" y="6210000"/>
            <a:ext cx="9864000" cy="334800"/>
          </a:xfrm>
          <a:prstGeom prst="rect">
            <a:avLst/>
          </a:prstGeom>
          <a:noFill/>
        </p:spPr>
        <p:txBody>
          <a:bodyPr wrap="square" lIns="0" rIns="0" tIns="0" bIns="0" anchor="t">
            <a:noAutofit/>
          </a:bodyPr>
          <a:lstStyle/>
          <a:p>
            <a:pPr algn="l"/>
            <a:r>
              <a:rPr sz="1200" b="0">
                <a:solidFill>
                  <a:srgbClr val="526173"/>
                </a:solidFill>
              </a:rPr>
              <a:t>Notebook Part D · results/figures/D3_shap_mistake.png, results/tables/D3_shap_values.csv</a:t>
            </a:r>
          </a:p>
        </p:txBody>
      </p:sp>
      <p:sp>
        <p:nvSpPr>
          <p:cNvPr id="5" name="Rectangle 4"/>
          <p:cNvSpPr/>
          <p:nvPr/>
        </p:nvSpPr>
        <p:spPr>
          <a:xfrm>
            <a:off x="651599" y="1620000"/>
            <a:ext cx="5964531" cy="3636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D3_shap_mistake.png"/>
          <p:cNvPicPr>
            <a:picLocks noChangeAspect="1"/>
          </p:cNvPicPr>
          <p:nvPr/>
        </p:nvPicPr>
        <p:blipFill>
          <a:blip r:embed="rId3"/>
          <a:stretch>
            <a:fillRect/>
          </a:stretch>
        </p:blipFill>
        <p:spPr>
          <a:xfrm>
            <a:off x="687600" y="1655999"/>
            <a:ext cx="5892531" cy="3564000"/>
          </a:xfrm>
          <a:prstGeom prst="rect">
            <a:avLst/>
          </a:prstGeom>
        </p:spPr>
      </p:pic>
      <p:sp>
        <p:nvSpPr>
          <p:cNvPr id="7" name="TextBox 6"/>
          <p:cNvSpPr txBox="1"/>
          <p:nvPr/>
        </p:nvSpPr>
        <p:spPr>
          <a:xfrm>
            <a:off x="6940131" y="1584000"/>
            <a:ext cx="4569068" cy="1044000"/>
          </a:xfrm>
          <a:prstGeom prst="rect">
            <a:avLst/>
          </a:prstGeom>
          <a:noFill/>
        </p:spPr>
        <p:txBody>
          <a:bodyPr wrap="square" lIns="0" rIns="0" tIns="0" bIns="0" anchor="b">
            <a:noAutofit/>
          </a:bodyPr>
          <a:lstStyle/>
          <a:p>
            <a:pPr algn="l"/>
            <a:r>
              <a:rPr sz="6000" b="1">
                <a:solidFill>
                  <a:srgbClr val="245CC5"/>
                </a:solidFill>
              </a:rPr>
              <a:t>0.999</a:t>
            </a:r>
          </a:p>
        </p:txBody>
      </p:sp>
      <p:sp>
        <p:nvSpPr>
          <p:cNvPr id="8" name="TextBox 7"/>
          <p:cNvSpPr txBox="1"/>
          <p:nvPr/>
        </p:nvSpPr>
        <p:spPr>
          <a:xfrm>
            <a:off x="6940131" y="2664000"/>
            <a:ext cx="4569068" cy="864000"/>
          </a:xfrm>
          <a:prstGeom prst="rect">
            <a:avLst/>
          </a:prstGeom>
          <a:noFill/>
        </p:spPr>
        <p:txBody>
          <a:bodyPr wrap="square" lIns="0" rIns="0" tIns="0" bIns="0" anchor="t">
            <a:noAutofit/>
          </a:bodyPr>
          <a:lstStyle/>
          <a:p>
            <a:pPr algn="l"/>
            <a:r>
              <a:rPr sz="1850" b="0">
                <a:solidFill>
                  <a:srgbClr val="17283C"/>
                </a:solidFill>
              </a:rPr>
              <a:t>the attack probability of a benign flow.</a:t>
            </a:r>
          </a:p>
        </p:txBody>
      </p:sp>
      <p:sp>
        <p:nvSpPr>
          <p:cNvPr id="9" name="TextBox 8"/>
          <p:cNvSpPr txBox="1"/>
          <p:nvPr/>
        </p:nvSpPr>
        <p:spPr>
          <a:xfrm>
            <a:off x="6940131" y="3456000"/>
            <a:ext cx="4569068" cy="1764000"/>
          </a:xfrm>
          <a:prstGeom prst="rect">
            <a:avLst/>
          </a:prstGeom>
          <a:noFill/>
        </p:spPr>
        <p:txBody>
          <a:bodyPr wrap="square" lIns="0" rIns="0" tIns="0" bIns="0" anchor="t">
            <a:noAutofit/>
          </a:bodyPr>
          <a:lstStyle/>
          <a:p>
            <a:pPr algn="l">
              <a:spcAft>
                <a:spcPts val="800"/>
              </a:spcAft>
            </a:pPr>
            <a:r>
              <a:rPr sz="1700" b="0">
                <a:solidFill>
                  <a:srgbClr val="17283C"/>
                </a:solidFill>
              </a:rPr>
              <a:t>The two TCP features alone add </a:t>
            </a:r>
            <a:r>
              <a:rPr sz="1700" b="1">
                <a:solidFill>
                  <a:srgbClr val="17283C"/>
                </a:solidFill>
              </a:rPr>
              <a:t>+5.7</a:t>
            </a:r>
            <a:r>
              <a:rPr sz="1700" b="0">
                <a:solidFill>
                  <a:srgbClr val="17283C"/>
                </a:solidFill>
              </a:rPr>
              <a:t> and </a:t>
            </a:r>
            <a:r>
              <a:rPr sz="1700" b="1">
                <a:solidFill>
                  <a:srgbClr val="17283C"/>
                </a:solidFill>
              </a:rPr>
              <a:t>+3.5</a:t>
            </a:r>
            <a:r>
              <a:rPr sz="1700" b="0">
                <a:solidFill>
                  <a:srgbClr val="17283C"/>
                </a:solidFill>
              </a:rPr>
              <a:t> log-odds.</a:t>
            </a:r>
          </a:p>
          <a:p>
            <a:pPr algn="l"/>
            <a:r>
              <a:rPr sz="1700" b="1">
                <a:solidFill>
                  <a:srgbClr val="17283C"/>
                </a:solidFill>
              </a:rPr>
              <a:t>1,197 of the 1,241</a:t>
            </a:r>
            <a:r>
              <a:rPr sz="1700" b="0">
                <a:solidFill>
                  <a:srgbClr val="17283C"/>
                </a:solidFill>
              </a:rPr>
              <a:t> false alarms on the test set carry the same fingerprint.</a:t>
            </a:r>
          </a:p>
        </p:txBody>
      </p:sp>
      <p:sp>
        <p:nvSpPr>
          <p:cNvPr id="10" name="TextBox 9"/>
          <p:cNvSpPr txBox="1"/>
          <p:nvPr/>
        </p:nvSpPr>
        <p:spPr>
          <a:xfrm>
            <a:off x="687600" y="5436000"/>
            <a:ext cx="10821600" cy="702000"/>
          </a:xfrm>
          <a:prstGeom prst="rect">
            <a:avLst/>
          </a:prstGeom>
          <a:noFill/>
        </p:spPr>
        <p:txBody>
          <a:bodyPr wrap="square" lIns="0" rIns="0" tIns="0" bIns="0" anchor="t">
            <a:noAutofit/>
          </a:bodyPr>
          <a:lstStyle/>
          <a:p>
            <a:pPr algn="l"/>
            <a:r>
              <a:rPr sz="2000" b="1">
                <a:solidFill>
                  <a:srgbClr val="245CC5"/>
                </a:solidFill>
              </a:rPr>
              <a:t>The explanation found the weakness that the scores hid.</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5F3ED"/>
        </a:solidFill>
        <a:effectLst/>
      </p:bgPr>
    </p:bg>
    <p:spTree>
      <p:nvGrpSpPr>
        <p:cNvPr id="1" name=""/>
        <p:cNvGrpSpPr/>
        <p:nvPr/>
      </p:nvGrpSpPr>
      <p:grpSpPr/>
      <p:sp>
        <p:nvSpPr>
          <p:cNvPr id="2" name="TextBox 1"/>
          <p:cNvSpPr txBox="1"/>
          <p:nvPr/>
        </p:nvSpPr>
        <p:spPr>
          <a:xfrm>
            <a:off x="687600" y="525600"/>
            <a:ext cx="10821600" cy="954000"/>
          </a:xfrm>
          <a:prstGeom prst="rect">
            <a:avLst/>
          </a:prstGeom>
          <a:noFill/>
        </p:spPr>
        <p:txBody>
          <a:bodyPr wrap="square" lIns="0" rIns="0" tIns="0" bIns="0" anchor="t">
            <a:noAutofit/>
          </a:bodyPr>
          <a:lstStyle/>
          <a:p>
            <a:pPr algn="l"/>
            <a:r>
              <a:rPr sz="3300" b="1">
                <a:solidFill>
                  <a:srgbClr val="17283C"/>
                </a:solidFill>
              </a:rPr>
              <a:t>Can we trust the explanation?</a:t>
            </a:r>
          </a:p>
        </p:txBody>
      </p:sp>
      <p:sp>
        <p:nvSpPr>
          <p:cNvPr id="3" name="TextBox 2"/>
          <p:cNvSpPr txBox="1"/>
          <p:nvPr/>
        </p:nvSpPr>
        <p:spPr>
          <a:xfrm>
            <a:off x="10785600" y="6256800"/>
            <a:ext cx="363600" cy="237600"/>
          </a:xfrm>
          <a:prstGeom prst="rect">
            <a:avLst/>
          </a:prstGeom>
          <a:noFill/>
        </p:spPr>
        <p:txBody>
          <a:bodyPr wrap="square" lIns="0" rIns="0" tIns="0" bIns="0" anchor="t">
            <a:noAutofit/>
          </a:bodyPr>
          <a:lstStyle/>
          <a:p>
            <a:pPr algn="r"/>
            <a:r>
              <a:rPr sz="1250" b="0">
                <a:solidFill>
                  <a:srgbClr val="526173"/>
                </a:solidFill>
              </a:rPr>
              <a:t>8</a:t>
            </a:r>
          </a:p>
        </p:txBody>
      </p:sp>
      <p:sp>
        <p:nvSpPr>
          <p:cNvPr id="4" name="TextBox 3"/>
          <p:cNvSpPr txBox="1"/>
          <p:nvPr/>
        </p:nvSpPr>
        <p:spPr>
          <a:xfrm>
            <a:off x="687600" y="6210000"/>
            <a:ext cx="9864000" cy="334800"/>
          </a:xfrm>
          <a:prstGeom prst="rect">
            <a:avLst/>
          </a:prstGeom>
          <a:noFill/>
        </p:spPr>
        <p:txBody>
          <a:bodyPr wrap="square" lIns="0" rIns="0" tIns="0" bIns="0" anchor="t">
            <a:noAutofit/>
          </a:bodyPr>
          <a:lstStyle/>
          <a:p>
            <a:pPr algn="l"/>
            <a:r>
              <a:rPr sz="1200" b="0">
                <a:solidFill>
                  <a:srgbClr val="526173"/>
                </a:solidFill>
              </a:rPr>
              <a:t>Notebook Part D · results/tables/D4_deletion.csv, D5_lime_stability.csv, D6_investigation.csv</a:t>
            </a:r>
          </a:p>
        </p:txBody>
      </p:sp>
      <p:sp>
        <p:nvSpPr>
          <p:cNvPr id="5" name="TextBox 4"/>
          <p:cNvSpPr txBox="1"/>
          <p:nvPr/>
        </p:nvSpPr>
        <p:spPr>
          <a:xfrm>
            <a:off x="687600" y="1782000"/>
            <a:ext cx="2664000" cy="1152000"/>
          </a:xfrm>
          <a:prstGeom prst="rect">
            <a:avLst/>
          </a:prstGeom>
          <a:noFill/>
        </p:spPr>
        <p:txBody>
          <a:bodyPr wrap="square" lIns="0" rIns="0" tIns="0" bIns="0" anchor="t">
            <a:noAutofit/>
          </a:bodyPr>
          <a:lstStyle/>
          <a:p>
            <a:pPr algn="l"/>
            <a:r>
              <a:rPr sz="2250" b="1">
                <a:solidFill>
                  <a:srgbClr val="245CC5"/>
                </a:solidFill>
              </a:rPr>
              <a:t>Faithful</a:t>
            </a:r>
          </a:p>
        </p:txBody>
      </p:sp>
      <p:sp>
        <p:nvSpPr>
          <p:cNvPr id="6" name="TextBox 5"/>
          <p:cNvSpPr txBox="1"/>
          <p:nvPr/>
        </p:nvSpPr>
        <p:spPr>
          <a:xfrm>
            <a:off x="3528000" y="1782000"/>
            <a:ext cx="7956000" cy="1152000"/>
          </a:xfrm>
          <a:prstGeom prst="rect">
            <a:avLst/>
          </a:prstGeom>
          <a:noFill/>
        </p:spPr>
        <p:txBody>
          <a:bodyPr wrap="square" lIns="0" rIns="0" tIns="0" bIns="0" anchor="t">
            <a:noAutofit/>
          </a:bodyPr>
          <a:lstStyle/>
          <a:p>
            <a:pPr algn="l"/>
            <a:r>
              <a:rPr sz="1900" b="0">
                <a:solidFill>
                  <a:srgbClr val="17283C"/>
                </a:solidFill>
              </a:rPr>
              <a:t>Replacing each flow's top SHAP feature with its median flips </a:t>
            </a:r>
            <a:r>
              <a:rPr sz="1900" b="1">
                <a:solidFill>
                  <a:srgbClr val="17283C"/>
                </a:solidFill>
              </a:rPr>
              <a:t>100%</a:t>
            </a:r>
            <a:r>
              <a:rPr sz="1900" b="0">
                <a:solidFill>
                  <a:srgbClr val="17283C"/>
                </a:solidFill>
              </a:rPr>
              <a:t> of 500 attack decisions; one random feature flips 2.8%.</a:t>
            </a:r>
          </a:p>
        </p:txBody>
      </p:sp>
      <p:sp>
        <p:nvSpPr>
          <p:cNvPr id="7" name="TextBox 6"/>
          <p:cNvSpPr txBox="1"/>
          <p:nvPr/>
        </p:nvSpPr>
        <p:spPr>
          <a:xfrm>
            <a:off x="687600" y="3006000"/>
            <a:ext cx="2664000" cy="1152000"/>
          </a:xfrm>
          <a:prstGeom prst="rect">
            <a:avLst/>
          </a:prstGeom>
          <a:noFill/>
        </p:spPr>
        <p:txBody>
          <a:bodyPr wrap="square" lIns="0" rIns="0" tIns="0" bIns="0" anchor="t">
            <a:noAutofit/>
          </a:bodyPr>
          <a:lstStyle/>
          <a:p>
            <a:pPr algn="l"/>
            <a:r>
              <a:rPr sz="2250" b="1">
                <a:solidFill>
                  <a:srgbClr val="245CC5"/>
                </a:solidFill>
              </a:rPr>
              <a:t>Stable</a:t>
            </a:r>
          </a:p>
        </p:txBody>
      </p:sp>
      <p:sp>
        <p:nvSpPr>
          <p:cNvPr id="8" name="TextBox 7"/>
          <p:cNvSpPr txBox="1"/>
          <p:nvPr/>
        </p:nvSpPr>
        <p:spPr>
          <a:xfrm>
            <a:off x="3528000" y="3006000"/>
            <a:ext cx="7956000" cy="1152000"/>
          </a:xfrm>
          <a:prstGeom prst="rect">
            <a:avLst/>
          </a:prstGeom>
          <a:noFill/>
        </p:spPr>
        <p:txBody>
          <a:bodyPr wrap="square" lIns="0" rIns="0" tIns="0" bIns="0" anchor="t">
            <a:noAutofit/>
          </a:bodyPr>
          <a:lstStyle/>
          <a:p>
            <a:pPr algn="l"/>
            <a:r>
              <a:rPr sz="1900" b="0">
                <a:solidFill>
                  <a:srgbClr val="17283C"/>
                </a:solidFill>
              </a:rPr>
              <a:t>TreeSHAP gives identical values on every rerun. LIME's top 3 changed between seeds, and was the same for all three flows.</a:t>
            </a:r>
          </a:p>
        </p:txBody>
      </p:sp>
      <p:sp>
        <p:nvSpPr>
          <p:cNvPr id="9" name="TextBox 8"/>
          <p:cNvSpPr txBox="1"/>
          <p:nvPr/>
        </p:nvSpPr>
        <p:spPr>
          <a:xfrm>
            <a:off x="687600" y="4230000"/>
            <a:ext cx="2664000" cy="1152000"/>
          </a:xfrm>
          <a:prstGeom prst="rect">
            <a:avLst/>
          </a:prstGeom>
          <a:noFill/>
        </p:spPr>
        <p:txBody>
          <a:bodyPr wrap="square" lIns="0" rIns="0" tIns="0" bIns="0" anchor="t">
            <a:noAutofit/>
          </a:bodyPr>
          <a:lstStyle/>
          <a:p>
            <a:pPr algn="l"/>
            <a:r>
              <a:rPr sz="2250" b="1">
                <a:solidFill>
                  <a:srgbClr val="245CC5"/>
                </a:solidFill>
              </a:rPr>
              <a:t>Agreement</a:t>
            </a:r>
          </a:p>
        </p:txBody>
      </p:sp>
      <p:sp>
        <p:nvSpPr>
          <p:cNvPr id="10" name="TextBox 9"/>
          <p:cNvSpPr txBox="1"/>
          <p:nvPr/>
        </p:nvSpPr>
        <p:spPr>
          <a:xfrm>
            <a:off x="3528000" y="4230000"/>
            <a:ext cx="7956000" cy="1152000"/>
          </a:xfrm>
          <a:prstGeom prst="rect">
            <a:avLst/>
          </a:prstGeom>
          <a:noFill/>
        </p:spPr>
        <p:txBody>
          <a:bodyPr wrap="square" lIns="0" rIns="0" tIns="0" bIns="0" anchor="t">
            <a:noAutofit/>
          </a:bodyPr>
          <a:lstStyle/>
          <a:p>
            <a:pPr algn="l"/>
            <a:r>
              <a:rPr sz="1900" b="0">
                <a:solidFill>
                  <a:srgbClr val="17283C"/>
                </a:solidFill>
              </a:rPr>
              <a:t>SHAP and LIME share 1 to 2 of 3 features. LIME's local fit R² is 0.06 to 0.29: a straight line cannot fit a switch.</a:t>
            </a:r>
          </a:p>
        </p:txBody>
      </p:sp>
      <p:sp>
        <p:nvSpPr>
          <p:cNvPr id="11" name="TextBox 10"/>
          <p:cNvSpPr txBox="1"/>
          <p:nvPr/>
        </p:nvSpPr>
        <p:spPr>
          <a:xfrm>
            <a:off x="687600" y="5436000"/>
            <a:ext cx="10821600" cy="702000"/>
          </a:xfrm>
          <a:prstGeom prst="rect">
            <a:avLst/>
          </a:prstGeom>
          <a:noFill/>
        </p:spPr>
        <p:txBody>
          <a:bodyPr wrap="square" lIns="0" rIns="0" tIns="0" bIns="0" anchor="t">
            <a:noAutofit/>
          </a:bodyPr>
          <a:lstStyle/>
          <a:p>
            <a:pPr algn="l"/>
            <a:r>
              <a:rPr sz="2000" b="1">
                <a:solidFill>
                  <a:srgbClr val="245CC5"/>
                </a:solidFill>
              </a:rPr>
              <a:t>We would show analysts SHAP: exact, stable and faithful here.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5F3ED"/>
        </a:solidFill>
        <a:effectLst/>
      </p:bgPr>
    </p:bg>
    <p:spTree>
      <p:nvGrpSpPr>
        <p:cNvPr id="1" name=""/>
        <p:cNvGrpSpPr/>
        <p:nvPr/>
      </p:nvGrpSpPr>
      <p:grpSpPr/>
      <p:sp>
        <p:nvSpPr>
          <p:cNvPr id="2" name="TextBox 1"/>
          <p:cNvSpPr txBox="1"/>
          <p:nvPr/>
        </p:nvSpPr>
        <p:spPr>
          <a:xfrm>
            <a:off x="687600" y="525600"/>
            <a:ext cx="10821600" cy="954000"/>
          </a:xfrm>
          <a:prstGeom prst="rect">
            <a:avLst/>
          </a:prstGeom>
          <a:noFill/>
        </p:spPr>
        <p:txBody>
          <a:bodyPr wrap="square" lIns="0" rIns="0" tIns="0" bIns="0" anchor="t">
            <a:noAutofit/>
          </a:bodyPr>
          <a:lstStyle/>
          <a:p>
            <a:pPr algn="l"/>
            <a:r>
              <a:rPr sz="3300" b="1">
                <a:solidFill>
                  <a:srgbClr val="17283C"/>
                </a:solidFill>
              </a:rPr>
              <a:t>Noise and missing fields</a:t>
            </a:r>
          </a:p>
        </p:txBody>
      </p:sp>
      <p:sp>
        <p:nvSpPr>
          <p:cNvPr id="3" name="TextBox 2"/>
          <p:cNvSpPr txBox="1"/>
          <p:nvPr/>
        </p:nvSpPr>
        <p:spPr>
          <a:xfrm>
            <a:off x="10785600" y="6256800"/>
            <a:ext cx="363600" cy="237600"/>
          </a:xfrm>
          <a:prstGeom prst="rect">
            <a:avLst/>
          </a:prstGeom>
          <a:noFill/>
        </p:spPr>
        <p:txBody>
          <a:bodyPr wrap="square" lIns="0" rIns="0" tIns="0" bIns="0" anchor="t">
            <a:noAutofit/>
          </a:bodyPr>
          <a:lstStyle/>
          <a:p>
            <a:pPr algn="r"/>
            <a:r>
              <a:rPr sz="1250" b="0">
                <a:solidFill>
                  <a:srgbClr val="526173"/>
                </a:solidFill>
              </a:rPr>
              <a:t>9</a:t>
            </a:r>
          </a:p>
        </p:txBody>
      </p:sp>
      <p:sp>
        <p:nvSpPr>
          <p:cNvPr id="4" name="TextBox 3"/>
          <p:cNvSpPr txBox="1"/>
          <p:nvPr/>
        </p:nvSpPr>
        <p:spPr>
          <a:xfrm>
            <a:off x="687600" y="6210000"/>
            <a:ext cx="9864000" cy="334800"/>
          </a:xfrm>
          <a:prstGeom prst="rect">
            <a:avLst/>
          </a:prstGeom>
          <a:noFill/>
        </p:spPr>
        <p:txBody>
          <a:bodyPr wrap="square" lIns="0" rIns="0" tIns="0" bIns="0" anchor="t">
            <a:noAutofit/>
          </a:bodyPr>
          <a:lstStyle/>
          <a:p>
            <a:pPr algn="l"/>
            <a:r>
              <a:rPr sz="1200" b="0">
                <a:solidFill>
                  <a:srgbClr val="526173"/>
                </a:solidFill>
              </a:rPr>
              <a:t>Notebook Part E · results/figures/E3_robustness.png, results/tables/E3_stop_trusting.csv</a:t>
            </a:r>
          </a:p>
        </p:txBody>
      </p:sp>
      <p:sp>
        <p:nvSpPr>
          <p:cNvPr id="5" name="Rectangle 4"/>
          <p:cNvSpPr/>
          <p:nvPr/>
        </p:nvSpPr>
        <p:spPr>
          <a:xfrm>
            <a:off x="651599" y="1620000"/>
            <a:ext cx="5774400" cy="3636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E3_robustness.png"/>
          <p:cNvPicPr>
            <a:picLocks noChangeAspect="1"/>
          </p:cNvPicPr>
          <p:nvPr/>
        </p:nvPicPr>
        <p:blipFill>
          <a:blip r:embed="rId3"/>
          <a:stretch>
            <a:fillRect/>
          </a:stretch>
        </p:blipFill>
        <p:spPr>
          <a:xfrm>
            <a:off x="687600" y="1655999"/>
            <a:ext cx="5702400" cy="3564000"/>
          </a:xfrm>
          <a:prstGeom prst="rect">
            <a:avLst/>
          </a:prstGeom>
        </p:spPr>
      </p:pic>
      <p:sp>
        <p:nvSpPr>
          <p:cNvPr id="7" name="TextBox 6"/>
          <p:cNvSpPr txBox="1"/>
          <p:nvPr/>
        </p:nvSpPr>
        <p:spPr>
          <a:xfrm>
            <a:off x="6750000" y="1584000"/>
            <a:ext cx="4759200" cy="1044000"/>
          </a:xfrm>
          <a:prstGeom prst="rect">
            <a:avLst/>
          </a:prstGeom>
          <a:noFill/>
        </p:spPr>
        <p:txBody>
          <a:bodyPr wrap="square" lIns="0" rIns="0" tIns="0" bIns="0" anchor="b">
            <a:noAutofit/>
          </a:bodyPr>
          <a:lstStyle/>
          <a:p>
            <a:pPr algn="l"/>
            <a:r>
              <a:rPr sz="5400" b="1">
                <a:solidFill>
                  <a:srgbClr val="245CC5"/>
                </a:solidFill>
              </a:rPr>
              <a:t>0.992 to 0.513</a:t>
            </a:r>
          </a:p>
        </p:txBody>
      </p:sp>
      <p:sp>
        <p:nvSpPr>
          <p:cNvPr id="8" name="TextBox 7"/>
          <p:cNvSpPr txBox="1"/>
          <p:nvPr/>
        </p:nvSpPr>
        <p:spPr>
          <a:xfrm>
            <a:off x="6750000" y="2664000"/>
            <a:ext cx="4759200" cy="864000"/>
          </a:xfrm>
          <a:prstGeom prst="rect">
            <a:avLst/>
          </a:prstGeom>
          <a:noFill/>
        </p:spPr>
        <p:txBody>
          <a:bodyPr wrap="square" lIns="0" rIns="0" tIns="0" bIns="0" anchor="t">
            <a:noAutofit/>
          </a:bodyPr>
          <a:lstStyle/>
          <a:p>
            <a:pPr algn="l"/>
            <a:r>
              <a:rPr sz="1850" b="0">
                <a:solidFill>
                  <a:srgbClr val="17283C"/>
                </a:solidFill>
              </a:rPr>
              <a:t>boosting's recall at noise of one thousandth of a standard deviation.</a:t>
            </a:r>
          </a:p>
        </p:txBody>
      </p:sp>
      <p:sp>
        <p:nvSpPr>
          <p:cNvPr id="9" name="TextBox 8"/>
          <p:cNvSpPr txBox="1"/>
          <p:nvPr/>
        </p:nvSpPr>
        <p:spPr>
          <a:xfrm>
            <a:off x="6750000" y="3456000"/>
            <a:ext cx="4759200" cy="1764000"/>
          </a:xfrm>
          <a:prstGeom prst="rect">
            <a:avLst/>
          </a:prstGeom>
          <a:noFill/>
        </p:spPr>
        <p:txBody>
          <a:bodyPr wrap="square" lIns="0" rIns="0" tIns="0" bIns="0" anchor="t">
            <a:noAutofit/>
          </a:bodyPr>
          <a:lstStyle/>
          <a:p>
            <a:pPr algn="l">
              <a:spcAft>
                <a:spcPts val="800"/>
              </a:spcAft>
            </a:pPr>
            <a:r>
              <a:rPr sz="1700" b="0">
                <a:solidFill>
                  <a:srgbClr val="17283C"/>
                </a:solidFill>
              </a:rPr>
              <a:t>Logistic regression stays at 0.98 up to noise 0.02, twenty times more.</a:t>
            </a:r>
          </a:p>
          <a:p>
            <a:pPr algn="l"/>
            <a:r>
              <a:rPr sz="1700" b="0">
                <a:solidFill>
                  <a:srgbClr val="17283C"/>
                </a:solidFill>
              </a:rPr>
              <a:t>Missing fields: one per flow is tolerated, two or three are not.</a:t>
            </a:r>
          </a:p>
        </p:txBody>
      </p:sp>
      <p:sp>
        <p:nvSpPr>
          <p:cNvPr id="10" name="TextBox 9"/>
          <p:cNvSpPr txBox="1"/>
          <p:nvPr/>
        </p:nvSpPr>
        <p:spPr>
          <a:xfrm>
            <a:off x="687600" y="5436000"/>
            <a:ext cx="10821600" cy="702000"/>
          </a:xfrm>
          <a:prstGeom prst="rect">
            <a:avLst/>
          </a:prstGeom>
          <a:noFill/>
        </p:spPr>
        <p:txBody>
          <a:bodyPr wrap="square" lIns="0" rIns="0" tIns="0" bIns="0" anchor="t">
            <a:noAutofit/>
          </a:bodyPr>
          <a:lstStyle/>
          <a:p>
            <a:pPr algn="l"/>
            <a:r>
              <a:rPr sz="2000" b="1">
                <a:solidFill>
                  <a:srgbClr val="245CC5"/>
                </a:solidFill>
              </a:rPr>
              <a:t>The models fail silently: recall falls, the FAR does not, and the dashboard looks calmer.</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5F3ED"/>
        </a:solidFill>
        <a:effectLst/>
      </p:bgPr>
    </p:bg>
    <p:spTree>
      <p:nvGrpSpPr>
        <p:cNvPr id="1" name=""/>
        <p:cNvGrpSpPr/>
        <p:nvPr/>
      </p:nvGrpSpPr>
      <p:grpSpPr/>
      <p:sp>
        <p:nvSpPr>
          <p:cNvPr id="2" name="TextBox 1"/>
          <p:cNvSpPr txBox="1"/>
          <p:nvPr/>
        </p:nvSpPr>
        <p:spPr>
          <a:xfrm>
            <a:off x="687600" y="525600"/>
            <a:ext cx="10821600" cy="954000"/>
          </a:xfrm>
          <a:prstGeom prst="rect">
            <a:avLst/>
          </a:prstGeom>
          <a:noFill/>
        </p:spPr>
        <p:txBody>
          <a:bodyPr wrap="square" lIns="0" rIns="0" tIns="0" bIns="0" anchor="t">
            <a:noAutofit/>
          </a:bodyPr>
          <a:lstStyle/>
          <a:p>
            <a:pPr algn="l"/>
            <a:r>
              <a:rPr sz="3300" b="1">
                <a:solidFill>
                  <a:srgbClr val="17283C"/>
                </a:solidFill>
              </a:rPr>
              <a:t>What an attacker would fake</a:t>
            </a:r>
          </a:p>
        </p:txBody>
      </p:sp>
      <p:sp>
        <p:nvSpPr>
          <p:cNvPr id="3" name="TextBox 2"/>
          <p:cNvSpPr txBox="1"/>
          <p:nvPr/>
        </p:nvSpPr>
        <p:spPr>
          <a:xfrm>
            <a:off x="10785600" y="6256800"/>
            <a:ext cx="363600" cy="237600"/>
          </a:xfrm>
          <a:prstGeom prst="rect">
            <a:avLst/>
          </a:prstGeom>
          <a:noFill/>
        </p:spPr>
        <p:txBody>
          <a:bodyPr wrap="square" lIns="0" rIns="0" tIns="0" bIns="0" anchor="t">
            <a:noAutofit/>
          </a:bodyPr>
          <a:lstStyle/>
          <a:p>
            <a:pPr algn="r"/>
            <a:r>
              <a:rPr sz="1250" b="0">
                <a:solidFill>
                  <a:srgbClr val="526173"/>
                </a:solidFill>
              </a:rPr>
              <a:t>10</a:t>
            </a:r>
          </a:p>
        </p:txBody>
      </p:sp>
      <p:sp>
        <p:nvSpPr>
          <p:cNvPr id="4" name="TextBox 3"/>
          <p:cNvSpPr txBox="1"/>
          <p:nvPr/>
        </p:nvSpPr>
        <p:spPr>
          <a:xfrm>
            <a:off x="687600" y="6210000"/>
            <a:ext cx="9864000" cy="334800"/>
          </a:xfrm>
          <a:prstGeom prst="rect">
            <a:avLst/>
          </a:prstGeom>
          <a:noFill/>
        </p:spPr>
        <p:txBody>
          <a:bodyPr wrap="square" lIns="0" rIns="0" tIns="0" bIns="0" anchor="t">
            <a:noAutofit/>
          </a:bodyPr>
          <a:lstStyle/>
          <a:p>
            <a:pPr algn="l"/>
            <a:r>
              <a:rPr sz="1200" b="0">
                <a:solidFill>
                  <a:srgbClr val="526173"/>
                </a:solidFill>
              </a:rPr>
              <a:t>Notebook Part E · results/tables/E4_feature_groups.csv, E4_whatif_benign_tcp.csv; separate notebook of additional checks</a:t>
            </a:r>
          </a:p>
        </p:txBody>
      </p:sp>
      <p:sp>
        <p:nvSpPr>
          <p:cNvPr id="5" name="TextBox 4"/>
          <p:cNvSpPr txBox="1"/>
          <p:nvPr/>
        </p:nvSpPr>
        <p:spPr>
          <a:xfrm>
            <a:off x="687600" y="1800000"/>
            <a:ext cx="3780000" cy="1044000"/>
          </a:xfrm>
          <a:prstGeom prst="rect">
            <a:avLst/>
          </a:prstGeom>
          <a:noFill/>
        </p:spPr>
        <p:txBody>
          <a:bodyPr wrap="square" lIns="0" rIns="0" tIns="0" bIns="0" anchor="b">
            <a:noAutofit/>
          </a:bodyPr>
          <a:lstStyle/>
          <a:p>
            <a:pPr algn="l"/>
            <a:r>
              <a:rPr sz="6600" b="1">
                <a:solidFill>
                  <a:srgbClr val="087F79"/>
                </a:solidFill>
              </a:rPr>
              <a:t>0.000</a:t>
            </a:r>
          </a:p>
        </p:txBody>
      </p:sp>
      <p:sp>
        <p:nvSpPr>
          <p:cNvPr id="6" name="TextBox 5"/>
          <p:cNvSpPr txBox="1"/>
          <p:nvPr/>
        </p:nvSpPr>
        <p:spPr>
          <a:xfrm>
            <a:off x="687600" y="2880000"/>
            <a:ext cx="3780000" cy="1980000"/>
          </a:xfrm>
          <a:prstGeom prst="rect">
            <a:avLst/>
          </a:prstGeom>
          <a:noFill/>
        </p:spPr>
        <p:txBody>
          <a:bodyPr wrap="square" lIns="0" rIns="0" tIns="0" bIns="0" anchor="t">
            <a:noAutofit/>
          </a:bodyPr>
          <a:lstStyle/>
          <a:p>
            <a:pPr algn="l"/>
            <a:r>
              <a:rPr sz="1900" b="0">
                <a:solidFill>
                  <a:srgbClr val="17283C"/>
                </a:solidFill>
              </a:rPr>
              <a:t>boosting's recall when all 16,052 test attacks use a benign machine's TCP settings.</a:t>
            </a:r>
          </a:p>
        </p:txBody>
      </p:sp>
      <p:sp>
        <p:nvSpPr>
          <p:cNvPr id="7" name="TextBox 6"/>
          <p:cNvSpPr txBox="1"/>
          <p:nvPr/>
        </p:nvSpPr>
        <p:spPr>
          <a:xfrm>
            <a:off x="4896000" y="1655999"/>
            <a:ext cx="6613200" cy="360000"/>
          </a:xfrm>
          <a:prstGeom prst="rect">
            <a:avLst/>
          </a:prstGeom>
          <a:noFill/>
        </p:spPr>
        <p:txBody>
          <a:bodyPr wrap="square" lIns="0" rIns="0" tIns="0" bIns="0" anchor="t">
            <a:noAutofit/>
          </a:bodyPr>
          <a:lstStyle/>
          <a:p>
            <a:pPr algn="l"/>
            <a:r>
              <a:rPr sz="2100" b="1">
                <a:solidFill>
                  <a:srgbClr val="245CC5"/>
                </a:solidFill>
              </a:rPr>
              <a:t>Cheap to fake</a:t>
            </a:r>
          </a:p>
        </p:txBody>
      </p:sp>
      <p:sp>
        <p:nvSpPr>
          <p:cNvPr id="8" name="TextBox 7"/>
          <p:cNvSpPr txBox="1"/>
          <p:nvPr/>
        </p:nvSpPr>
        <p:spPr>
          <a:xfrm>
            <a:off x="4896000" y="2033999"/>
            <a:ext cx="6613200" cy="774000"/>
          </a:xfrm>
          <a:prstGeom prst="rect">
            <a:avLst/>
          </a:prstGeom>
          <a:noFill/>
        </p:spPr>
        <p:txBody>
          <a:bodyPr wrap="square" lIns="0" rIns="0" tIns="0" bIns="0" anchor="t">
            <a:noAutofit/>
          </a:bodyPr>
          <a:lstStyle/>
          <a:p>
            <a:pPr algn="l"/>
            <a:r>
              <a:rPr sz="1700" b="0">
                <a:solidFill>
                  <a:srgbClr val="17283C"/>
                </a:solidFill>
              </a:rPr>
              <a:t>69% of the SHAP weight is on features the attacker controls, above all their own TCP settings.</a:t>
            </a:r>
          </a:p>
        </p:txBody>
      </p:sp>
      <p:sp>
        <p:nvSpPr>
          <p:cNvPr id="9" name="TextBox 8"/>
          <p:cNvSpPr txBox="1"/>
          <p:nvPr/>
        </p:nvSpPr>
        <p:spPr>
          <a:xfrm>
            <a:off x="4896000" y="2844000"/>
            <a:ext cx="6613200" cy="360000"/>
          </a:xfrm>
          <a:prstGeom prst="rect">
            <a:avLst/>
          </a:prstGeom>
          <a:noFill/>
        </p:spPr>
        <p:txBody>
          <a:bodyPr wrap="square" lIns="0" rIns="0" tIns="0" bIns="0" anchor="t">
            <a:noAutofit/>
          </a:bodyPr>
          <a:lstStyle/>
          <a:p>
            <a:pPr algn="l"/>
            <a:r>
              <a:rPr sz="2100" b="1">
                <a:solidFill>
                  <a:srgbClr val="245CC5"/>
                </a:solidFill>
              </a:rPr>
              <a:t>All three models fall</a:t>
            </a:r>
          </a:p>
        </p:txBody>
      </p:sp>
      <p:sp>
        <p:nvSpPr>
          <p:cNvPr id="10" name="TextBox 9"/>
          <p:cNvSpPr txBox="1"/>
          <p:nvPr/>
        </p:nvSpPr>
        <p:spPr>
          <a:xfrm>
            <a:off x="4896000" y="3221999"/>
            <a:ext cx="6613200" cy="774000"/>
          </a:xfrm>
          <a:prstGeom prst="rect">
            <a:avLst/>
          </a:prstGeom>
          <a:noFill/>
        </p:spPr>
        <p:txBody>
          <a:bodyPr wrap="square" lIns="0" rIns="0" tIns="0" bIns="0" anchor="t">
            <a:noAutofit/>
          </a:bodyPr>
          <a:lstStyle/>
          <a:p>
            <a:pPr algn="l"/>
            <a:r>
              <a:rPr sz="1700" b="0">
                <a:solidFill>
                  <a:srgbClr val="17283C"/>
                </a:solidFill>
              </a:rPr>
              <a:t>Tree 0.011, logistic regression 0.066.</a:t>
            </a:r>
          </a:p>
        </p:txBody>
      </p:sp>
      <p:sp>
        <p:nvSpPr>
          <p:cNvPr id="11" name="TextBox 10"/>
          <p:cNvSpPr txBox="1"/>
          <p:nvPr/>
        </p:nvSpPr>
        <p:spPr>
          <a:xfrm>
            <a:off x="4896000" y="4031999"/>
            <a:ext cx="6613200" cy="360000"/>
          </a:xfrm>
          <a:prstGeom prst="rect">
            <a:avLst/>
          </a:prstGeom>
          <a:noFill/>
        </p:spPr>
        <p:txBody>
          <a:bodyPr wrap="square" lIns="0" rIns="0" tIns="0" bIns="0" anchor="t">
            <a:noAutofit/>
          </a:bodyPr>
          <a:lstStyle/>
          <a:p>
            <a:pPr algn="l"/>
            <a:r>
              <a:rPr sz="2100" b="1">
                <a:solidFill>
                  <a:srgbClr val="245CC5"/>
                </a:solidFill>
              </a:rPr>
              <a:t>One change is enough</a:t>
            </a:r>
          </a:p>
        </p:txBody>
      </p:sp>
      <p:sp>
        <p:nvSpPr>
          <p:cNvPr id="12" name="TextBox 11"/>
          <p:cNvSpPr txBox="1"/>
          <p:nvPr/>
        </p:nvSpPr>
        <p:spPr>
          <a:xfrm>
            <a:off x="4896000" y="4410000"/>
            <a:ext cx="6613200" cy="774000"/>
          </a:xfrm>
          <a:prstGeom prst="rect">
            <a:avLst/>
          </a:prstGeom>
          <a:noFill/>
        </p:spPr>
        <p:txBody>
          <a:bodyPr wrap="square" lIns="0" rIns="0" tIns="0" bIns="0" anchor="t">
            <a:noAutofit/>
          </a:bodyPr>
          <a:lstStyle/>
          <a:p>
            <a:pPr algn="l"/>
            <a:r>
              <a:rPr sz="1700" b="0">
                <a:solidFill>
                  <a:srgbClr val="17283C"/>
                </a:solidFill>
              </a:rPr>
              <a:t>A greedy search allowed only attacker-controlled changes evades boosting for all 50 attacks it tried, each with one change to Fwd Seg Size Min.</a:t>
            </a:r>
          </a:p>
        </p:txBody>
      </p:sp>
      <p:sp>
        <p:nvSpPr>
          <p:cNvPr id="13" name="TextBox 12"/>
          <p:cNvSpPr txBox="1"/>
          <p:nvPr/>
        </p:nvSpPr>
        <p:spPr>
          <a:xfrm>
            <a:off x="687600" y="5436000"/>
            <a:ext cx="10821600" cy="702000"/>
          </a:xfrm>
          <a:prstGeom prst="rect">
            <a:avLst/>
          </a:prstGeom>
          <a:noFill/>
        </p:spPr>
        <p:txBody>
          <a:bodyPr wrap="square" lIns="0" rIns="0" tIns="0" bIns="0" anchor="t">
            <a:noAutofit/>
          </a:bodyPr>
          <a:lstStyle/>
          <a:p>
            <a:pPr algn="l"/>
            <a:r>
              <a:rPr sz="2000" b="1">
                <a:solidFill>
                  <a:srgbClr val="245CC5"/>
                </a:solidFill>
              </a:rPr>
              <a:t>One or two system settings, at no cost to the attack, defeat all three models.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5F3ED"/>
        </a:solidFill>
        <a:effectLst/>
      </p:bgPr>
    </p:bg>
    <p:spTree>
      <p:nvGrpSpPr>
        <p:cNvPr id="1" name=""/>
        <p:cNvGrpSpPr/>
        <p:nvPr/>
      </p:nvGrpSpPr>
      <p:grpSpPr/>
      <p:sp>
        <p:nvSpPr>
          <p:cNvPr id="2" name="TextBox 1"/>
          <p:cNvSpPr txBox="1"/>
          <p:nvPr/>
        </p:nvSpPr>
        <p:spPr>
          <a:xfrm>
            <a:off x="687600" y="525600"/>
            <a:ext cx="10821600" cy="954000"/>
          </a:xfrm>
          <a:prstGeom prst="rect">
            <a:avLst/>
          </a:prstGeom>
          <a:noFill/>
        </p:spPr>
        <p:txBody>
          <a:bodyPr wrap="square" lIns="0" rIns="0" tIns="0" bIns="0" anchor="t">
            <a:noAutofit/>
          </a:bodyPr>
          <a:lstStyle/>
          <a:p>
            <a:pPr algn="l"/>
            <a:r>
              <a:rPr sz="3300" b="1">
                <a:solidFill>
                  <a:srgbClr val="17283C"/>
                </a:solidFill>
              </a:rPr>
              <a:t>A belief rule base on two features</a:t>
            </a:r>
          </a:p>
        </p:txBody>
      </p:sp>
      <p:sp>
        <p:nvSpPr>
          <p:cNvPr id="3" name="TextBox 2"/>
          <p:cNvSpPr txBox="1"/>
          <p:nvPr/>
        </p:nvSpPr>
        <p:spPr>
          <a:xfrm>
            <a:off x="10785600" y="6256800"/>
            <a:ext cx="363600" cy="237600"/>
          </a:xfrm>
          <a:prstGeom prst="rect">
            <a:avLst/>
          </a:prstGeom>
          <a:noFill/>
        </p:spPr>
        <p:txBody>
          <a:bodyPr wrap="square" lIns="0" rIns="0" tIns="0" bIns="0" anchor="t">
            <a:noAutofit/>
          </a:bodyPr>
          <a:lstStyle/>
          <a:p>
            <a:pPr algn="r"/>
            <a:r>
              <a:rPr sz="1250" b="0">
                <a:solidFill>
                  <a:srgbClr val="526173"/>
                </a:solidFill>
              </a:rPr>
              <a:t>11</a:t>
            </a:r>
          </a:p>
        </p:txBody>
      </p:sp>
      <p:sp>
        <p:nvSpPr>
          <p:cNvPr id="4" name="TextBox 3"/>
          <p:cNvSpPr txBox="1"/>
          <p:nvPr/>
        </p:nvSpPr>
        <p:spPr>
          <a:xfrm>
            <a:off x="687600" y="6210000"/>
            <a:ext cx="9864000" cy="334800"/>
          </a:xfrm>
          <a:prstGeom prst="rect">
            <a:avLst/>
          </a:prstGeom>
          <a:noFill/>
        </p:spPr>
        <p:txBody>
          <a:bodyPr wrap="square" lIns="0" rIns="0" tIns="0" bIns="0" anchor="t">
            <a:noAutofit/>
          </a:bodyPr>
          <a:lstStyle/>
          <a:p>
            <a:pPr algn="l"/>
            <a:r>
              <a:rPr sz="1200" b="0">
                <a:solidFill>
                  <a:srgbClr val="526173"/>
                </a:solidFill>
              </a:rPr>
              <a:t>Notebook Part F · results/tables/F2_rules.csv, F3_brb_comparison.csv</a:t>
            </a:r>
          </a:p>
        </p:txBody>
      </p:sp>
      <p:sp>
        <p:nvSpPr>
          <p:cNvPr id="5" name="TextBox 4"/>
          <p:cNvSpPr txBox="1"/>
          <p:nvPr/>
        </p:nvSpPr>
        <p:spPr>
          <a:xfrm>
            <a:off x="2160000" y="1710000"/>
            <a:ext cx="2538000" cy="288000"/>
          </a:xfrm>
          <a:prstGeom prst="rect">
            <a:avLst/>
          </a:prstGeom>
          <a:noFill/>
        </p:spPr>
        <p:txBody>
          <a:bodyPr wrap="square" lIns="0" rIns="0" tIns="0" bIns="0" anchor="t">
            <a:noAutofit/>
          </a:bodyPr>
          <a:lstStyle/>
          <a:p>
            <a:pPr algn="ctr"/>
            <a:r>
              <a:rPr sz="1500" b="1">
                <a:solidFill>
                  <a:srgbClr val="526173"/>
                </a:solidFill>
              </a:rPr>
              <a:t>Bwd Packets/s</a:t>
            </a:r>
          </a:p>
        </p:txBody>
      </p:sp>
      <p:sp>
        <p:nvSpPr>
          <p:cNvPr id="6" name="TextBox 5"/>
          <p:cNvSpPr txBox="1"/>
          <p:nvPr/>
        </p:nvSpPr>
        <p:spPr>
          <a:xfrm>
            <a:off x="2160000" y="1908000"/>
            <a:ext cx="846000" cy="216000"/>
          </a:xfrm>
          <a:prstGeom prst="rect">
            <a:avLst/>
          </a:prstGeom>
          <a:noFill/>
        </p:spPr>
        <p:txBody>
          <a:bodyPr wrap="square" lIns="0" rIns="0" tIns="0" bIns="0" anchor="t">
            <a:noAutofit/>
          </a:bodyPr>
          <a:lstStyle/>
          <a:p>
            <a:pPr algn="ctr"/>
            <a:r>
              <a:rPr sz="1300" b="0">
                <a:solidFill>
                  <a:srgbClr val="526173"/>
                </a:solidFill>
              </a:rPr>
              <a:t>Low</a:t>
            </a:r>
          </a:p>
        </p:txBody>
      </p:sp>
      <p:sp>
        <p:nvSpPr>
          <p:cNvPr id="7" name="TextBox 6"/>
          <p:cNvSpPr txBox="1"/>
          <p:nvPr/>
        </p:nvSpPr>
        <p:spPr>
          <a:xfrm>
            <a:off x="3006000" y="1908000"/>
            <a:ext cx="846000" cy="216000"/>
          </a:xfrm>
          <a:prstGeom prst="rect">
            <a:avLst/>
          </a:prstGeom>
          <a:noFill/>
        </p:spPr>
        <p:txBody>
          <a:bodyPr wrap="square" lIns="0" rIns="0" tIns="0" bIns="0" anchor="t">
            <a:noAutofit/>
          </a:bodyPr>
          <a:lstStyle/>
          <a:p>
            <a:pPr algn="ctr"/>
            <a:r>
              <a:rPr sz="1300" b="0">
                <a:solidFill>
                  <a:srgbClr val="526173"/>
                </a:solidFill>
              </a:rPr>
              <a:t>Medium</a:t>
            </a:r>
          </a:p>
        </p:txBody>
      </p:sp>
      <p:sp>
        <p:nvSpPr>
          <p:cNvPr id="8" name="TextBox 7"/>
          <p:cNvSpPr txBox="1"/>
          <p:nvPr/>
        </p:nvSpPr>
        <p:spPr>
          <a:xfrm>
            <a:off x="3851999" y="1908000"/>
            <a:ext cx="846000" cy="216000"/>
          </a:xfrm>
          <a:prstGeom prst="rect">
            <a:avLst/>
          </a:prstGeom>
          <a:noFill/>
        </p:spPr>
        <p:txBody>
          <a:bodyPr wrap="square" lIns="0" rIns="0" tIns="0" bIns="0" anchor="t">
            <a:noAutofit/>
          </a:bodyPr>
          <a:lstStyle/>
          <a:p>
            <a:pPr algn="ctr"/>
            <a:r>
              <a:rPr sz="1300" b="0">
                <a:solidFill>
                  <a:srgbClr val="526173"/>
                </a:solidFill>
              </a:rPr>
              <a:t>High</a:t>
            </a:r>
          </a:p>
        </p:txBody>
      </p:sp>
      <p:sp>
        <p:nvSpPr>
          <p:cNvPr id="9" name="TextBox 8"/>
          <p:cNvSpPr txBox="1"/>
          <p:nvPr/>
        </p:nvSpPr>
        <p:spPr>
          <a:xfrm>
            <a:off x="687600" y="2124000"/>
            <a:ext cx="1404000" cy="846000"/>
          </a:xfrm>
          <a:prstGeom prst="rect">
            <a:avLst/>
          </a:prstGeom>
          <a:noFill/>
        </p:spPr>
        <p:txBody>
          <a:bodyPr wrap="square" lIns="0" rIns="0" tIns="0" bIns="0" anchor="ctr">
            <a:noAutofit/>
          </a:bodyPr>
          <a:lstStyle/>
          <a:p>
            <a:pPr algn="r"/>
            <a:r>
              <a:rPr sz="1300" b="0">
                <a:solidFill>
                  <a:srgbClr val="526173"/>
                </a:solidFill>
              </a:rPr>
              <a:t>Low</a:t>
            </a:r>
          </a:p>
        </p:txBody>
      </p:sp>
      <p:sp>
        <p:nvSpPr>
          <p:cNvPr id="10" name="Rectangle 9"/>
          <p:cNvSpPr/>
          <p:nvPr/>
        </p:nvSpPr>
        <p:spPr>
          <a:xfrm>
            <a:off x="2178000" y="2142000"/>
            <a:ext cx="810000" cy="810000"/>
          </a:xfrm>
          <a:prstGeom prst="rect">
            <a:avLst/>
          </a:prstGeom>
          <a:solidFill>
            <a:srgbClr val="9DB8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160000" y="2124000"/>
            <a:ext cx="846000" cy="846000"/>
          </a:xfrm>
          <a:prstGeom prst="rect">
            <a:avLst/>
          </a:prstGeom>
          <a:noFill/>
        </p:spPr>
        <p:txBody>
          <a:bodyPr wrap="square" lIns="0" rIns="0" tIns="0" bIns="0" anchor="ctr">
            <a:noAutofit/>
          </a:bodyPr>
          <a:lstStyle/>
          <a:p>
            <a:pPr algn="ctr"/>
            <a:r>
              <a:rPr sz="1300" b="1">
                <a:solidFill>
                  <a:srgbClr val="17283C"/>
                </a:solidFill>
              </a:rPr>
              <a:t>Medium</a:t>
            </a:r>
          </a:p>
        </p:txBody>
      </p:sp>
      <p:sp>
        <p:nvSpPr>
          <p:cNvPr id="12" name="Rectangle 11"/>
          <p:cNvSpPr/>
          <p:nvPr/>
        </p:nvSpPr>
        <p:spPr>
          <a:xfrm>
            <a:off x="3024000" y="2142000"/>
            <a:ext cx="810000" cy="810000"/>
          </a:xfrm>
          <a:prstGeom prst="rect">
            <a:avLst/>
          </a:prstGeom>
          <a:solidFill>
            <a:srgbClr val="DFE9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006000" y="2124000"/>
            <a:ext cx="846000" cy="846000"/>
          </a:xfrm>
          <a:prstGeom prst="rect">
            <a:avLst/>
          </a:prstGeom>
          <a:noFill/>
        </p:spPr>
        <p:txBody>
          <a:bodyPr wrap="square" lIns="0" rIns="0" tIns="0" bIns="0" anchor="ctr">
            <a:noAutofit/>
          </a:bodyPr>
          <a:lstStyle/>
          <a:p>
            <a:pPr algn="ctr"/>
            <a:r>
              <a:rPr sz="1300" b="1">
                <a:solidFill>
                  <a:srgbClr val="17283C"/>
                </a:solidFill>
              </a:rPr>
              <a:t>Low</a:t>
            </a:r>
          </a:p>
        </p:txBody>
      </p:sp>
      <p:sp>
        <p:nvSpPr>
          <p:cNvPr id="14" name="Rectangle 13"/>
          <p:cNvSpPr/>
          <p:nvPr/>
        </p:nvSpPr>
        <p:spPr>
          <a:xfrm>
            <a:off x="3870000" y="2142000"/>
            <a:ext cx="810000" cy="810000"/>
          </a:xfrm>
          <a:prstGeom prst="rect">
            <a:avLst/>
          </a:prstGeom>
          <a:solidFill>
            <a:srgbClr val="DFE9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851999" y="2124000"/>
            <a:ext cx="846000" cy="846000"/>
          </a:xfrm>
          <a:prstGeom prst="rect">
            <a:avLst/>
          </a:prstGeom>
          <a:noFill/>
        </p:spPr>
        <p:txBody>
          <a:bodyPr wrap="square" lIns="0" rIns="0" tIns="0" bIns="0" anchor="ctr">
            <a:noAutofit/>
          </a:bodyPr>
          <a:lstStyle/>
          <a:p>
            <a:pPr algn="ctr"/>
            <a:r>
              <a:rPr sz="1300" b="1">
                <a:solidFill>
                  <a:srgbClr val="17283C"/>
                </a:solidFill>
              </a:rPr>
              <a:t>Low</a:t>
            </a:r>
          </a:p>
        </p:txBody>
      </p:sp>
      <p:sp>
        <p:nvSpPr>
          <p:cNvPr id="16" name="TextBox 15"/>
          <p:cNvSpPr txBox="1"/>
          <p:nvPr/>
        </p:nvSpPr>
        <p:spPr>
          <a:xfrm>
            <a:off x="687600" y="2970000"/>
            <a:ext cx="1404000" cy="846000"/>
          </a:xfrm>
          <a:prstGeom prst="rect">
            <a:avLst/>
          </a:prstGeom>
          <a:noFill/>
        </p:spPr>
        <p:txBody>
          <a:bodyPr wrap="square" lIns="0" rIns="0" tIns="0" bIns="0" anchor="ctr">
            <a:noAutofit/>
          </a:bodyPr>
          <a:lstStyle/>
          <a:p>
            <a:pPr algn="r"/>
            <a:r>
              <a:rPr sz="1300" b="0">
                <a:solidFill>
                  <a:srgbClr val="526173"/>
                </a:solidFill>
              </a:rPr>
              <a:t>Medium</a:t>
            </a:r>
          </a:p>
        </p:txBody>
      </p:sp>
      <p:sp>
        <p:nvSpPr>
          <p:cNvPr id="17" name="Rectangle 16"/>
          <p:cNvSpPr/>
          <p:nvPr/>
        </p:nvSpPr>
        <p:spPr>
          <a:xfrm>
            <a:off x="2178000" y="2988000"/>
            <a:ext cx="810000" cy="810000"/>
          </a:xfrm>
          <a:prstGeom prst="rect">
            <a:avLst/>
          </a:prstGeom>
          <a:solidFill>
            <a:srgbClr val="9DB8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160000" y="2970000"/>
            <a:ext cx="846000" cy="846000"/>
          </a:xfrm>
          <a:prstGeom prst="rect">
            <a:avLst/>
          </a:prstGeom>
          <a:noFill/>
        </p:spPr>
        <p:txBody>
          <a:bodyPr wrap="square" lIns="0" rIns="0" tIns="0" bIns="0" anchor="ctr">
            <a:noAutofit/>
          </a:bodyPr>
          <a:lstStyle/>
          <a:p>
            <a:pPr algn="ctr"/>
            <a:r>
              <a:rPr sz="1300" b="1">
                <a:solidFill>
                  <a:srgbClr val="17283C"/>
                </a:solidFill>
              </a:rPr>
              <a:t>Medium</a:t>
            </a:r>
          </a:p>
        </p:txBody>
      </p:sp>
      <p:sp>
        <p:nvSpPr>
          <p:cNvPr id="19" name="Rectangle 18"/>
          <p:cNvSpPr/>
          <p:nvPr/>
        </p:nvSpPr>
        <p:spPr>
          <a:xfrm>
            <a:off x="3024000" y="2988000"/>
            <a:ext cx="810000" cy="810000"/>
          </a:xfrm>
          <a:prstGeom prst="rect">
            <a:avLst/>
          </a:prstGeom>
          <a:solidFill>
            <a:srgbClr val="DFE9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006000" y="2970000"/>
            <a:ext cx="846000" cy="846000"/>
          </a:xfrm>
          <a:prstGeom prst="rect">
            <a:avLst/>
          </a:prstGeom>
          <a:noFill/>
        </p:spPr>
        <p:txBody>
          <a:bodyPr wrap="square" lIns="0" rIns="0" tIns="0" bIns="0" anchor="ctr">
            <a:noAutofit/>
          </a:bodyPr>
          <a:lstStyle/>
          <a:p>
            <a:pPr algn="ctr"/>
            <a:r>
              <a:rPr sz="1300" b="1">
                <a:solidFill>
                  <a:srgbClr val="17283C"/>
                </a:solidFill>
              </a:rPr>
              <a:t>Low</a:t>
            </a:r>
          </a:p>
        </p:txBody>
      </p:sp>
      <p:sp>
        <p:nvSpPr>
          <p:cNvPr id="21" name="Rectangle 20"/>
          <p:cNvSpPr/>
          <p:nvPr/>
        </p:nvSpPr>
        <p:spPr>
          <a:xfrm>
            <a:off x="3870000" y="2988000"/>
            <a:ext cx="810000" cy="810000"/>
          </a:xfrm>
          <a:prstGeom prst="rect">
            <a:avLst/>
          </a:prstGeom>
          <a:solidFill>
            <a:srgbClr val="DFE9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851999" y="2970000"/>
            <a:ext cx="846000" cy="846000"/>
          </a:xfrm>
          <a:prstGeom prst="rect">
            <a:avLst/>
          </a:prstGeom>
          <a:noFill/>
        </p:spPr>
        <p:txBody>
          <a:bodyPr wrap="square" lIns="0" rIns="0" tIns="0" bIns="0" anchor="ctr">
            <a:noAutofit/>
          </a:bodyPr>
          <a:lstStyle/>
          <a:p>
            <a:pPr algn="ctr"/>
            <a:r>
              <a:rPr sz="1300" b="1">
                <a:solidFill>
                  <a:srgbClr val="17283C"/>
                </a:solidFill>
              </a:rPr>
              <a:t>Low</a:t>
            </a:r>
          </a:p>
        </p:txBody>
      </p:sp>
      <p:sp>
        <p:nvSpPr>
          <p:cNvPr id="23" name="TextBox 22"/>
          <p:cNvSpPr txBox="1"/>
          <p:nvPr/>
        </p:nvSpPr>
        <p:spPr>
          <a:xfrm>
            <a:off x="687600" y="3816000"/>
            <a:ext cx="1404000" cy="846000"/>
          </a:xfrm>
          <a:prstGeom prst="rect">
            <a:avLst/>
          </a:prstGeom>
          <a:noFill/>
        </p:spPr>
        <p:txBody>
          <a:bodyPr wrap="square" lIns="0" rIns="0" tIns="0" bIns="0" anchor="ctr">
            <a:noAutofit/>
          </a:bodyPr>
          <a:lstStyle/>
          <a:p>
            <a:pPr algn="r"/>
            <a:r>
              <a:rPr sz="1300" b="0">
                <a:solidFill>
                  <a:srgbClr val="526173"/>
                </a:solidFill>
              </a:rPr>
              <a:t>High</a:t>
            </a:r>
          </a:p>
        </p:txBody>
      </p:sp>
      <p:sp>
        <p:nvSpPr>
          <p:cNvPr id="24" name="Rectangle 23"/>
          <p:cNvSpPr/>
          <p:nvPr/>
        </p:nvSpPr>
        <p:spPr>
          <a:xfrm>
            <a:off x="2178000" y="3834000"/>
            <a:ext cx="810000" cy="810000"/>
          </a:xfrm>
          <a:prstGeom prst="rect">
            <a:avLst/>
          </a:prstGeom>
          <a:solidFill>
            <a:srgbClr val="245CC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2160000" y="3816000"/>
            <a:ext cx="846000" cy="846000"/>
          </a:xfrm>
          <a:prstGeom prst="rect">
            <a:avLst/>
          </a:prstGeom>
          <a:noFill/>
        </p:spPr>
        <p:txBody>
          <a:bodyPr wrap="square" lIns="0" rIns="0" tIns="0" bIns="0" anchor="ctr">
            <a:noAutofit/>
          </a:bodyPr>
          <a:lstStyle/>
          <a:p>
            <a:pPr algn="ctr"/>
            <a:r>
              <a:rPr sz="1300" b="1">
                <a:solidFill>
                  <a:srgbClr val="FFFFFF"/>
                </a:solidFill>
              </a:rPr>
              <a:t>High</a:t>
            </a:r>
          </a:p>
        </p:txBody>
      </p:sp>
      <p:sp>
        <p:nvSpPr>
          <p:cNvPr id="26" name="Rectangle 25"/>
          <p:cNvSpPr/>
          <p:nvPr/>
        </p:nvSpPr>
        <p:spPr>
          <a:xfrm>
            <a:off x="3024000" y="3834000"/>
            <a:ext cx="810000" cy="810000"/>
          </a:xfrm>
          <a:prstGeom prst="rect">
            <a:avLst/>
          </a:prstGeom>
          <a:solidFill>
            <a:srgbClr val="9DB8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3006000" y="3816000"/>
            <a:ext cx="846000" cy="846000"/>
          </a:xfrm>
          <a:prstGeom prst="rect">
            <a:avLst/>
          </a:prstGeom>
          <a:noFill/>
        </p:spPr>
        <p:txBody>
          <a:bodyPr wrap="square" lIns="0" rIns="0" tIns="0" bIns="0" anchor="ctr">
            <a:noAutofit/>
          </a:bodyPr>
          <a:lstStyle/>
          <a:p>
            <a:pPr algn="ctr"/>
            <a:r>
              <a:rPr sz="1300" b="1">
                <a:solidFill>
                  <a:srgbClr val="17283C"/>
                </a:solidFill>
              </a:rPr>
              <a:t>Medium</a:t>
            </a:r>
          </a:p>
        </p:txBody>
      </p:sp>
      <p:sp>
        <p:nvSpPr>
          <p:cNvPr id="28" name="Rectangle 27"/>
          <p:cNvSpPr/>
          <p:nvPr/>
        </p:nvSpPr>
        <p:spPr>
          <a:xfrm>
            <a:off x="3870000" y="3834000"/>
            <a:ext cx="810000" cy="810000"/>
          </a:xfrm>
          <a:prstGeom prst="rect">
            <a:avLst/>
          </a:prstGeom>
          <a:solidFill>
            <a:srgbClr val="DFE9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3851999" y="3816000"/>
            <a:ext cx="846000" cy="846000"/>
          </a:xfrm>
          <a:prstGeom prst="rect">
            <a:avLst/>
          </a:prstGeom>
          <a:noFill/>
        </p:spPr>
        <p:txBody>
          <a:bodyPr wrap="square" lIns="0" rIns="0" tIns="0" bIns="0" anchor="ctr">
            <a:noAutofit/>
          </a:bodyPr>
          <a:lstStyle/>
          <a:p>
            <a:pPr algn="ctr"/>
            <a:r>
              <a:rPr sz="1300" b="1">
                <a:solidFill>
                  <a:srgbClr val="17283C"/>
                </a:solidFill>
              </a:rPr>
              <a:t>Low</a:t>
            </a:r>
          </a:p>
        </p:txBody>
      </p:sp>
      <p:sp>
        <p:nvSpPr>
          <p:cNvPr id="30" name="TextBox 29"/>
          <p:cNvSpPr txBox="1"/>
          <p:nvPr/>
        </p:nvSpPr>
        <p:spPr>
          <a:xfrm>
            <a:off x="687600" y="4734000"/>
            <a:ext cx="4248000" cy="684000"/>
          </a:xfrm>
          <a:prstGeom prst="rect">
            <a:avLst/>
          </a:prstGeom>
          <a:noFill/>
        </p:spPr>
        <p:txBody>
          <a:bodyPr wrap="square" lIns="0" rIns="0" tIns="0" bIns="0" anchor="t">
            <a:noAutofit/>
          </a:bodyPr>
          <a:lstStyle/>
          <a:p>
            <a:pPr algn="l"/>
            <a:r>
              <a:rPr sz="1300" b="0">
                <a:solidFill>
                  <a:srgbClr val="526173"/>
                </a:solidFill>
              </a:rPr>
              <a:t>Rows: FWD Init Win Bytes. Columns: Bwd Packets/s.</a:t>
            </a:r>
          </a:p>
          <a:p>
            <a:pPr algn="l"/>
            <a:r>
              <a:rPr sz="1300" b="0">
                <a:solidFill>
                  <a:srgbClr val="526173"/>
                </a:solidFill>
              </a:rPr>
              <a:t>Each cell is one rule, showing the risk level it believes most.</a:t>
            </a:r>
          </a:p>
        </p:txBody>
      </p:sp>
      <p:sp>
        <p:nvSpPr>
          <p:cNvPr id="31" name="TextBox 30"/>
          <p:cNvSpPr txBox="1"/>
          <p:nvPr/>
        </p:nvSpPr>
        <p:spPr>
          <a:xfrm>
            <a:off x="5256000" y="1846800"/>
            <a:ext cx="2772000" cy="450000"/>
          </a:xfrm>
          <a:prstGeom prst="rect">
            <a:avLst/>
          </a:prstGeom>
          <a:noFill/>
        </p:spPr>
        <p:txBody>
          <a:bodyPr wrap="square" lIns="0" rIns="0" tIns="0" bIns="0" anchor="t">
            <a:noAutofit/>
          </a:bodyPr>
          <a:lstStyle/>
          <a:p>
            <a:pPr algn="l"/>
            <a:r>
              <a:rPr sz="1500" b="1">
                <a:solidFill>
                  <a:srgbClr val="526173"/>
                </a:solidFill>
              </a:rPr>
              <a:t>Test set, same 2 features</a:t>
            </a:r>
          </a:p>
        </p:txBody>
      </p:sp>
      <p:sp>
        <p:nvSpPr>
          <p:cNvPr id="32" name="TextBox 31"/>
          <p:cNvSpPr txBox="1"/>
          <p:nvPr/>
        </p:nvSpPr>
        <p:spPr>
          <a:xfrm>
            <a:off x="8136000" y="1846800"/>
            <a:ext cx="1080000" cy="450000"/>
          </a:xfrm>
          <a:prstGeom prst="rect">
            <a:avLst/>
          </a:prstGeom>
          <a:noFill/>
        </p:spPr>
        <p:txBody>
          <a:bodyPr wrap="square" lIns="0" rIns="0" tIns="0" bIns="0" anchor="t">
            <a:noAutofit/>
          </a:bodyPr>
          <a:lstStyle/>
          <a:p>
            <a:pPr algn="r"/>
            <a:r>
              <a:rPr sz="1500" b="1">
                <a:solidFill>
                  <a:srgbClr val="526173"/>
                </a:solidFill>
              </a:rPr>
              <a:t>Macro-F1</a:t>
            </a:r>
          </a:p>
        </p:txBody>
      </p:sp>
      <p:sp>
        <p:nvSpPr>
          <p:cNvPr id="33" name="TextBox 32"/>
          <p:cNvSpPr txBox="1"/>
          <p:nvPr/>
        </p:nvSpPr>
        <p:spPr>
          <a:xfrm>
            <a:off x="9324000" y="1846800"/>
            <a:ext cx="1008000" cy="450000"/>
          </a:xfrm>
          <a:prstGeom prst="rect">
            <a:avLst/>
          </a:prstGeom>
          <a:noFill/>
        </p:spPr>
        <p:txBody>
          <a:bodyPr wrap="square" lIns="0" rIns="0" tIns="0" bIns="0" anchor="t">
            <a:noAutofit/>
          </a:bodyPr>
          <a:lstStyle/>
          <a:p>
            <a:pPr algn="r"/>
            <a:r>
              <a:rPr sz="1500" b="1">
                <a:solidFill>
                  <a:srgbClr val="526173"/>
                </a:solidFill>
              </a:rPr>
              <a:t>Recall</a:t>
            </a:r>
          </a:p>
        </p:txBody>
      </p:sp>
      <p:sp>
        <p:nvSpPr>
          <p:cNvPr id="34" name="TextBox 33"/>
          <p:cNvSpPr txBox="1"/>
          <p:nvPr/>
        </p:nvSpPr>
        <p:spPr>
          <a:xfrm>
            <a:off x="10440000" y="1846800"/>
            <a:ext cx="961200" cy="450000"/>
          </a:xfrm>
          <a:prstGeom prst="rect">
            <a:avLst/>
          </a:prstGeom>
          <a:noFill/>
        </p:spPr>
        <p:txBody>
          <a:bodyPr wrap="square" lIns="0" rIns="0" tIns="0" bIns="0" anchor="t">
            <a:noAutofit/>
          </a:bodyPr>
          <a:lstStyle/>
          <a:p>
            <a:pPr algn="r"/>
            <a:r>
              <a:rPr sz="1500" b="1">
                <a:solidFill>
                  <a:srgbClr val="526173"/>
                </a:solidFill>
              </a:rPr>
              <a:t>FAR</a:t>
            </a:r>
          </a:p>
        </p:txBody>
      </p:sp>
      <p:cxnSp>
        <p:nvCxnSpPr>
          <p:cNvPr id="35" name="Connector 34"/>
          <p:cNvCxnSpPr/>
          <p:nvPr/>
        </p:nvCxnSpPr>
        <p:spPr>
          <a:xfrm>
            <a:off x="5256000" y="2304000"/>
            <a:ext cx="6253200" cy="0"/>
          </a:xfrm>
          <a:prstGeom prst="line">
            <a:avLst/>
          </a:prstGeom>
          <a:ln w="12700">
            <a:solidFill>
              <a:srgbClr val="17283C"/>
            </a:solidFill>
          </a:ln>
        </p:spPr>
        <p:style>
          <a:lnRef idx="2">
            <a:schemeClr val="accent1"/>
          </a:lnRef>
          <a:fillRef idx="0">
            <a:schemeClr val="accent1"/>
          </a:fillRef>
          <a:effectRef idx="1">
            <a:schemeClr val="accent1"/>
          </a:effectRef>
          <a:fontRef idx="minor">
            <a:schemeClr val="tx1"/>
          </a:fontRef>
        </p:style>
      </p:cxnSp>
      <p:sp>
        <p:nvSpPr>
          <p:cNvPr id="36" name="TextBox 35"/>
          <p:cNvSpPr txBox="1"/>
          <p:nvPr/>
        </p:nvSpPr>
        <p:spPr>
          <a:xfrm>
            <a:off x="5256000" y="2368800"/>
            <a:ext cx="2772000" cy="450000"/>
          </a:xfrm>
          <a:prstGeom prst="rect">
            <a:avLst/>
          </a:prstGeom>
          <a:noFill/>
        </p:spPr>
        <p:txBody>
          <a:bodyPr wrap="square" lIns="0" rIns="0" tIns="0" bIns="0" anchor="t">
            <a:noAutofit/>
          </a:bodyPr>
          <a:lstStyle/>
          <a:p>
            <a:pPr algn="l"/>
            <a:r>
              <a:rPr sz="1700" b="0">
                <a:solidFill>
                  <a:srgbClr val="17283C"/>
                </a:solidFill>
              </a:rPr>
              <a:t>BRB, 9 rules</a:t>
            </a:r>
          </a:p>
        </p:txBody>
      </p:sp>
      <p:sp>
        <p:nvSpPr>
          <p:cNvPr id="37" name="TextBox 36"/>
          <p:cNvSpPr txBox="1"/>
          <p:nvPr/>
        </p:nvSpPr>
        <p:spPr>
          <a:xfrm>
            <a:off x="8136000" y="2368800"/>
            <a:ext cx="1080000" cy="450000"/>
          </a:xfrm>
          <a:prstGeom prst="rect">
            <a:avLst/>
          </a:prstGeom>
          <a:noFill/>
        </p:spPr>
        <p:txBody>
          <a:bodyPr wrap="square" lIns="0" rIns="0" tIns="0" bIns="0" anchor="t">
            <a:noAutofit/>
          </a:bodyPr>
          <a:lstStyle/>
          <a:p>
            <a:pPr algn="r"/>
            <a:r>
              <a:rPr sz="1700" b="0">
                <a:solidFill>
                  <a:srgbClr val="17283C"/>
                </a:solidFill>
              </a:rPr>
              <a:t>0.953</a:t>
            </a:r>
          </a:p>
        </p:txBody>
      </p:sp>
      <p:sp>
        <p:nvSpPr>
          <p:cNvPr id="38" name="TextBox 37"/>
          <p:cNvSpPr txBox="1"/>
          <p:nvPr/>
        </p:nvSpPr>
        <p:spPr>
          <a:xfrm>
            <a:off x="9324000" y="2368800"/>
            <a:ext cx="1008000" cy="450000"/>
          </a:xfrm>
          <a:prstGeom prst="rect">
            <a:avLst/>
          </a:prstGeom>
          <a:noFill/>
        </p:spPr>
        <p:txBody>
          <a:bodyPr wrap="square" lIns="0" rIns="0" tIns="0" bIns="0" anchor="t">
            <a:noAutofit/>
          </a:bodyPr>
          <a:lstStyle/>
          <a:p>
            <a:pPr algn="r"/>
            <a:r>
              <a:rPr sz="1700" b="0">
                <a:solidFill>
                  <a:srgbClr val="17283C"/>
                </a:solidFill>
              </a:rPr>
              <a:t>0.982</a:t>
            </a:r>
          </a:p>
        </p:txBody>
      </p:sp>
      <p:sp>
        <p:nvSpPr>
          <p:cNvPr id="39" name="TextBox 38"/>
          <p:cNvSpPr txBox="1"/>
          <p:nvPr/>
        </p:nvSpPr>
        <p:spPr>
          <a:xfrm>
            <a:off x="10440000" y="2368800"/>
            <a:ext cx="961200" cy="450000"/>
          </a:xfrm>
          <a:prstGeom prst="rect">
            <a:avLst/>
          </a:prstGeom>
          <a:noFill/>
        </p:spPr>
        <p:txBody>
          <a:bodyPr wrap="square" lIns="0" rIns="0" tIns="0" bIns="0" anchor="t">
            <a:noAutofit/>
          </a:bodyPr>
          <a:lstStyle/>
          <a:p>
            <a:pPr algn="r"/>
            <a:r>
              <a:rPr sz="1700" b="0">
                <a:solidFill>
                  <a:srgbClr val="17283C"/>
                </a:solidFill>
              </a:rPr>
              <a:t>0.044</a:t>
            </a:r>
          </a:p>
        </p:txBody>
      </p:sp>
      <p:cxnSp>
        <p:nvCxnSpPr>
          <p:cNvPr id="40" name="Connector 39"/>
          <p:cNvCxnSpPr/>
          <p:nvPr/>
        </p:nvCxnSpPr>
        <p:spPr>
          <a:xfrm>
            <a:off x="5256000" y="2826000"/>
            <a:ext cx="6253200" cy="0"/>
          </a:xfrm>
          <a:prstGeom prst="line">
            <a:avLst/>
          </a:prstGeom>
          <a:ln w="9525">
            <a:solidFill>
              <a:srgbClr val="C9CDD2"/>
            </a:solidFill>
          </a:ln>
        </p:spPr>
        <p:style>
          <a:lnRef idx="2">
            <a:schemeClr val="accent1"/>
          </a:lnRef>
          <a:fillRef idx="0">
            <a:schemeClr val="accent1"/>
          </a:fillRef>
          <a:effectRef idx="1">
            <a:schemeClr val="accent1"/>
          </a:effectRef>
          <a:fontRef idx="minor">
            <a:schemeClr val="tx1"/>
          </a:fontRef>
        </p:style>
      </p:cxnSp>
      <p:sp>
        <p:nvSpPr>
          <p:cNvPr id="41" name="TextBox 40"/>
          <p:cNvSpPr txBox="1"/>
          <p:nvPr/>
        </p:nvSpPr>
        <p:spPr>
          <a:xfrm>
            <a:off x="5256000" y="2890800"/>
            <a:ext cx="2772000" cy="450000"/>
          </a:xfrm>
          <a:prstGeom prst="rect">
            <a:avLst/>
          </a:prstGeom>
          <a:noFill/>
        </p:spPr>
        <p:txBody>
          <a:bodyPr wrap="square" lIns="0" rIns="0" tIns="0" bIns="0" anchor="t">
            <a:noAutofit/>
          </a:bodyPr>
          <a:lstStyle/>
          <a:p>
            <a:pPr algn="l"/>
            <a:r>
              <a:rPr sz="1700" b="0">
                <a:solidFill>
                  <a:srgbClr val="17283C"/>
                </a:solidFill>
              </a:rPr>
              <a:t>Decision tree (depth 4)</a:t>
            </a:r>
          </a:p>
        </p:txBody>
      </p:sp>
      <p:sp>
        <p:nvSpPr>
          <p:cNvPr id="42" name="TextBox 41"/>
          <p:cNvSpPr txBox="1"/>
          <p:nvPr/>
        </p:nvSpPr>
        <p:spPr>
          <a:xfrm>
            <a:off x="8136000" y="2890800"/>
            <a:ext cx="1080000" cy="450000"/>
          </a:xfrm>
          <a:prstGeom prst="rect">
            <a:avLst/>
          </a:prstGeom>
          <a:noFill/>
        </p:spPr>
        <p:txBody>
          <a:bodyPr wrap="square" lIns="0" rIns="0" tIns="0" bIns="0" anchor="t">
            <a:noAutofit/>
          </a:bodyPr>
          <a:lstStyle/>
          <a:p>
            <a:pPr algn="r"/>
            <a:r>
              <a:rPr sz="1700" b="0">
                <a:solidFill>
                  <a:srgbClr val="17283C"/>
                </a:solidFill>
              </a:rPr>
              <a:t>0.962</a:t>
            </a:r>
          </a:p>
        </p:txBody>
      </p:sp>
      <p:sp>
        <p:nvSpPr>
          <p:cNvPr id="43" name="TextBox 42"/>
          <p:cNvSpPr txBox="1"/>
          <p:nvPr/>
        </p:nvSpPr>
        <p:spPr>
          <a:xfrm>
            <a:off x="9324000" y="2890800"/>
            <a:ext cx="1008000" cy="450000"/>
          </a:xfrm>
          <a:prstGeom prst="rect">
            <a:avLst/>
          </a:prstGeom>
          <a:noFill/>
        </p:spPr>
        <p:txBody>
          <a:bodyPr wrap="square" lIns="0" rIns="0" tIns="0" bIns="0" anchor="t">
            <a:noAutofit/>
          </a:bodyPr>
          <a:lstStyle/>
          <a:p>
            <a:pPr algn="r"/>
            <a:r>
              <a:rPr sz="1700" b="0">
                <a:solidFill>
                  <a:srgbClr val="17283C"/>
                </a:solidFill>
              </a:rPr>
              <a:t>0.996</a:t>
            </a:r>
          </a:p>
        </p:txBody>
      </p:sp>
      <p:sp>
        <p:nvSpPr>
          <p:cNvPr id="44" name="TextBox 43"/>
          <p:cNvSpPr txBox="1"/>
          <p:nvPr/>
        </p:nvSpPr>
        <p:spPr>
          <a:xfrm>
            <a:off x="10440000" y="2890800"/>
            <a:ext cx="961200" cy="450000"/>
          </a:xfrm>
          <a:prstGeom prst="rect">
            <a:avLst/>
          </a:prstGeom>
          <a:noFill/>
        </p:spPr>
        <p:txBody>
          <a:bodyPr wrap="square" lIns="0" rIns="0" tIns="0" bIns="0" anchor="t">
            <a:noAutofit/>
          </a:bodyPr>
          <a:lstStyle/>
          <a:p>
            <a:pPr algn="r"/>
            <a:r>
              <a:rPr sz="1700" b="0">
                <a:solidFill>
                  <a:srgbClr val="17283C"/>
                </a:solidFill>
              </a:rPr>
              <a:t>0.040</a:t>
            </a:r>
          </a:p>
        </p:txBody>
      </p:sp>
      <p:cxnSp>
        <p:nvCxnSpPr>
          <p:cNvPr id="45" name="Connector 44"/>
          <p:cNvCxnSpPr/>
          <p:nvPr/>
        </p:nvCxnSpPr>
        <p:spPr>
          <a:xfrm>
            <a:off x="5256000" y="3348000"/>
            <a:ext cx="6253200" cy="0"/>
          </a:xfrm>
          <a:prstGeom prst="line">
            <a:avLst/>
          </a:prstGeom>
          <a:ln w="9525">
            <a:solidFill>
              <a:srgbClr val="C9CDD2"/>
            </a:solidFill>
          </a:ln>
        </p:spPr>
        <p:style>
          <a:lnRef idx="2">
            <a:schemeClr val="accent1"/>
          </a:lnRef>
          <a:fillRef idx="0">
            <a:schemeClr val="accent1"/>
          </a:fillRef>
          <a:effectRef idx="1">
            <a:schemeClr val="accent1"/>
          </a:effectRef>
          <a:fontRef idx="minor">
            <a:schemeClr val="tx1"/>
          </a:fontRef>
        </p:style>
      </p:cxnSp>
      <p:sp>
        <p:nvSpPr>
          <p:cNvPr id="46" name="TextBox 45"/>
          <p:cNvSpPr txBox="1"/>
          <p:nvPr/>
        </p:nvSpPr>
        <p:spPr>
          <a:xfrm>
            <a:off x="5256000" y="3412800"/>
            <a:ext cx="2772000" cy="450000"/>
          </a:xfrm>
          <a:prstGeom prst="rect">
            <a:avLst/>
          </a:prstGeom>
          <a:noFill/>
        </p:spPr>
        <p:txBody>
          <a:bodyPr wrap="square" lIns="0" rIns="0" tIns="0" bIns="0" anchor="t">
            <a:noAutofit/>
          </a:bodyPr>
          <a:lstStyle/>
          <a:p>
            <a:pPr algn="l"/>
            <a:r>
              <a:rPr sz="1700" b="0">
                <a:solidFill>
                  <a:srgbClr val="17283C"/>
                </a:solidFill>
              </a:rPr>
              <a:t>Random forest (100 trees)</a:t>
            </a:r>
          </a:p>
        </p:txBody>
      </p:sp>
      <p:sp>
        <p:nvSpPr>
          <p:cNvPr id="47" name="TextBox 46"/>
          <p:cNvSpPr txBox="1"/>
          <p:nvPr/>
        </p:nvSpPr>
        <p:spPr>
          <a:xfrm>
            <a:off x="8136000" y="3412800"/>
            <a:ext cx="1080000" cy="450000"/>
          </a:xfrm>
          <a:prstGeom prst="rect">
            <a:avLst/>
          </a:prstGeom>
          <a:noFill/>
        </p:spPr>
        <p:txBody>
          <a:bodyPr wrap="square" lIns="0" rIns="0" tIns="0" bIns="0" anchor="t">
            <a:noAutofit/>
          </a:bodyPr>
          <a:lstStyle/>
          <a:p>
            <a:pPr algn="r"/>
            <a:r>
              <a:rPr sz="1700" b="0">
                <a:solidFill>
                  <a:srgbClr val="17283C"/>
                </a:solidFill>
              </a:rPr>
              <a:t>0.962</a:t>
            </a:r>
          </a:p>
        </p:txBody>
      </p:sp>
      <p:sp>
        <p:nvSpPr>
          <p:cNvPr id="48" name="TextBox 47"/>
          <p:cNvSpPr txBox="1"/>
          <p:nvPr/>
        </p:nvSpPr>
        <p:spPr>
          <a:xfrm>
            <a:off x="9324000" y="3412800"/>
            <a:ext cx="1008000" cy="450000"/>
          </a:xfrm>
          <a:prstGeom prst="rect">
            <a:avLst/>
          </a:prstGeom>
          <a:noFill/>
        </p:spPr>
        <p:txBody>
          <a:bodyPr wrap="square" lIns="0" rIns="0" tIns="0" bIns="0" anchor="t">
            <a:noAutofit/>
          </a:bodyPr>
          <a:lstStyle/>
          <a:p>
            <a:pPr algn="r"/>
            <a:r>
              <a:rPr sz="1700" b="0">
                <a:solidFill>
                  <a:srgbClr val="17283C"/>
                </a:solidFill>
              </a:rPr>
              <a:t>0.996</a:t>
            </a:r>
          </a:p>
        </p:txBody>
      </p:sp>
      <p:sp>
        <p:nvSpPr>
          <p:cNvPr id="49" name="TextBox 48"/>
          <p:cNvSpPr txBox="1"/>
          <p:nvPr/>
        </p:nvSpPr>
        <p:spPr>
          <a:xfrm>
            <a:off x="10440000" y="3412800"/>
            <a:ext cx="961200" cy="450000"/>
          </a:xfrm>
          <a:prstGeom prst="rect">
            <a:avLst/>
          </a:prstGeom>
          <a:noFill/>
        </p:spPr>
        <p:txBody>
          <a:bodyPr wrap="square" lIns="0" rIns="0" tIns="0" bIns="0" anchor="t">
            <a:noAutofit/>
          </a:bodyPr>
          <a:lstStyle/>
          <a:p>
            <a:pPr algn="r"/>
            <a:r>
              <a:rPr sz="1700" b="0">
                <a:solidFill>
                  <a:srgbClr val="17283C"/>
                </a:solidFill>
              </a:rPr>
              <a:t>0.040</a:t>
            </a:r>
          </a:p>
        </p:txBody>
      </p:sp>
      <p:cxnSp>
        <p:nvCxnSpPr>
          <p:cNvPr id="50" name="Connector 49"/>
          <p:cNvCxnSpPr/>
          <p:nvPr/>
        </p:nvCxnSpPr>
        <p:spPr>
          <a:xfrm>
            <a:off x="5256000" y="3870000"/>
            <a:ext cx="6253200" cy="0"/>
          </a:xfrm>
          <a:prstGeom prst="line">
            <a:avLst/>
          </a:prstGeom>
          <a:ln w="9525">
            <a:solidFill>
              <a:srgbClr val="C9CDD2"/>
            </a:solidFill>
          </a:ln>
        </p:spPr>
        <p:style>
          <a:lnRef idx="2">
            <a:schemeClr val="accent1"/>
          </a:lnRef>
          <a:fillRef idx="0">
            <a:schemeClr val="accent1"/>
          </a:fillRef>
          <a:effectRef idx="1">
            <a:schemeClr val="accent1"/>
          </a:effectRef>
          <a:fontRef idx="minor">
            <a:schemeClr val="tx1"/>
          </a:fontRef>
        </p:style>
      </p:cxnSp>
      <p:sp>
        <p:nvSpPr>
          <p:cNvPr id="51" name="TextBox 50"/>
          <p:cNvSpPr txBox="1"/>
          <p:nvPr/>
        </p:nvSpPr>
        <p:spPr>
          <a:xfrm>
            <a:off x="5256000" y="3960000"/>
            <a:ext cx="6253200" cy="1404000"/>
          </a:xfrm>
          <a:prstGeom prst="rect">
            <a:avLst/>
          </a:prstGeom>
          <a:noFill/>
        </p:spPr>
        <p:txBody>
          <a:bodyPr wrap="square" lIns="0" rIns="0" tIns="0" bIns="0" anchor="t">
            <a:noAutofit/>
          </a:bodyPr>
          <a:lstStyle/>
          <a:p>
            <a:pPr algn="l"/>
            <a:r>
              <a:rPr sz="1600" b="0">
                <a:solidFill>
                  <a:srgbClr val="17283C"/>
                </a:solidFill>
              </a:rPr>
              <a:t>Inputs: the top two SHAP features with three distinct levels (5th percentile, median, 95th percentile). Rule beliefs from the training data; threshold 48.5 chosen on validation.</a:t>
            </a:r>
          </a:p>
        </p:txBody>
      </p:sp>
      <p:sp>
        <p:nvSpPr>
          <p:cNvPr id="52" name="TextBox 51"/>
          <p:cNvSpPr txBox="1"/>
          <p:nvPr/>
        </p:nvSpPr>
        <p:spPr>
          <a:xfrm>
            <a:off x="687600" y="5436000"/>
            <a:ext cx="10821600" cy="702000"/>
          </a:xfrm>
          <a:prstGeom prst="rect">
            <a:avLst/>
          </a:prstGeom>
          <a:noFill/>
        </p:spPr>
        <p:txBody>
          <a:bodyPr wrap="square" lIns="0" rIns="0" tIns="0" bIns="0" anchor="t">
            <a:noAutofit/>
          </a:bodyPr>
          <a:lstStyle/>
          <a:p>
            <a:pPr algn="l"/>
            <a:r>
              <a:rPr sz="2000" b="1">
                <a:solidFill>
                  <a:srgbClr val="245CC5"/>
                </a:solidFill>
              </a:rPr>
              <a:t>0.009 behind a fair comparison, because three levels cannot isolate the exact window 16,383.</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5F3ED"/>
        </a:solidFill>
        <a:effectLst/>
      </p:bgPr>
    </p:bg>
    <p:spTree>
      <p:nvGrpSpPr>
        <p:cNvPr id="1" name=""/>
        <p:cNvGrpSpPr/>
        <p:nvPr/>
      </p:nvGrpSpPr>
      <p:grpSpPr/>
      <p:sp>
        <p:nvSpPr>
          <p:cNvPr id="2" name="TextBox 1"/>
          <p:cNvSpPr txBox="1"/>
          <p:nvPr/>
        </p:nvSpPr>
        <p:spPr>
          <a:xfrm>
            <a:off x="687600" y="525600"/>
            <a:ext cx="10821600" cy="954000"/>
          </a:xfrm>
          <a:prstGeom prst="rect">
            <a:avLst/>
          </a:prstGeom>
          <a:noFill/>
        </p:spPr>
        <p:txBody>
          <a:bodyPr wrap="square" lIns="0" rIns="0" tIns="0" bIns="0" anchor="t">
            <a:noAutofit/>
          </a:bodyPr>
          <a:lstStyle/>
          <a:p>
            <a:pPr algn="l"/>
            <a:r>
              <a:rPr sz="3300" b="1">
                <a:solidFill>
                  <a:srgbClr val="17283C"/>
                </a:solidFill>
              </a:rPr>
              <a:t>What Unknown buys</a:t>
            </a:r>
          </a:p>
        </p:txBody>
      </p:sp>
      <p:sp>
        <p:nvSpPr>
          <p:cNvPr id="3" name="TextBox 2"/>
          <p:cNvSpPr txBox="1"/>
          <p:nvPr/>
        </p:nvSpPr>
        <p:spPr>
          <a:xfrm>
            <a:off x="10785600" y="6256800"/>
            <a:ext cx="363600" cy="237600"/>
          </a:xfrm>
          <a:prstGeom prst="rect">
            <a:avLst/>
          </a:prstGeom>
          <a:noFill/>
        </p:spPr>
        <p:txBody>
          <a:bodyPr wrap="square" lIns="0" rIns="0" tIns="0" bIns="0" anchor="t">
            <a:noAutofit/>
          </a:bodyPr>
          <a:lstStyle/>
          <a:p>
            <a:pPr algn="r"/>
            <a:r>
              <a:rPr sz="1250" b="0">
                <a:solidFill>
                  <a:srgbClr val="526173"/>
                </a:solidFill>
              </a:rPr>
              <a:t>12</a:t>
            </a:r>
          </a:p>
        </p:txBody>
      </p:sp>
      <p:sp>
        <p:nvSpPr>
          <p:cNvPr id="4" name="TextBox 3"/>
          <p:cNvSpPr txBox="1"/>
          <p:nvPr/>
        </p:nvSpPr>
        <p:spPr>
          <a:xfrm>
            <a:off x="687600" y="6210000"/>
            <a:ext cx="9864000" cy="334800"/>
          </a:xfrm>
          <a:prstGeom prst="rect">
            <a:avLst/>
          </a:prstGeom>
          <a:noFill/>
        </p:spPr>
        <p:txBody>
          <a:bodyPr wrap="square" lIns="0" rIns="0" tIns="0" bIns="0" anchor="t">
            <a:noAutofit/>
          </a:bodyPr>
          <a:lstStyle/>
          <a:p>
            <a:pPr algn="l"/>
            <a:r>
              <a:rPr sz="1200" b="0">
                <a:solidFill>
                  <a:srgbClr val="526173"/>
                </a:solidFill>
              </a:rPr>
              <a:t>Notebook Part F · results/tables/F4_beliefs.csv, F5_brb_vs_forest_checks.csv</a:t>
            </a:r>
          </a:p>
        </p:txBody>
      </p:sp>
      <p:sp>
        <p:nvSpPr>
          <p:cNvPr id="5" name="TextBox 4"/>
          <p:cNvSpPr txBox="1"/>
          <p:nvPr/>
        </p:nvSpPr>
        <p:spPr>
          <a:xfrm>
            <a:off x="687600" y="1782000"/>
            <a:ext cx="2664000" cy="1152000"/>
          </a:xfrm>
          <a:prstGeom prst="rect">
            <a:avLst/>
          </a:prstGeom>
          <a:noFill/>
        </p:spPr>
        <p:txBody>
          <a:bodyPr wrap="square" lIns="0" rIns="0" tIns="0" bIns="0" anchor="t">
            <a:noAutofit/>
          </a:bodyPr>
          <a:lstStyle/>
          <a:p>
            <a:pPr algn="l"/>
            <a:r>
              <a:rPr sz="2250" b="1">
                <a:solidFill>
                  <a:srgbClr val="245CC5"/>
                </a:solidFill>
              </a:rPr>
              <a:t>Less certain about the mistake</a:t>
            </a:r>
          </a:p>
        </p:txBody>
      </p:sp>
      <p:sp>
        <p:nvSpPr>
          <p:cNvPr id="6" name="TextBox 5"/>
          <p:cNvSpPr txBox="1"/>
          <p:nvPr/>
        </p:nvSpPr>
        <p:spPr>
          <a:xfrm>
            <a:off x="3528000" y="1782000"/>
            <a:ext cx="7956000" cy="1152000"/>
          </a:xfrm>
          <a:prstGeom prst="rect">
            <a:avLst/>
          </a:prstGeom>
          <a:noFill/>
        </p:spPr>
        <p:txBody>
          <a:bodyPr wrap="square" lIns="0" rIns="0" tIns="0" bIns="0" anchor="t">
            <a:noAutofit/>
          </a:bodyPr>
          <a:lstStyle/>
          <a:p>
            <a:pPr algn="l"/>
            <a:r>
              <a:rPr sz="1900" b="0">
                <a:solidFill>
                  <a:srgbClr val="17283C"/>
                </a:solidFill>
              </a:rPr>
              <a:t>For the false alarm of slide 7: Low 0.09, Medium 0.54, High 0.37, utility 63.8; still wrong, but not 0.999 sure.</a:t>
            </a:r>
          </a:p>
        </p:txBody>
      </p:sp>
      <p:sp>
        <p:nvSpPr>
          <p:cNvPr id="7" name="TextBox 6"/>
          <p:cNvSpPr txBox="1"/>
          <p:nvPr/>
        </p:nvSpPr>
        <p:spPr>
          <a:xfrm>
            <a:off x="687600" y="3006000"/>
            <a:ext cx="2664000" cy="1152000"/>
          </a:xfrm>
          <a:prstGeom prst="rect">
            <a:avLst/>
          </a:prstGeom>
          <a:noFill/>
        </p:spPr>
        <p:txBody>
          <a:bodyPr wrap="square" lIns="0" rIns="0" tIns="0" bIns="0" anchor="t">
            <a:noAutofit/>
          </a:bodyPr>
          <a:lstStyle/>
          <a:p>
            <a:pPr algn="l"/>
            <a:r>
              <a:rPr sz="2250" b="1">
                <a:solidFill>
                  <a:srgbClr val="245CC5"/>
                </a:solidFill>
              </a:rPr>
              <a:t>Says when it cannot decide</a:t>
            </a:r>
          </a:p>
        </p:txBody>
      </p:sp>
      <p:sp>
        <p:nvSpPr>
          <p:cNvPr id="8" name="TextBox 7"/>
          <p:cNvSpPr txBox="1"/>
          <p:nvPr/>
        </p:nvSpPr>
        <p:spPr>
          <a:xfrm>
            <a:off x="3528000" y="3006000"/>
            <a:ext cx="7956000" cy="1152000"/>
          </a:xfrm>
          <a:prstGeom prst="rect">
            <a:avLst/>
          </a:prstGeom>
          <a:noFill/>
        </p:spPr>
        <p:txBody>
          <a:bodyPr wrap="square" lIns="0" rIns="0" tIns="0" bIns="0" anchor="t">
            <a:noAutofit/>
          </a:bodyPr>
          <a:lstStyle/>
          <a:p>
            <a:pPr algn="l"/>
            <a:r>
              <a:rPr sz="1900" b="0">
                <a:solidFill>
                  <a:srgbClr val="17283C"/>
                </a:solidFill>
              </a:rPr>
              <a:t>With Bwd Packets/s missing, Unknown rises to 0.43 and the risk becomes a range, 16.9 to 59.6, across the threshold.</a:t>
            </a:r>
          </a:p>
        </p:txBody>
      </p:sp>
      <p:sp>
        <p:nvSpPr>
          <p:cNvPr id="9" name="TextBox 8"/>
          <p:cNvSpPr txBox="1"/>
          <p:nvPr/>
        </p:nvSpPr>
        <p:spPr>
          <a:xfrm>
            <a:off x="687600" y="4230000"/>
            <a:ext cx="2664000" cy="1152000"/>
          </a:xfrm>
          <a:prstGeom prst="rect">
            <a:avLst/>
          </a:prstGeom>
          <a:noFill/>
        </p:spPr>
        <p:txBody>
          <a:bodyPr wrap="square" lIns="0" rIns="0" tIns="0" bIns="0" anchor="t">
            <a:noAutofit/>
          </a:bodyPr>
          <a:lstStyle/>
          <a:p>
            <a:pPr algn="l"/>
            <a:r>
              <a:rPr sz="2250" b="1">
                <a:solidFill>
                  <a:srgbClr val="245CC5"/>
                </a:solidFill>
              </a:rPr>
              <a:t>Survives noise</a:t>
            </a:r>
          </a:p>
        </p:txBody>
      </p:sp>
      <p:sp>
        <p:nvSpPr>
          <p:cNvPr id="10" name="TextBox 9"/>
          <p:cNvSpPr txBox="1"/>
          <p:nvPr/>
        </p:nvSpPr>
        <p:spPr>
          <a:xfrm>
            <a:off x="3528000" y="4230000"/>
            <a:ext cx="7956000" cy="1152000"/>
          </a:xfrm>
          <a:prstGeom prst="rect">
            <a:avLst/>
          </a:prstGeom>
          <a:noFill/>
        </p:spPr>
        <p:txBody>
          <a:bodyPr wrap="square" lIns="0" rIns="0" tIns="0" bIns="0" anchor="t">
            <a:noAutofit/>
          </a:bodyPr>
          <a:lstStyle/>
          <a:p>
            <a:pPr algn="l"/>
            <a:r>
              <a:rPr sz="1900" b="0">
                <a:solidFill>
                  <a:srgbClr val="17283C"/>
                </a:solidFill>
              </a:rPr>
              <a:t>At noise 0.05 its macro-F1 is 0.897, against 0.472 for the 2-feature tree and 0.536 for the forest.</a:t>
            </a:r>
          </a:p>
        </p:txBody>
      </p:sp>
      <p:sp>
        <p:nvSpPr>
          <p:cNvPr id="11" name="TextBox 10"/>
          <p:cNvSpPr txBox="1"/>
          <p:nvPr/>
        </p:nvSpPr>
        <p:spPr>
          <a:xfrm>
            <a:off x="687600" y="5436000"/>
            <a:ext cx="10821600" cy="702000"/>
          </a:xfrm>
          <a:prstGeom prst="rect">
            <a:avLst/>
          </a:prstGeom>
          <a:noFill/>
        </p:spPr>
        <p:txBody>
          <a:bodyPr wrap="square" lIns="0" rIns="0" tIns="0" bIns="0" anchor="t">
            <a:noAutofit/>
          </a:bodyPr>
          <a:lstStyle/>
          <a:p>
            <a:pPr algn="l"/>
            <a:r>
              <a:rPr sz="2000" b="1">
                <a:solidFill>
                  <a:srgbClr val="245CC5"/>
                </a:solidFill>
              </a:rPr>
              <a:t>The cost: lower accuracy, only two features (rules grow as 3 to the power of the number of features), and hand-made levels.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5F3ED"/>
        </a:solidFill>
        <a:effectLst/>
      </p:bgPr>
    </p:bg>
    <p:spTree>
      <p:nvGrpSpPr>
        <p:cNvPr id="1" name=""/>
        <p:cNvGrpSpPr/>
        <p:nvPr/>
      </p:nvGrpSpPr>
      <p:grpSpPr/>
      <p:sp>
        <p:nvSpPr>
          <p:cNvPr id="2" name="TextBox 1"/>
          <p:cNvSpPr txBox="1"/>
          <p:nvPr/>
        </p:nvSpPr>
        <p:spPr>
          <a:xfrm>
            <a:off x="687600" y="525600"/>
            <a:ext cx="10821600" cy="954000"/>
          </a:xfrm>
          <a:prstGeom prst="rect">
            <a:avLst/>
          </a:prstGeom>
          <a:noFill/>
        </p:spPr>
        <p:txBody>
          <a:bodyPr wrap="square" lIns="0" rIns="0" tIns="0" bIns="0" anchor="t">
            <a:noAutofit/>
          </a:bodyPr>
          <a:lstStyle/>
          <a:p>
            <a:pPr algn="l"/>
            <a:r>
              <a:rPr sz="3300" b="1">
                <a:solidFill>
                  <a:srgbClr val="17283C"/>
                </a:solidFill>
              </a:rPr>
              <a:t>A new attack: Fuzzers</a:t>
            </a:r>
          </a:p>
        </p:txBody>
      </p:sp>
      <p:sp>
        <p:nvSpPr>
          <p:cNvPr id="3" name="TextBox 2"/>
          <p:cNvSpPr txBox="1"/>
          <p:nvPr/>
        </p:nvSpPr>
        <p:spPr>
          <a:xfrm>
            <a:off x="10785600" y="6256800"/>
            <a:ext cx="363600" cy="237600"/>
          </a:xfrm>
          <a:prstGeom prst="rect">
            <a:avLst/>
          </a:prstGeom>
          <a:noFill/>
        </p:spPr>
        <p:txBody>
          <a:bodyPr wrap="square" lIns="0" rIns="0" tIns="0" bIns="0" anchor="t">
            <a:noAutofit/>
          </a:bodyPr>
          <a:lstStyle/>
          <a:p>
            <a:pPr algn="r"/>
            <a:r>
              <a:rPr sz="1250" b="0">
                <a:solidFill>
                  <a:srgbClr val="526173"/>
                </a:solidFill>
              </a:rPr>
              <a:t>13</a:t>
            </a:r>
          </a:p>
        </p:txBody>
      </p:sp>
      <p:sp>
        <p:nvSpPr>
          <p:cNvPr id="4" name="TextBox 3"/>
          <p:cNvSpPr txBox="1"/>
          <p:nvPr/>
        </p:nvSpPr>
        <p:spPr>
          <a:xfrm>
            <a:off x="687600" y="6210000"/>
            <a:ext cx="9864000" cy="334800"/>
          </a:xfrm>
          <a:prstGeom prst="rect">
            <a:avLst/>
          </a:prstGeom>
          <a:noFill/>
        </p:spPr>
        <p:txBody>
          <a:bodyPr wrap="square" lIns="0" rIns="0" tIns="0" bIns="0" anchor="t">
            <a:noAutofit/>
          </a:bodyPr>
          <a:lstStyle/>
          <a:p>
            <a:pPr algn="l"/>
            <a:r>
              <a:rPr sz="1200" b="0">
                <a:solidFill>
                  <a:srgbClr val="526173"/>
                </a:solidFill>
              </a:rPr>
              <a:t>Notebook Part G · results/tables/G2_hidden.csv, G3_adapt_summary.csv, results/figures/G3_adapt.png</a:t>
            </a:r>
          </a:p>
        </p:txBody>
      </p:sp>
      <p:sp>
        <p:nvSpPr>
          <p:cNvPr id="5" name="TextBox 4"/>
          <p:cNvSpPr txBox="1"/>
          <p:nvPr/>
        </p:nvSpPr>
        <p:spPr>
          <a:xfrm>
            <a:off x="687600" y="1584000"/>
            <a:ext cx="4176000" cy="1044000"/>
          </a:xfrm>
          <a:prstGeom prst="rect">
            <a:avLst/>
          </a:prstGeom>
          <a:noFill/>
        </p:spPr>
        <p:txBody>
          <a:bodyPr wrap="square" lIns="0" rIns="0" tIns="0" bIns="0" anchor="b">
            <a:noAutofit/>
          </a:bodyPr>
          <a:lstStyle/>
          <a:p>
            <a:pPr algn="l"/>
            <a:r>
              <a:rPr sz="4800" b="1">
                <a:solidFill>
                  <a:srgbClr val="087F79"/>
                </a:solidFill>
              </a:rPr>
              <a:t>0.988 to 0.688</a:t>
            </a:r>
          </a:p>
        </p:txBody>
      </p:sp>
      <p:sp>
        <p:nvSpPr>
          <p:cNvPr id="6" name="TextBox 5"/>
          <p:cNvSpPr txBox="1"/>
          <p:nvPr/>
        </p:nvSpPr>
        <p:spPr>
          <a:xfrm>
            <a:off x="687600" y="2664000"/>
            <a:ext cx="4176000" cy="612000"/>
          </a:xfrm>
          <a:prstGeom prst="rect">
            <a:avLst/>
          </a:prstGeom>
          <a:noFill/>
        </p:spPr>
        <p:txBody>
          <a:bodyPr wrap="square" lIns="0" rIns="0" tIns="0" bIns="0" anchor="t">
            <a:noAutofit/>
          </a:bodyPr>
          <a:lstStyle/>
          <a:p>
            <a:pPr algn="l"/>
            <a:r>
              <a:rPr sz="1700" b="0">
                <a:solidFill>
                  <a:srgbClr val="17283C"/>
                </a:solidFill>
              </a:rPr>
              <a:t>recall on the 5,202 Fuzzers test flows when Fuzzers is hidden from training.</a:t>
            </a:r>
          </a:p>
        </p:txBody>
      </p:sp>
      <p:sp>
        <p:nvSpPr>
          <p:cNvPr id="7" name="TextBox 6"/>
          <p:cNvSpPr txBox="1"/>
          <p:nvPr/>
        </p:nvSpPr>
        <p:spPr>
          <a:xfrm>
            <a:off x="687600" y="3330000"/>
            <a:ext cx="4176000" cy="360000"/>
          </a:xfrm>
          <a:prstGeom prst="rect">
            <a:avLst/>
          </a:prstGeom>
          <a:noFill/>
        </p:spPr>
        <p:txBody>
          <a:bodyPr wrap="square" lIns="0" rIns="0" tIns="0" bIns="0" anchor="t">
            <a:noAutofit/>
          </a:bodyPr>
          <a:lstStyle/>
          <a:p>
            <a:pPr algn="l"/>
            <a:r>
              <a:rPr sz="2100" b="1">
                <a:solidFill>
                  <a:srgbClr val="245CC5"/>
                </a:solidFill>
              </a:rPr>
              <a:t>The dashboard looked better</a:t>
            </a:r>
          </a:p>
        </p:txBody>
      </p:sp>
      <p:sp>
        <p:nvSpPr>
          <p:cNvPr id="8" name="TextBox 7"/>
          <p:cNvSpPr txBox="1"/>
          <p:nvPr/>
        </p:nvSpPr>
        <p:spPr>
          <a:xfrm>
            <a:off x="687600" y="3708000"/>
            <a:ext cx="4176000" cy="540000"/>
          </a:xfrm>
          <a:prstGeom prst="rect">
            <a:avLst/>
          </a:prstGeom>
          <a:noFill/>
        </p:spPr>
        <p:txBody>
          <a:bodyPr wrap="square" lIns="0" rIns="0" tIns="0" bIns="0" anchor="t">
            <a:noAutofit/>
          </a:bodyPr>
          <a:lstStyle/>
          <a:p>
            <a:pPr algn="l"/>
            <a:r>
              <a:rPr sz="1500" b="0">
                <a:solidFill>
                  <a:srgbClr val="17283C"/>
                </a:solidFill>
              </a:rPr>
              <a:t>The FAR fell from 0.028 to 0.019; only the share of unsure predictions showed it (43% to 82%).</a:t>
            </a:r>
          </a:p>
        </p:txBody>
      </p:sp>
      <p:sp>
        <p:nvSpPr>
          <p:cNvPr id="9" name="TextBox 8"/>
          <p:cNvSpPr txBox="1"/>
          <p:nvPr/>
        </p:nvSpPr>
        <p:spPr>
          <a:xfrm>
            <a:off x="687600" y="4284000"/>
            <a:ext cx="4176000" cy="360000"/>
          </a:xfrm>
          <a:prstGeom prst="rect">
            <a:avLst/>
          </a:prstGeom>
          <a:noFill/>
        </p:spPr>
        <p:txBody>
          <a:bodyPr wrap="square" lIns="0" rIns="0" tIns="0" bIns="0" anchor="t">
            <a:noAutofit/>
          </a:bodyPr>
          <a:lstStyle/>
          <a:p>
            <a:pPr algn="l"/>
            <a:r>
              <a:rPr sz="2100" b="1">
                <a:solidFill>
                  <a:srgbClr val="245CC5"/>
                </a:solidFill>
              </a:rPr>
              <a:t>A few labels</a:t>
            </a:r>
          </a:p>
        </p:txBody>
      </p:sp>
      <p:sp>
        <p:nvSpPr>
          <p:cNvPr id="10" name="TextBox 9"/>
          <p:cNvSpPr txBox="1"/>
          <p:nvPr/>
        </p:nvSpPr>
        <p:spPr>
          <a:xfrm>
            <a:off x="687600" y="4662000"/>
            <a:ext cx="4176000" cy="540000"/>
          </a:xfrm>
          <a:prstGeom prst="rect">
            <a:avLst/>
          </a:prstGeom>
          <a:noFill/>
        </p:spPr>
        <p:txBody>
          <a:bodyPr wrap="square" lIns="0" rIns="0" tIns="0" bIns="0" anchor="t">
            <a:noAutofit/>
          </a:bodyPr>
          <a:lstStyle/>
          <a:p>
            <a:pPr algn="l"/>
            <a:r>
              <a:rPr sz="1500" b="0">
                <a:solidFill>
                  <a:srgbClr val="17283C"/>
                </a:solidFill>
              </a:rPr>
              <a:t>100 Fuzzers flows labelled by an analyst: 0.706 as ordinary flows, </a:t>
            </a:r>
            <a:r>
              <a:rPr sz="1500" b="1">
                <a:solidFill>
                  <a:srgbClr val="17283C"/>
                </a:solidFill>
              </a:rPr>
              <a:t>0.845</a:t>
            </a:r>
            <a:r>
              <a:rPr sz="1500" b="0">
                <a:solidFill>
                  <a:srgbClr val="17283C"/>
                </a:solidFill>
              </a:rPr>
              <a:t> weighted 100 times.</a:t>
            </a:r>
          </a:p>
        </p:txBody>
      </p:sp>
      <p:sp>
        <p:nvSpPr>
          <p:cNvPr id="11" name="Rectangle 10"/>
          <p:cNvSpPr/>
          <p:nvPr/>
        </p:nvSpPr>
        <p:spPr>
          <a:xfrm>
            <a:off x="5148000" y="1692000"/>
            <a:ext cx="6372000" cy="333317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G3_adapt.png"/>
          <p:cNvPicPr>
            <a:picLocks noChangeAspect="1"/>
          </p:cNvPicPr>
          <p:nvPr/>
        </p:nvPicPr>
        <p:blipFill>
          <a:blip r:embed="rId3"/>
          <a:stretch>
            <a:fillRect/>
          </a:stretch>
        </p:blipFill>
        <p:spPr>
          <a:xfrm>
            <a:off x="5184000" y="1728000"/>
            <a:ext cx="6300000" cy="3261176"/>
          </a:xfrm>
          <a:prstGeom prst="rect">
            <a:avLst/>
          </a:prstGeom>
        </p:spPr>
      </p:pic>
      <p:sp>
        <p:nvSpPr>
          <p:cNvPr id="13" name="TextBox 12"/>
          <p:cNvSpPr txBox="1"/>
          <p:nvPr/>
        </p:nvSpPr>
        <p:spPr>
          <a:xfrm>
            <a:off x="687600" y="5436000"/>
            <a:ext cx="10821600" cy="702000"/>
          </a:xfrm>
          <a:prstGeom prst="rect">
            <a:avLst/>
          </a:prstGeom>
          <a:noFill/>
        </p:spPr>
        <p:txBody>
          <a:bodyPr wrap="square" lIns="0" rIns="0" tIns="0" bIns="0" anchor="t">
            <a:noAutofit/>
          </a:bodyPr>
          <a:lstStyle/>
          <a:p>
            <a:pPr algn="l"/>
            <a:r>
              <a:rPr sz="2000" b="1">
                <a:solidFill>
                  <a:srgbClr val="245CC5"/>
                </a:solidFill>
              </a:rPr>
              <a:t>Watch the share of unsure predictions: it needs no labels.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5F3ED"/>
        </a:solidFill>
        <a:effectLst/>
      </p:bgPr>
    </p:bg>
    <p:spTree>
      <p:nvGrpSpPr>
        <p:cNvPr id="1" name=""/>
        <p:cNvGrpSpPr/>
        <p:nvPr/>
      </p:nvGrpSpPr>
      <p:grpSpPr/>
      <p:sp>
        <p:nvSpPr>
          <p:cNvPr id="2" name="TextBox 1"/>
          <p:cNvSpPr txBox="1"/>
          <p:nvPr/>
        </p:nvSpPr>
        <p:spPr>
          <a:xfrm>
            <a:off x="10785600" y="6256800"/>
            <a:ext cx="363600" cy="237600"/>
          </a:xfrm>
          <a:prstGeom prst="rect">
            <a:avLst/>
          </a:prstGeom>
          <a:noFill/>
        </p:spPr>
        <p:txBody>
          <a:bodyPr wrap="square" lIns="0" rIns="0" tIns="0" bIns="0" anchor="t">
            <a:noAutofit/>
          </a:bodyPr>
          <a:lstStyle/>
          <a:p>
            <a:pPr algn="r"/>
            <a:r>
              <a:rPr sz="1250" b="0">
                <a:solidFill>
                  <a:srgbClr val="526173"/>
                </a:solidFill>
              </a:rPr>
              <a:t>14</a:t>
            </a:r>
          </a:p>
        </p:txBody>
      </p:sp>
      <p:sp>
        <p:nvSpPr>
          <p:cNvPr id="3" name="TextBox 2"/>
          <p:cNvSpPr txBox="1"/>
          <p:nvPr/>
        </p:nvSpPr>
        <p:spPr>
          <a:xfrm>
            <a:off x="687600" y="6210000"/>
            <a:ext cx="9864000" cy="334800"/>
          </a:xfrm>
          <a:prstGeom prst="rect">
            <a:avLst/>
          </a:prstGeom>
          <a:noFill/>
        </p:spPr>
        <p:txBody>
          <a:bodyPr wrap="square" lIns="0" rIns="0" tIns="0" bIns="0" anchor="t">
            <a:noAutofit/>
          </a:bodyPr>
          <a:lstStyle/>
          <a:p>
            <a:pPr algn="l"/>
            <a:r>
              <a:rPr sz="1200" b="0">
                <a:solidFill>
                  <a:srgbClr val="526173"/>
                </a:solidFill>
              </a:rPr>
              <a:t>mini_project_unsw_nb15.ipynb, running now (Restart Kernel and Run All on slide 1)</a:t>
            </a:r>
          </a:p>
        </p:txBody>
      </p:sp>
      <p:sp>
        <p:nvSpPr>
          <p:cNvPr id="4" name="Rectangle 3"/>
          <p:cNvSpPr/>
          <p:nvPr/>
        </p:nvSpPr>
        <p:spPr>
          <a:xfrm>
            <a:off x="687600" y="1584000"/>
            <a:ext cx="10821600" cy="3564000"/>
          </a:xfrm>
          <a:prstGeom prst="rect">
            <a:avLst/>
          </a:prstGeom>
          <a:solidFill>
            <a:srgbClr val="DFE9F3"/>
          </a:solidFill>
          <a:ln w="13970">
            <a:solidFill>
              <a:srgbClr val="245CC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19600" y="1908000"/>
            <a:ext cx="9936000" cy="827999"/>
          </a:xfrm>
          <a:prstGeom prst="rect">
            <a:avLst/>
          </a:prstGeom>
          <a:noFill/>
        </p:spPr>
        <p:txBody>
          <a:bodyPr wrap="square" lIns="0" rIns="0" tIns="0" bIns="0" anchor="t">
            <a:noAutofit/>
          </a:bodyPr>
          <a:lstStyle/>
          <a:p>
            <a:pPr algn="l"/>
            <a:r>
              <a:rPr sz="4800" b="1">
                <a:solidFill>
                  <a:srgbClr val="245CC5"/>
                </a:solidFill>
              </a:rPr>
              <a:t>Live: the notebook</a:t>
            </a:r>
          </a:p>
        </p:txBody>
      </p:sp>
      <p:sp>
        <p:nvSpPr>
          <p:cNvPr id="6" name="TextBox 5"/>
          <p:cNvSpPr txBox="1"/>
          <p:nvPr/>
        </p:nvSpPr>
        <p:spPr>
          <a:xfrm>
            <a:off x="1119600" y="2880000"/>
            <a:ext cx="9936000" cy="540000"/>
          </a:xfrm>
          <a:prstGeom prst="rect">
            <a:avLst/>
          </a:prstGeom>
          <a:noFill/>
        </p:spPr>
        <p:txBody>
          <a:bodyPr wrap="square" lIns="0" rIns="0" tIns="0" bIns="0" anchor="t">
            <a:noAutofit/>
          </a:bodyPr>
          <a:lstStyle/>
          <a:p>
            <a:pPr algn="l"/>
            <a:r>
              <a:rPr sz="2800" b="1">
                <a:solidFill>
                  <a:srgbClr val="17283C"/>
                </a:solidFill>
              </a:rPr>
              <a:t>One attack, two settings changed</a:t>
            </a:r>
          </a:p>
        </p:txBody>
      </p:sp>
      <p:sp>
        <p:nvSpPr>
          <p:cNvPr id="7" name="TextBox 6"/>
          <p:cNvSpPr txBox="1"/>
          <p:nvPr/>
        </p:nvSpPr>
        <p:spPr>
          <a:xfrm>
            <a:off x="1119600" y="3564000"/>
            <a:ext cx="9936000" cy="1440000"/>
          </a:xfrm>
          <a:prstGeom prst="rect">
            <a:avLst/>
          </a:prstGeom>
          <a:noFill/>
        </p:spPr>
        <p:txBody>
          <a:bodyPr wrap="square" lIns="0" rIns="0" tIns="0" bIns="0" anchor="t">
            <a:noAutofit/>
          </a:bodyPr>
          <a:lstStyle/>
          <a:p>
            <a:pPr algn="l">
              <a:spcAft>
                <a:spcPts val="600"/>
              </a:spcAft>
            </a:pPr>
            <a:r>
              <a:rPr sz="2100" b="0">
                <a:solidFill>
                  <a:srgbClr val="17283C"/>
                </a:solidFill>
              </a:rPr>
              <a:t>The test attack the model is most sure about (an Exploits flow)</a:t>
            </a:r>
          </a:p>
          <a:p>
            <a:pPr algn="l"/>
            <a:r>
              <a:rPr sz="2100" b="0">
                <a:solidFill>
                  <a:srgbClr val="17283C"/>
                </a:solidFill>
              </a:rPr>
              <a:t>Then: Fwd Seg Size Min set to 32, and FWD Init Win Bytes to 5792, the benign machines' values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5F3ED"/>
        </a:solidFill>
        <a:effectLst/>
      </p:bgPr>
    </p:bg>
    <p:spTree>
      <p:nvGrpSpPr>
        <p:cNvPr id="1" name=""/>
        <p:cNvGrpSpPr/>
        <p:nvPr/>
      </p:nvGrpSpPr>
      <p:grpSpPr/>
      <p:sp>
        <p:nvSpPr>
          <p:cNvPr id="2" name="TextBox 1"/>
          <p:cNvSpPr txBox="1"/>
          <p:nvPr/>
        </p:nvSpPr>
        <p:spPr>
          <a:xfrm>
            <a:off x="687600" y="525600"/>
            <a:ext cx="10821600" cy="954000"/>
          </a:xfrm>
          <a:prstGeom prst="rect">
            <a:avLst/>
          </a:prstGeom>
          <a:noFill/>
        </p:spPr>
        <p:txBody>
          <a:bodyPr wrap="square" lIns="0" rIns="0" tIns="0" bIns="0" anchor="t">
            <a:noAutofit/>
          </a:bodyPr>
          <a:lstStyle/>
          <a:p>
            <a:pPr algn="l"/>
            <a:r>
              <a:rPr sz="3300" b="1">
                <a:solidFill>
                  <a:srgbClr val="17283C"/>
                </a:solidFill>
              </a:rPr>
              <a:t>Would we deploy this?</a:t>
            </a:r>
          </a:p>
        </p:txBody>
      </p:sp>
      <p:sp>
        <p:nvSpPr>
          <p:cNvPr id="3" name="TextBox 2"/>
          <p:cNvSpPr txBox="1"/>
          <p:nvPr/>
        </p:nvSpPr>
        <p:spPr>
          <a:xfrm>
            <a:off x="10785600" y="6256800"/>
            <a:ext cx="363600" cy="237600"/>
          </a:xfrm>
          <a:prstGeom prst="rect">
            <a:avLst/>
          </a:prstGeom>
          <a:noFill/>
        </p:spPr>
        <p:txBody>
          <a:bodyPr wrap="square" lIns="0" rIns="0" tIns="0" bIns="0" anchor="t">
            <a:noAutofit/>
          </a:bodyPr>
          <a:lstStyle/>
          <a:p>
            <a:pPr algn="r"/>
            <a:r>
              <a:rPr sz="1250" b="0">
                <a:solidFill>
                  <a:srgbClr val="526173"/>
                </a:solidFill>
              </a:rPr>
              <a:t>15</a:t>
            </a:r>
          </a:p>
        </p:txBody>
      </p:sp>
      <p:sp>
        <p:nvSpPr>
          <p:cNvPr id="4" name="TextBox 3"/>
          <p:cNvSpPr txBox="1"/>
          <p:nvPr/>
        </p:nvSpPr>
        <p:spPr>
          <a:xfrm>
            <a:off x="687600" y="6210000"/>
            <a:ext cx="9864000" cy="334800"/>
          </a:xfrm>
          <a:prstGeom prst="rect">
            <a:avLst/>
          </a:prstGeom>
          <a:noFill/>
        </p:spPr>
        <p:txBody>
          <a:bodyPr wrap="square" lIns="0" rIns="0" tIns="0" bIns="0" anchor="t">
            <a:noAutofit/>
          </a:bodyPr>
          <a:lstStyle/>
          <a:p>
            <a:pPr algn="l"/>
            <a:r>
              <a:rPr sz="1200" b="0">
                <a:solidFill>
                  <a:srgbClr val="526173"/>
                </a:solidFill>
              </a:rPr>
              <a:t>Report Section 7 · results/tables/B4_alarms_per_day.csv, X6_clean.csv, X6_noise.csv, X3_attack_summary.csv</a:t>
            </a:r>
          </a:p>
        </p:txBody>
      </p:sp>
      <p:sp>
        <p:nvSpPr>
          <p:cNvPr id="5" name="TextBox 4"/>
          <p:cNvSpPr txBox="1"/>
          <p:nvPr/>
        </p:nvSpPr>
        <p:spPr>
          <a:xfrm>
            <a:off x="687600" y="1548000"/>
            <a:ext cx="10821600" cy="576000"/>
          </a:xfrm>
          <a:prstGeom prst="rect">
            <a:avLst/>
          </a:prstGeom>
          <a:noFill/>
        </p:spPr>
        <p:txBody>
          <a:bodyPr wrap="square" lIns="0" rIns="0" tIns="0" bIns="0" anchor="t">
            <a:noAutofit/>
          </a:bodyPr>
          <a:lstStyle/>
          <a:p>
            <a:pPr algn="l"/>
            <a:r>
              <a:rPr sz="3600" b="1">
                <a:solidFill>
                  <a:srgbClr val="087F79"/>
                </a:solidFill>
              </a:rPr>
              <a:t>Not as it is.</a:t>
            </a:r>
          </a:p>
        </p:txBody>
      </p:sp>
      <p:sp>
        <p:nvSpPr>
          <p:cNvPr id="6" name="TextBox 5"/>
          <p:cNvSpPr txBox="1"/>
          <p:nvPr/>
        </p:nvSpPr>
        <p:spPr>
          <a:xfrm>
            <a:off x="687600" y="2268000"/>
            <a:ext cx="2664000" cy="935999"/>
          </a:xfrm>
          <a:prstGeom prst="rect">
            <a:avLst/>
          </a:prstGeom>
          <a:noFill/>
        </p:spPr>
        <p:txBody>
          <a:bodyPr wrap="square" lIns="0" rIns="0" tIns="0" bIns="0" anchor="t">
            <a:noAutofit/>
          </a:bodyPr>
          <a:lstStyle/>
          <a:p>
            <a:pPr algn="l"/>
            <a:r>
              <a:rPr sz="2250" b="1">
                <a:solidFill>
                  <a:srgbClr val="245CC5"/>
                </a:solidFill>
              </a:rPr>
              <a:t>The numbers we least trust</a:t>
            </a:r>
          </a:p>
        </p:txBody>
      </p:sp>
      <p:sp>
        <p:nvSpPr>
          <p:cNvPr id="7" name="TextBox 6"/>
          <p:cNvSpPr txBox="1"/>
          <p:nvPr/>
        </p:nvSpPr>
        <p:spPr>
          <a:xfrm>
            <a:off x="3528000" y="2268000"/>
            <a:ext cx="7956000" cy="935999"/>
          </a:xfrm>
          <a:prstGeom prst="rect">
            <a:avLst/>
          </a:prstGeom>
          <a:noFill/>
        </p:spPr>
        <p:txBody>
          <a:bodyPr wrap="square" lIns="0" rIns="0" tIns="0" bIns="0" anchor="t">
            <a:noAutofit/>
          </a:bodyPr>
          <a:lstStyle/>
          <a:p>
            <a:pPr algn="l"/>
            <a:r>
              <a:rPr sz="1700" b="0">
                <a:solidFill>
                  <a:srgbClr val="17283C"/>
                </a:solidFill>
              </a:rPr>
              <a:t>The 0.972 itself (it measures the UNSW-NB15 attacker machines), and the FAR: at a realistic 2.5% attacks only 48% of alerts would be real.</a:t>
            </a:r>
          </a:p>
        </p:txBody>
      </p:sp>
      <p:sp>
        <p:nvSpPr>
          <p:cNvPr id="8" name="TextBox 7"/>
          <p:cNvSpPr txBox="1"/>
          <p:nvPr/>
        </p:nvSpPr>
        <p:spPr>
          <a:xfrm>
            <a:off x="687600" y="3276000"/>
            <a:ext cx="2664000" cy="935999"/>
          </a:xfrm>
          <a:prstGeom prst="rect">
            <a:avLst/>
          </a:prstGeom>
          <a:noFill/>
        </p:spPr>
        <p:txBody>
          <a:bodyPr wrap="square" lIns="0" rIns="0" tIns="0" bIns="0" anchor="t">
            <a:noAutofit/>
          </a:bodyPr>
          <a:lstStyle/>
          <a:p>
            <a:pPr algn="l"/>
            <a:r>
              <a:rPr sz="2250" b="1">
                <a:solidFill>
                  <a:srgbClr val="245CC5"/>
                </a:solidFill>
              </a:rPr>
              <a:t>A better model</a:t>
            </a:r>
          </a:p>
        </p:txBody>
      </p:sp>
      <p:sp>
        <p:nvSpPr>
          <p:cNvPr id="9" name="TextBox 8"/>
          <p:cNvSpPr txBox="1"/>
          <p:nvPr/>
        </p:nvSpPr>
        <p:spPr>
          <a:xfrm>
            <a:off x="3528000" y="3276000"/>
            <a:ext cx="7956000" cy="935999"/>
          </a:xfrm>
          <a:prstGeom prst="rect">
            <a:avLst/>
          </a:prstGeom>
          <a:noFill/>
        </p:spPr>
        <p:txBody>
          <a:bodyPr wrap="square" lIns="0" rIns="0" tIns="0" bIns="0" anchor="t">
            <a:noAutofit/>
          </a:bodyPr>
          <a:lstStyle/>
          <a:p>
            <a:pPr algn="l"/>
            <a:r>
              <a:rPr sz="1700" b="0">
                <a:solidFill>
                  <a:srgbClr val="17283C"/>
                </a:solidFill>
              </a:rPr>
              <a:t>Without the three TCP features: macro-F1 0.971, recall under noise 0.831 instead of 0.513, but the attack search still evades it for 34 of 50 attacks.</a:t>
            </a:r>
          </a:p>
        </p:txBody>
      </p:sp>
      <p:sp>
        <p:nvSpPr>
          <p:cNvPr id="10" name="TextBox 9"/>
          <p:cNvSpPr txBox="1"/>
          <p:nvPr/>
        </p:nvSpPr>
        <p:spPr>
          <a:xfrm>
            <a:off x="687600" y="4283999"/>
            <a:ext cx="2664000" cy="935999"/>
          </a:xfrm>
          <a:prstGeom prst="rect">
            <a:avLst/>
          </a:prstGeom>
          <a:noFill/>
        </p:spPr>
        <p:txBody>
          <a:bodyPr wrap="square" lIns="0" rIns="0" tIns="0" bIns="0" anchor="t">
            <a:noAutofit/>
          </a:bodyPr>
          <a:lstStyle/>
          <a:p>
            <a:pPr algn="l"/>
            <a:r>
              <a:rPr sz="2250" b="1">
                <a:solidFill>
                  <a:srgbClr val="245CC5"/>
                </a:solidFill>
              </a:rPr>
              <a:t>How we would run it</a:t>
            </a:r>
          </a:p>
        </p:txBody>
      </p:sp>
      <p:sp>
        <p:nvSpPr>
          <p:cNvPr id="11" name="TextBox 10"/>
          <p:cNvSpPr txBox="1"/>
          <p:nvPr/>
        </p:nvSpPr>
        <p:spPr>
          <a:xfrm>
            <a:off x="3528000" y="4283999"/>
            <a:ext cx="7956000" cy="935999"/>
          </a:xfrm>
          <a:prstGeom prst="rect">
            <a:avLst/>
          </a:prstGeom>
          <a:noFill/>
        </p:spPr>
        <p:txBody>
          <a:bodyPr wrap="square" lIns="0" rIns="0" tIns="0" bIns="0" anchor="t">
            <a:noAutofit/>
          </a:bodyPr>
          <a:lstStyle/>
          <a:p>
            <a:pPr algn="l"/>
            <a:r>
              <a:rPr sz="1700" b="0">
                <a:solidFill>
                  <a:srgbClr val="17283C"/>
                </a:solidFill>
              </a:rPr>
              <a:t>The model without the fingerprint, the BRB as a readable second opinion that sends "cannot decide" to an analyst, monitoring of unsure predictions, and features over many flows.</a:t>
            </a:r>
          </a:p>
        </p:txBody>
      </p:sp>
      <p:sp>
        <p:nvSpPr>
          <p:cNvPr id="12" name="TextBox 11"/>
          <p:cNvSpPr txBox="1"/>
          <p:nvPr/>
        </p:nvSpPr>
        <p:spPr>
          <a:xfrm>
            <a:off x="687600" y="5436000"/>
            <a:ext cx="10821600" cy="702000"/>
          </a:xfrm>
          <a:prstGeom prst="rect">
            <a:avLst/>
          </a:prstGeom>
          <a:noFill/>
        </p:spPr>
        <p:txBody>
          <a:bodyPr wrap="square" lIns="0" rIns="0" tIns="0" bIns="0" anchor="t">
            <a:noAutofit/>
          </a:bodyPr>
          <a:lstStyle/>
          <a:p>
            <a:pPr algn="l"/>
            <a:r>
              <a:rPr sz="2000" b="1">
                <a:solidFill>
                  <a:srgbClr val="245CC5"/>
                </a:solidFill>
              </a:rPr>
              <a:t>Where it would fail: shared operating systems, NAT or proxies that rewrite TCP settings, other flow tools, new traffic.</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5F3ED"/>
        </a:solidFill>
        <a:effectLst/>
      </p:bgPr>
    </p:bg>
    <p:spTree>
      <p:nvGrpSpPr>
        <p:cNvPr id="1" name=""/>
        <p:cNvGrpSpPr/>
        <p:nvPr/>
      </p:nvGrpSpPr>
      <p:grpSpPr/>
      <p:sp>
        <p:nvSpPr>
          <p:cNvPr id="2" name="TextBox 1"/>
          <p:cNvSpPr txBox="1"/>
          <p:nvPr/>
        </p:nvSpPr>
        <p:spPr>
          <a:xfrm>
            <a:off x="687600" y="525600"/>
            <a:ext cx="10821600" cy="954000"/>
          </a:xfrm>
          <a:prstGeom prst="rect">
            <a:avLst/>
          </a:prstGeom>
          <a:noFill/>
        </p:spPr>
        <p:txBody>
          <a:bodyPr wrap="square" lIns="0" rIns="0" tIns="0" bIns="0" anchor="t">
            <a:noAutofit/>
          </a:bodyPr>
          <a:lstStyle/>
          <a:p>
            <a:pPr algn="l"/>
            <a:r>
              <a:rPr sz="3300" b="1">
                <a:solidFill>
                  <a:srgbClr val="17283C"/>
                </a:solidFill>
              </a:rPr>
              <a:t>Questions</a:t>
            </a:r>
          </a:p>
        </p:txBody>
      </p:sp>
      <p:sp>
        <p:nvSpPr>
          <p:cNvPr id="3" name="TextBox 2"/>
          <p:cNvSpPr txBox="1"/>
          <p:nvPr/>
        </p:nvSpPr>
        <p:spPr>
          <a:xfrm>
            <a:off x="687600" y="2340000"/>
            <a:ext cx="10440000" cy="720000"/>
          </a:xfrm>
          <a:prstGeom prst="rect">
            <a:avLst/>
          </a:prstGeom>
          <a:noFill/>
        </p:spPr>
        <p:txBody>
          <a:bodyPr wrap="square" lIns="0" rIns="0" tIns="0" bIns="0" anchor="t">
            <a:noAutofit/>
          </a:bodyPr>
          <a:lstStyle/>
          <a:p>
            <a:pPr algn="l"/>
            <a:r>
              <a:rPr sz="4000" b="1">
                <a:solidFill>
                  <a:srgbClr val="245CC5"/>
                </a:solidFill>
              </a:rPr>
              <a:t>Thank you.</a:t>
            </a:r>
          </a:p>
        </p:txBody>
      </p:sp>
      <p:sp>
        <p:nvSpPr>
          <p:cNvPr id="4" name="TextBox 3"/>
          <p:cNvSpPr txBox="1"/>
          <p:nvPr/>
        </p:nvSpPr>
        <p:spPr>
          <a:xfrm>
            <a:off x="687600" y="3348000"/>
            <a:ext cx="10440000" cy="1080000"/>
          </a:xfrm>
          <a:prstGeom prst="rect">
            <a:avLst/>
          </a:prstGeom>
          <a:noFill/>
        </p:spPr>
        <p:txBody>
          <a:bodyPr wrap="square" lIns="0" rIns="0" tIns="0" bIns="0" anchor="t">
            <a:noAutofit/>
          </a:bodyPr>
          <a:lstStyle/>
          <a:p>
            <a:pPr algn="l">
              <a:spcAft>
                <a:spcPts val="600"/>
              </a:spcAft>
            </a:pPr>
            <a:r>
              <a:rPr sz="1900" b="0">
                <a:solidFill>
                  <a:srgbClr val="526173"/>
                </a:solidFill>
              </a:rPr>
              <a:t>Kirill Silchenko (Parts A, B and F) · Stefanos Ntentopoulos (Parts C, D, E and G)</a:t>
            </a:r>
          </a:p>
          <a:p>
            <a:pPr algn="l"/>
            <a:r>
              <a:rPr sz="1900" b="0">
                <a:solidFill>
                  <a:srgbClr val="526173"/>
                </a:solidFill>
              </a:rPr>
              <a:t>Notebook: mini_project_unsw_nb15.ipynb · Report and README on Canvas</a:t>
            </a:r>
          </a:p>
        </p:txBody>
      </p:sp>
      <p:sp>
        <p:nvSpPr>
          <p:cNvPr id="5" name="TextBox 4"/>
          <p:cNvSpPr txBox="1"/>
          <p:nvPr/>
        </p:nvSpPr>
        <p:spPr>
          <a:xfrm>
            <a:off x="10785600" y="6256800"/>
            <a:ext cx="363600" cy="237600"/>
          </a:xfrm>
          <a:prstGeom prst="rect">
            <a:avLst/>
          </a:prstGeom>
          <a:noFill/>
        </p:spPr>
        <p:txBody>
          <a:bodyPr wrap="square" lIns="0" rIns="0" tIns="0" bIns="0" anchor="t">
            <a:noAutofit/>
          </a:bodyPr>
          <a:lstStyle/>
          <a:p>
            <a:pPr algn="r"/>
            <a:r>
              <a:rPr sz="1250" b="0">
                <a:solidFill>
                  <a:srgbClr val="526173"/>
                </a:solidFill>
              </a:rPr>
              <a:t>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5F3ED"/>
        </a:solidFill>
        <a:effectLst/>
      </p:bgPr>
    </p:bg>
    <p:spTree>
      <p:nvGrpSpPr>
        <p:cNvPr id="1" name=""/>
        <p:cNvGrpSpPr/>
        <p:nvPr/>
      </p:nvGrpSpPr>
      <p:grpSpPr/>
      <p:sp>
        <p:nvSpPr>
          <p:cNvPr id="2" name="TextBox 1"/>
          <p:cNvSpPr txBox="1"/>
          <p:nvPr/>
        </p:nvSpPr>
        <p:spPr>
          <a:xfrm>
            <a:off x="687600" y="525600"/>
            <a:ext cx="10821600" cy="954000"/>
          </a:xfrm>
          <a:prstGeom prst="rect">
            <a:avLst/>
          </a:prstGeom>
          <a:noFill/>
        </p:spPr>
        <p:txBody>
          <a:bodyPr wrap="square" lIns="0" rIns="0" tIns="0" bIns="0" anchor="t">
            <a:noAutofit/>
          </a:bodyPr>
          <a:lstStyle/>
          <a:p>
            <a:pPr algn="l"/>
            <a:r>
              <a:rPr sz="3300" b="1">
                <a:solidFill>
                  <a:srgbClr val="17283C"/>
                </a:solidFill>
              </a:rPr>
              <a:t>Backup: recall per attack type</a:t>
            </a:r>
          </a:p>
        </p:txBody>
      </p:sp>
      <p:sp>
        <p:nvSpPr>
          <p:cNvPr id="3" name="TextBox 2"/>
          <p:cNvSpPr txBox="1"/>
          <p:nvPr/>
        </p:nvSpPr>
        <p:spPr>
          <a:xfrm>
            <a:off x="10785600" y="6256800"/>
            <a:ext cx="363600" cy="237600"/>
          </a:xfrm>
          <a:prstGeom prst="rect">
            <a:avLst/>
          </a:prstGeom>
          <a:noFill/>
        </p:spPr>
        <p:txBody>
          <a:bodyPr wrap="square" lIns="0" rIns="0" tIns="0" bIns="0" anchor="t">
            <a:noAutofit/>
          </a:bodyPr>
          <a:lstStyle/>
          <a:p>
            <a:pPr algn="r"/>
            <a:r>
              <a:rPr sz="1250" b="0">
                <a:solidFill>
                  <a:srgbClr val="526173"/>
                </a:solidFill>
              </a:rPr>
              <a:t>B1</a:t>
            </a:r>
          </a:p>
        </p:txBody>
      </p:sp>
      <p:sp>
        <p:nvSpPr>
          <p:cNvPr id="4" name="TextBox 3"/>
          <p:cNvSpPr txBox="1"/>
          <p:nvPr/>
        </p:nvSpPr>
        <p:spPr>
          <a:xfrm>
            <a:off x="687600" y="6210000"/>
            <a:ext cx="9864000" cy="334800"/>
          </a:xfrm>
          <a:prstGeom prst="rect">
            <a:avLst/>
          </a:prstGeom>
          <a:noFill/>
        </p:spPr>
        <p:txBody>
          <a:bodyPr wrap="square" lIns="0" rIns="0" tIns="0" bIns="0" anchor="t">
            <a:noAutofit/>
          </a:bodyPr>
          <a:lstStyle/>
          <a:p>
            <a:pPr algn="l"/>
            <a:r>
              <a:rPr sz="1200" b="0">
                <a:solidFill>
                  <a:srgbClr val="526173"/>
                </a:solidFill>
              </a:rPr>
              <a:t>Notebook Part B · results/figures/B4_recall_per_type.png</a:t>
            </a:r>
          </a:p>
        </p:txBody>
      </p:sp>
      <p:sp>
        <p:nvSpPr>
          <p:cNvPr id="5" name="Rectangle 4"/>
          <p:cNvSpPr/>
          <p:nvPr/>
        </p:nvSpPr>
        <p:spPr>
          <a:xfrm>
            <a:off x="2204139" y="1620000"/>
            <a:ext cx="7788521" cy="424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B4_recall_per_type.png"/>
          <p:cNvPicPr>
            <a:picLocks noChangeAspect="1"/>
          </p:cNvPicPr>
          <p:nvPr/>
        </p:nvPicPr>
        <p:blipFill>
          <a:blip r:embed="rId2"/>
          <a:stretch>
            <a:fillRect/>
          </a:stretch>
        </p:blipFill>
        <p:spPr>
          <a:xfrm>
            <a:off x="2240139" y="1655999"/>
            <a:ext cx="7716521" cy="4176000"/>
          </a:xfrm>
          <a:prstGeom prst="rect">
            <a:avLst/>
          </a:prstGeom>
        </p:spPr>
      </p:pic>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5F3ED"/>
        </a:solidFill>
        <a:effectLst/>
      </p:bgPr>
    </p:bg>
    <p:spTree>
      <p:nvGrpSpPr>
        <p:cNvPr id="1" name=""/>
        <p:cNvGrpSpPr/>
        <p:nvPr/>
      </p:nvGrpSpPr>
      <p:grpSpPr/>
      <p:sp>
        <p:nvSpPr>
          <p:cNvPr id="2" name="TextBox 1"/>
          <p:cNvSpPr txBox="1"/>
          <p:nvPr/>
        </p:nvSpPr>
        <p:spPr>
          <a:xfrm>
            <a:off x="687600" y="525600"/>
            <a:ext cx="10821600" cy="954000"/>
          </a:xfrm>
          <a:prstGeom prst="rect">
            <a:avLst/>
          </a:prstGeom>
          <a:noFill/>
        </p:spPr>
        <p:txBody>
          <a:bodyPr wrap="square" lIns="0" rIns="0" tIns="0" bIns="0" anchor="t">
            <a:noAutofit/>
          </a:bodyPr>
          <a:lstStyle/>
          <a:p>
            <a:pPr algn="l"/>
            <a:r>
              <a:rPr sz="3300" b="1">
                <a:solidFill>
                  <a:srgbClr val="17283C"/>
                </a:solidFill>
              </a:rPr>
              <a:t>Backup: the deletion test</a:t>
            </a:r>
          </a:p>
        </p:txBody>
      </p:sp>
      <p:sp>
        <p:nvSpPr>
          <p:cNvPr id="3" name="TextBox 2"/>
          <p:cNvSpPr txBox="1"/>
          <p:nvPr/>
        </p:nvSpPr>
        <p:spPr>
          <a:xfrm>
            <a:off x="10785600" y="6256800"/>
            <a:ext cx="363600" cy="237600"/>
          </a:xfrm>
          <a:prstGeom prst="rect">
            <a:avLst/>
          </a:prstGeom>
          <a:noFill/>
        </p:spPr>
        <p:txBody>
          <a:bodyPr wrap="square" lIns="0" rIns="0" tIns="0" bIns="0" anchor="t">
            <a:noAutofit/>
          </a:bodyPr>
          <a:lstStyle/>
          <a:p>
            <a:pPr algn="r"/>
            <a:r>
              <a:rPr sz="1250" b="0">
                <a:solidFill>
                  <a:srgbClr val="526173"/>
                </a:solidFill>
              </a:rPr>
              <a:t>B2</a:t>
            </a:r>
          </a:p>
        </p:txBody>
      </p:sp>
      <p:sp>
        <p:nvSpPr>
          <p:cNvPr id="4" name="TextBox 3"/>
          <p:cNvSpPr txBox="1"/>
          <p:nvPr/>
        </p:nvSpPr>
        <p:spPr>
          <a:xfrm>
            <a:off x="687600" y="6210000"/>
            <a:ext cx="9864000" cy="334800"/>
          </a:xfrm>
          <a:prstGeom prst="rect">
            <a:avLst/>
          </a:prstGeom>
          <a:noFill/>
        </p:spPr>
        <p:txBody>
          <a:bodyPr wrap="square" lIns="0" rIns="0" tIns="0" bIns="0" anchor="t">
            <a:noAutofit/>
          </a:bodyPr>
          <a:lstStyle/>
          <a:p>
            <a:pPr algn="l"/>
            <a:r>
              <a:rPr sz="1200" b="0">
                <a:solidFill>
                  <a:srgbClr val="526173"/>
                </a:solidFill>
              </a:rPr>
              <a:t>Notebook Part D · results/figures/D4_deletion.png</a:t>
            </a:r>
          </a:p>
        </p:txBody>
      </p:sp>
      <p:sp>
        <p:nvSpPr>
          <p:cNvPr id="5" name="Rectangle 4"/>
          <p:cNvSpPr/>
          <p:nvPr/>
        </p:nvSpPr>
        <p:spPr>
          <a:xfrm>
            <a:off x="2333828" y="1620000"/>
            <a:ext cx="7529142" cy="424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D4_deletion.png"/>
          <p:cNvPicPr>
            <a:picLocks noChangeAspect="1"/>
          </p:cNvPicPr>
          <p:nvPr/>
        </p:nvPicPr>
        <p:blipFill>
          <a:blip r:embed="rId2"/>
          <a:stretch>
            <a:fillRect/>
          </a:stretch>
        </p:blipFill>
        <p:spPr>
          <a:xfrm>
            <a:off x="2369828" y="1655999"/>
            <a:ext cx="7457142" cy="4176000"/>
          </a:xfrm>
          <a:prstGeom prst="rect">
            <a:avLst/>
          </a:prstGeom>
        </p:spPr>
      </p:pic>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5F3ED"/>
        </a:solidFill>
        <a:effectLst/>
      </p:bgPr>
    </p:bg>
    <p:spTree>
      <p:nvGrpSpPr>
        <p:cNvPr id="1" name=""/>
        <p:cNvGrpSpPr/>
        <p:nvPr/>
      </p:nvGrpSpPr>
      <p:grpSpPr/>
      <p:sp>
        <p:nvSpPr>
          <p:cNvPr id="2" name="TextBox 1"/>
          <p:cNvSpPr txBox="1"/>
          <p:nvPr/>
        </p:nvSpPr>
        <p:spPr>
          <a:xfrm>
            <a:off x="687600" y="525600"/>
            <a:ext cx="10821600" cy="954000"/>
          </a:xfrm>
          <a:prstGeom prst="rect">
            <a:avLst/>
          </a:prstGeom>
          <a:noFill/>
        </p:spPr>
        <p:txBody>
          <a:bodyPr wrap="square" lIns="0" rIns="0" tIns="0" bIns="0" anchor="t">
            <a:noAutofit/>
          </a:bodyPr>
          <a:lstStyle/>
          <a:p>
            <a:pPr algn="l"/>
            <a:r>
              <a:rPr sz="3300" b="1">
                <a:solidFill>
                  <a:srgbClr val="17283C"/>
                </a:solidFill>
              </a:rPr>
              <a:t>Backup: the nine rules of the BRB</a:t>
            </a:r>
          </a:p>
        </p:txBody>
      </p:sp>
      <p:sp>
        <p:nvSpPr>
          <p:cNvPr id="3" name="TextBox 2"/>
          <p:cNvSpPr txBox="1"/>
          <p:nvPr/>
        </p:nvSpPr>
        <p:spPr>
          <a:xfrm>
            <a:off x="10785600" y="6256800"/>
            <a:ext cx="363600" cy="237600"/>
          </a:xfrm>
          <a:prstGeom prst="rect">
            <a:avLst/>
          </a:prstGeom>
          <a:noFill/>
        </p:spPr>
        <p:txBody>
          <a:bodyPr wrap="square" lIns="0" rIns="0" tIns="0" bIns="0" anchor="t">
            <a:noAutofit/>
          </a:bodyPr>
          <a:lstStyle/>
          <a:p>
            <a:pPr algn="r"/>
            <a:r>
              <a:rPr sz="1250" b="0">
                <a:solidFill>
                  <a:srgbClr val="526173"/>
                </a:solidFill>
              </a:rPr>
              <a:t>B3</a:t>
            </a:r>
          </a:p>
        </p:txBody>
      </p:sp>
      <p:sp>
        <p:nvSpPr>
          <p:cNvPr id="4" name="TextBox 3"/>
          <p:cNvSpPr txBox="1"/>
          <p:nvPr/>
        </p:nvSpPr>
        <p:spPr>
          <a:xfrm>
            <a:off x="687600" y="6210000"/>
            <a:ext cx="9864000" cy="334800"/>
          </a:xfrm>
          <a:prstGeom prst="rect">
            <a:avLst/>
          </a:prstGeom>
          <a:noFill/>
        </p:spPr>
        <p:txBody>
          <a:bodyPr wrap="square" lIns="0" rIns="0" tIns="0" bIns="0" anchor="t">
            <a:noAutofit/>
          </a:bodyPr>
          <a:lstStyle/>
          <a:p>
            <a:pPr algn="l"/>
            <a:r>
              <a:rPr sz="1200" b="0">
                <a:solidFill>
                  <a:srgbClr val="526173"/>
                </a:solidFill>
              </a:rPr>
              <a:t>Notebook Part F · results/tables/F2_rules.csv</a:t>
            </a:r>
          </a:p>
        </p:txBody>
      </p:sp>
      <p:sp>
        <p:nvSpPr>
          <p:cNvPr id="5" name="TextBox 4"/>
          <p:cNvSpPr txBox="1"/>
          <p:nvPr/>
        </p:nvSpPr>
        <p:spPr>
          <a:xfrm>
            <a:off x="687600" y="1684800"/>
            <a:ext cx="4392000" cy="342000"/>
          </a:xfrm>
          <a:prstGeom prst="rect">
            <a:avLst/>
          </a:prstGeom>
          <a:noFill/>
        </p:spPr>
        <p:txBody>
          <a:bodyPr wrap="square" lIns="0" rIns="0" tIns="0" bIns="0" anchor="t">
            <a:noAutofit/>
          </a:bodyPr>
          <a:lstStyle/>
          <a:p>
            <a:pPr algn="l"/>
            <a:r>
              <a:rPr sz="1400" b="1">
                <a:solidFill>
                  <a:srgbClr val="526173"/>
                </a:solidFill>
              </a:rPr>
              <a:t>Rule (FWD Init Win Bytes, Bwd Packets/s)</a:t>
            </a:r>
          </a:p>
        </p:txBody>
      </p:sp>
      <p:sp>
        <p:nvSpPr>
          <p:cNvPr id="6" name="TextBox 5"/>
          <p:cNvSpPr txBox="1"/>
          <p:nvPr/>
        </p:nvSpPr>
        <p:spPr>
          <a:xfrm>
            <a:off x="5187600" y="1684800"/>
            <a:ext cx="1332000" cy="342000"/>
          </a:xfrm>
          <a:prstGeom prst="rect">
            <a:avLst/>
          </a:prstGeom>
          <a:noFill/>
        </p:spPr>
        <p:txBody>
          <a:bodyPr wrap="square" lIns="0" rIns="0" tIns="0" bIns="0" anchor="t">
            <a:noAutofit/>
          </a:bodyPr>
          <a:lstStyle/>
          <a:p>
            <a:pPr algn="r"/>
            <a:r>
              <a:rPr sz="1400" b="1">
                <a:solidFill>
                  <a:srgbClr val="526173"/>
                </a:solidFill>
              </a:rPr>
              <a:t>Low risk</a:t>
            </a:r>
          </a:p>
        </p:txBody>
      </p:sp>
      <p:sp>
        <p:nvSpPr>
          <p:cNvPr id="7" name="TextBox 6"/>
          <p:cNvSpPr txBox="1"/>
          <p:nvPr/>
        </p:nvSpPr>
        <p:spPr>
          <a:xfrm>
            <a:off x="6627600" y="1684800"/>
            <a:ext cx="1332000" cy="342000"/>
          </a:xfrm>
          <a:prstGeom prst="rect">
            <a:avLst/>
          </a:prstGeom>
          <a:noFill/>
        </p:spPr>
        <p:txBody>
          <a:bodyPr wrap="square" lIns="0" rIns="0" tIns="0" bIns="0" anchor="t">
            <a:noAutofit/>
          </a:bodyPr>
          <a:lstStyle/>
          <a:p>
            <a:pPr algn="r"/>
            <a:r>
              <a:rPr sz="1400" b="1">
                <a:solidFill>
                  <a:srgbClr val="526173"/>
                </a:solidFill>
              </a:rPr>
              <a:t>Medium risk</a:t>
            </a:r>
          </a:p>
        </p:txBody>
      </p:sp>
      <p:sp>
        <p:nvSpPr>
          <p:cNvPr id="8" name="TextBox 7"/>
          <p:cNvSpPr txBox="1"/>
          <p:nvPr/>
        </p:nvSpPr>
        <p:spPr>
          <a:xfrm>
            <a:off x="8067600" y="1684800"/>
            <a:ext cx="1332000" cy="342000"/>
          </a:xfrm>
          <a:prstGeom prst="rect">
            <a:avLst/>
          </a:prstGeom>
          <a:noFill/>
        </p:spPr>
        <p:txBody>
          <a:bodyPr wrap="square" lIns="0" rIns="0" tIns="0" bIns="0" anchor="t">
            <a:noAutofit/>
          </a:bodyPr>
          <a:lstStyle/>
          <a:p>
            <a:pPr algn="r"/>
            <a:r>
              <a:rPr sz="1400" b="1">
                <a:solidFill>
                  <a:srgbClr val="526173"/>
                </a:solidFill>
              </a:rPr>
              <a:t>High risk</a:t>
            </a:r>
          </a:p>
        </p:txBody>
      </p:sp>
      <p:sp>
        <p:nvSpPr>
          <p:cNvPr id="9" name="TextBox 8"/>
          <p:cNvSpPr txBox="1"/>
          <p:nvPr/>
        </p:nvSpPr>
        <p:spPr>
          <a:xfrm>
            <a:off x="9507600" y="1684800"/>
            <a:ext cx="1872000" cy="342000"/>
          </a:xfrm>
          <a:prstGeom prst="rect">
            <a:avLst/>
          </a:prstGeom>
          <a:noFill/>
        </p:spPr>
        <p:txBody>
          <a:bodyPr wrap="square" lIns="0" rIns="0" tIns="0" bIns="0" anchor="t">
            <a:noAutofit/>
          </a:bodyPr>
          <a:lstStyle/>
          <a:p>
            <a:pPr algn="r"/>
            <a:r>
              <a:rPr sz="1400" b="1">
                <a:solidFill>
                  <a:srgbClr val="526173"/>
                </a:solidFill>
              </a:rPr>
              <a:t>Attack share</a:t>
            </a:r>
          </a:p>
        </p:txBody>
      </p:sp>
      <p:cxnSp>
        <p:nvCxnSpPr>
          <p:cNvPr id="10" name="Connector 9"/>
          <p:cNvCxnSpPr/>
          <p:nvPr/>
        </p:nvCxnSpPr>
        <p:spPr>
          <a:xfrm>
            <a:off x="687600" y="2034000"/>
            <a:ext cx="10800000" cy="0"/>
          </a:xfrm>
          <a:prstGeom prst="line">
            <a:avLst/>
          </a:prstGeom>
          <a:ln w="12700">
            <a:solidFill>
              <a:srgbClr val="17283C"/>
            </a:solidFill>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687600" y="2098800"/>
            <a:ext cx="4392000" cy="342000"/>
          </a:xfrm>
          <a:prstGeom prst="rect">
            <a:avLst/>
          </a:prstGeom>
          <a:noFill/>
        </p:spPr>
        <p:txBody>
          <a:bodyPr wrap="square" lIns="0" rIns="0" tIns="0" bIns="0" anchor="t">
            <a:noAutofit/>
          </a:bodyPr>
          <a:lstStyle/>
          <a:p>
            <a:pPr algn="l"/>
            <a:r>
              <a:rPr sz="1600" b="0">
                <a:solidFill>
                  <a:srgbClr val="17283C"/>
                </a:solidFill>
              </a:rPr>
              <a:t>1. Low, Low</a:t>
            </a:r>
          </a:p>
        </p:txBody>
      </p:sp>
      <p:sp>
        <p:nvSpPr>
          <p:cNvPr id="12" name="TextBox 11"/>
          <p:cNvSpPr txBox="1"/>
          <p:nvPr/>
        </p:nvSpPr>
        <p:spPr>
          <a:xfrm>
            <a:off x="5187600" y="2098800"/>
            <a:ext cx="1332000" cy="342000"/>
          </a:xfrm>
          <a:prstGeom prst="rect">
            <a:avLst/>
          </a:prstGeom>
          <a:noFill/>
        </p:spPr>
        <p:txBody>
          <a:bodyPr wrap="square" lIns="0" rIns="0" tIns="0" bIns="0" anchor="t">
            <a:noAutofit/>
          </a:bodyPr>
          <a:lstStyle/>
          <a:p>
            <a:pPr algn="r"/>
            <a:r>
              <a:rPr sz="1600" b="0">
                <a:solidFill>
                  <a:srgbClr val="17283C"/>
                </a:solidFill>
              </a:rPr>
              <a:t>0.03</a:t>
            </a:r>
          </a:p>
        </p:txBody>
      </p:sp>
      <p:sp>
        <p:nvSpPr>
          <p:cNvPr id="13" name="TextBox 12"/>
          <p:cNvSpPr txBox="1"/>
          <p:nvPr/>
        </p:nvSpPr>
        <p:spPr>
          <a:xfrm>
            <a:off x="6627600" y="2098800"/>
            <a:ext cx="1332000" cy="342000"/>
          </a:xfrm>
          <a:prstGeom prst="rect">
            <a:avLst/>
          </a:prstGeom>
          <a:noFill/>
        </p:spPr>
        <p:txBody>
          <a:bodyPr wrap="square" lIns="0" rIns="0" tIns="0" bIns="0" anchor="t">
            <a:noAutofit/>
          </a:bodyPr>
          <a:lstStyle/>
          <a:p>
            <a:pPr algn="r"/>
            <a:r>
              <a:rPr sz="1600" b="0">
                <a:solidFill>
                  <a:srgbClr val="17283C"/>
                </a:solidFill>
              </a:rPr>
              <a:t>0.97</a:t>
            </a:r>
          </a:p>
        </p:txBody>
      </p:sp>
      <p:sp>
        <p:nvSpPr>
          <p:cNvPr id="14" name="TextBox 13"/>
          <p:cNvSpPr txBox="1"/>
          <p:nvPr/>
        </p:nvSpPr>
        <p:spPr>
          <a:xfrm>
            <a:off x="8067600" y="2098800"/>
            <a:ext cx="1332000" cy="342000"/>
          </a:xfrm>
          <a:prstGeom prst="rect">
            <a:avLst/>
          </a:prstGeom>
          <a:noFill/>
        </p:spPr>
        <p:txBody>
          <a:bodyPr wrap="square" lIns="0" rIns="0" tIns="0" bIns="0" anchor="t">
            <a:noAutofit/>
          </a:bodyPr>
          <a:lstStyle/>
          <a:p>
            <a:pPr algn="r"/>
            <a:r>
              <a:rPr sz="1600" b="0">
                <a:solidFill>
                  <a:srgbClr val="17283C"/>
                </a:solidFill>
              </a:rPr>
              <a:t>0.00</a:t>
            </a:r>
          </a:p>
        </p:txBody>
      </p:sp>
      <p:sp>
        <p:nvSpPr>
          <p:cNvPr id="15" name="TextBox 14"/>
          <p:cNvSpPr txBox="1"/>
          <p:nvPr/>
        </p:nvSpPr>
        <p:spPr>
          <a:xfrm>
            <a:off x="9507600" y="2098800"/>
            <a:ext cx="1872000" cy="342000"/>
          </a:xfrm>
          <a:prstGeom prst="rect">
            <a:avLst/>
          </a:prstGeom>
          <a:noFill/>
        </p:spPr>
        <p:txBody>
          <a:bodyPr wrap="square" lIns="0" rIns="0" tIns="0" bIns="0" anchor="t">
            <a:noAutofit/>
          </a:bodyPr>
          <a:lstStyle/>
          <a:p>
            <a:pPr algn="r"/>
            <a:r>
              <a:rPr sz="1600" b="0">
                <a:solidFill>
                  <a:srgbClr val="17283C"/>
                </a:solidFill>
              </a:rPr>
              <a:t>0.49</a:t>
            </a:r>
          </a:p>
        </p:txBody>
      </p:sp>
      <p:cxnSp>
        <p:nvCxnSpPr>
          <p:cNvPr id="16" name="Connector 15"/>
          <p:cNvCxnSpPr/>
          <p:nvPr/>
        </p:nvCxnSpPr>
        <p:spPr>
          <a:xfrm>
            <a:off x="687600" y="2448000"/>
            <a:ext cx="10800000" cy="0"/>
          </a:xfrm>
          <a:prstGeom prst="line">
            <a:avLst/>
          </a:prstGeom>
          <a:ln w="9525">
            <a:solidFill>
              <a:srgbClr val="C9CDD2"/>
            </a:solidFill>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687600" y="2512800"/>
            <a:ext cx="4392000" cy="342000"/>
          </a:xfrm>
          <a:prstGeom prst="rect">
            <a:avLst/>
          </a:prstGeom>
          <a:noFill/>
        </p:spPr>
        <p:txBody>
          <a:bodyPr wrap="square" lIns="0" rIns="0" tIns="0" bIns="0" anchor="t">
            <a:noAutofit/>
          </a:bodyPr>
          <a:lstStyle/>
          <a:p>
            <a:pPr algn="l"/>
            <a:r>
              <a:rPr sz="1600" b="0">
                <a:solidFill>
                  <a:srgbClr val="17283C"/>
                </a:solidFill>
              </a:rPr>
              <a:t>2. Low, Medium</a:t>
            </a:r>
          </a:p>
        </p:txBody>
      </p:sp>
      <p:sp>
        <p:nvSpPr>
          <p:cNvPr id="18" name="TextBox 17"/>
          <p:cNvSpPr txBox="1"/>
          <p:nvPr/>
        </p:nvSpPr>
        <p:spPr>
          <a:xfrm>
            <a:off x="5187600" y="2512800"/>
            <a:ext cx="1332000" cy="342000"/>
          </a:xfrm>
          <a:prstGeom prst="rect">
            <a:avLst/>
          </a:prstGeom>
          <a:noFill/>
        </p:spPr>
        <p:txBody>
          <a:bodyPr wrap="square" lIns="0" rIns="0" tIns="0" bIns="0" anchor="t">
            <a:noAutofit/>
          </a:bodyPr>
          <a:lstStyle/>
          <a:p>
            <a:pPr algn="r"/>
            <a:r>
              <a:rPr sz="1600" b="0">
                <a:solidFill>
                  <a:srgbClr val="17283C"/>
                </a:solidFill>
              </a:rPr>
              <a:t>1.00</a:t>
            </a:r>
          </a:p>
        </p:txBody>
      </p:sp>
      <p:sp>
        <p:nvSpPr>
          <p:cNvPr id="19" name="TextBox 18"/>
          <p:cNvSpPr txBox="1"/>
          <p:nvPr/>
        </p:nvSpPr>
        <p:spPr>
          <a:xfrm>
            <a:off x="6627600" y="2512800"/>
            <a:ext cx="1332000" cy="342000"/>
          </a:xfrm>
          <a:prstGeom prst="rect">
            <a:avLst/>
          </a:prstGeom>
          <a:noFill/>
        </p:spPr>
        <p:txBody>
          <a:bodyPr wrap="square" lIns="0" rIns="0" tIns="0" bIns="0" anchor="t">
            <a:noAutofit/>
          </a:bodyPr>
          <a:lstStyle/>
          <a:p>
            <a:pPr algn="r"/>
            <a:r>
              <a:rPr sz="1600" b="0">
                <a:solidFill>
                  <a:srgbClr val="17283C"/>
                </a:solidFill>
              </a:rPr>
              <a:t>0.00</a:t>
            </a:r>
          </a:p>
        </p:txBody>
      </p:sp>
      <p:sp>
        <p:nvSpPr>
          <p:cNvPr id="20" name="TextBox 19"/>
          <p:cNvSpPr txBox="1"/>
          <p:nvPr/>
        </p:nvSpPr>
        <p:spPr>
          <a:xfrm>
            <a:off x="8067600" y="2512800"/>
            <a:ext cx="1332000" cy="342000"/>
          </a:xfrm>
          <a:prstGeom prst="rect">
            <a:avLst/>
          </a:prstGeom>
          <a:noFill/>
        </p:spPr>
        <p:txBody>
          <a:bodyPr wrap="square" lIns="0" rIns="0" tIns="0" bIns="0" anchor="t">
            <a:noAutofit/>
          </a:bodyPr>
          <a:lstStyle/>
          <a:p>
            <a:pPr algn="r"/>
            <a:r>
              <a:rPr sz="1600" b="0">
                <a:solidFill>
                  <a:srgbClr val="17283C"/>
                </a:solidFill>
              </a:rPr>
              <a:t>0.00</a:t>
            </a:r>
          </a:p>
        </p:txBody>
      </p:sp>
      <p:sp>
        <p:nvSpPr>
          <p:cNvPr id="21" name="TextBox 20"/>
          <p:cNvSpPr txBox="1"/>
          <p:nvPr/>
        </p:nvSpPr>
        <p:spPr>
          <a:xfrm>
            <a:off x="9507600" y="2512800"/>
            <a:ext cx="1872000" cy="342000"/>
          </a:xfrm>
          <a:prstGeom prst="rect">
            <a:avLst/>
          </a:prstGeom>
          <a:noFill/>
        </p:spPr>
        <p:txBody>
          <a:bodyPr wrap="square" lIns="0" rIns="0" tIns="0" bIns="0" anchor="t">
            <a:noAutofit/>
          </a:bodyPr>
          <a:lstStyle/>
          <a:p>
            <a:pPr algn="r"/>
            <a:r>
              <a:rPr sz="1600" b="0">
                <a:solidFill>
                  <a:srgbClr val="17283C"/>
                </a:solidFill>
              </a:rPr>
              <a:t>0.00</a:t>
            </a:r>
          </a:p>
        </p:txBody>
      </p:sp>
      <p:cxnSp>
        <p:nvCxnSpPr>
          <p:cNvPr id="22" name="Connector 21"/>
          <p:cNvCxnSpPr/>
          <p:nvPr/>
        </p:nvCxnSpPr>
        <p:spPr>
          <a:xfrm>
            <a:off x="687600" y="2861999"/>
            <a:ext cx="10800000" cy="0"/>
          </a:xfrm>
          <a:prstGeom prst="line">
            <a:avLst/>
          </a:prstGeom>
          <a:ln w="9525">
            <a:solidFill>
              <a:srgbClr val="C9CDD2"/>
            </a:solidFill>
          </a:ln>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687600" y="2926799"/>
            <a:ext cx="4392000" cy="342000"/>
          </a:xfrm>
          <a:prstGeom prst="rect">
            <a:avLst/>
          </a:prstGeom>
          <a:noFill/>
        </p:spPr>
        <p:txBody>
          <a:bodyPr wrap="square" lIns="0" rIns="0" tIns="0" bIns="0" anchor="t">
            <a:noAutofit/>
          </a:bodyPr>
          <a:lstStyle/>
          <a:p>
            <a:pPr algn="l"/>
            <a:r>
              <a:rPr sz="1600" b="0">
                <a:solidFill>
                  <a:srgbClr val="17283C"/>
                </a:solidFill>
              </a:rPr>
              <a:t>3. Low, High</a:t>
            </a:r>
          </a:p>
        </p:txBody>
      </p:sp>
      <p:sp>
        <p:nvSpPr>
          <p:cNvPr id="24" name="TextBox 23"/>
          <p:cNvSpPr txBox="1"/>
          <p:nvPr/>
        </p:nvSpPr>
        <p:spPr>
          <a:xfrm>
            <a:off x="5187600" y="2926799"/>
            <a:ext cx="1332000" cy="342000"/>
          </a:xfrm>
          <a:prstGeom prst="rect">
            <a:avLst/>
          </a:prstGeom>
          <a:noFill/>
        </p:spPr>
        <p:txBody>
          <a:bodyPr wrap="square" lIns="0" rIns="0" tIns="0" bIns="0" anchor="t">
            <a:noAutofit/>
          </a:bodyPr>
          <a:lstStyle/>
          <a:p>
            <a:pPr algn="r"/>
            <a:r>
              <a:rPr sz="1600" b="0">
                <a:solidFill>
                  <a:srgbClr val="17283C"/>
                </a:solidFill>
              </a:rPr>
              <a:t>1.00</a:t>
            </a:r>
          </a:p>
        </p:txBody>
      </p:sp>
      <p:sp>
        <p:nvSpPr>
          <p:cNvPr id="25" name="TextBox 24"/>
          <p:cNvSpPr txBox="1"/>
          <p:nvPr/>
        </p:nvSpPr>
        <p:spPr>
          <a:xfrm>
            <a:off x="6627600" y="2926799"/>
            <a:ext cx="1332000" cy="342000"/>
          </a:xfrm>
          <a:prstGeom prst="rect">
            <a:avLst/>
          </a:prstGeom>
          <a:noFill/>
        </p:spPr>
        <p:txBody>
          <a:bodyPr wrap="square" lIns="0" rIns="0" tIns="0" bIns="0" anchor="t">
            <a:noAutofit/>
          </a:bodyPr>
          <a:lstStyle/>
          <a:p>
            <a:pPr algn="r"/>
            <a:r>
              <a:rPr sz="1600" b="0">
                <a:solidFill>
                  <a:srgbClr val="17283C"/>
                </a:solidFill>
              </a:rPr>
              <a:t>0.00</a:t>
            </a:r>
          </a:p>
        </p:txBody>
      </p:sp>
      <p:sp>
        <p:nvSpPr>
          <p:cNvPr id="26" name="TextBox 25"/>
          <p:cNvSpPr txBox="1"/>
          <p:nvPr/>
        </p:nvSpPr>
        <p:spPr>
          <a:xfrm>
            <a:off x="8067600" y="2926799"/>
            <a:ext cx="1332000" cy="342000"/>
          </a:xfrm>
          <a:prstGeom prst="rect">
            <a:avLst/>
          </a:prstGeom>
          <a:noFill/>
        </p:spPr>
        <p:txBody>
          <a:bodyPr wrap="square" lIns="0" rIns="0" tIns="0" bIns="0" anchor="t">
            <a:noAutofit/>
          </a:bodyPr>
          <a:lstStyle/>
          <a:p>
            <a:pPr algn="r"/>
            <a:r>
              <a:rPr sz="1600" b="0">
                <a:solidFill>
                  <a:srgbClr val="17283C"/>
                </a:solidFill>
              </a:rPr>
              <a:t>0.00</a:t>
            </a:r>
          </a:p>
        </p:txBody>
      </p:sp>
      <p:sp>
        <p:nvSpPr>
          <p:cNvPr id="27" name="TextBox 26"/>
          <p:cNvSpPr txBox="1"/>
          <p:nvPr/>
        </p:nvSpPr>
        <p:spPr>
          <a:xfrm>
            <a:off x="9507600" y="2926799"/>
            <a:ext cx="1872000" cy="342000"/>
          </a:xfrm>
          <a:prstGeom prst="rect">
            <a:avLst/>
          </a:prstGeom>
          <a:noFill/>
        </p:spPr>
        <p:txBody>
          <a:bodyPr wrap="square" lIns="0" rIns="0" tIns="0" bIns="0" anchor="t">
            <a:noAutofit/>
          </a:bodyPr>
          <a:lstStyle/>
          <a:p>
            <a:pPr algn="r"/>
            <a:r>
              <a:rPr sz="1600" b="0">
                <a:solidFill>
                  <a:srgbClr val="17283C"/>
                </a:solidFill>
              </a:rPr>
              <a:t>0.00</a:t>
            </a:r>
          </a:p>
        </p:txBody>
      </p:sp>
      <p:cxnSp>
        <p:nvCxnSpPr>
          <p:cNvPr id="28" name="Connector 27"/>
          <p:cNvCxnSpPr/>
          <p:nvPr/>
        </p:nvCxnSpPr>
        <p:spPr>
          <a:xfrm>
            <a:off x="687600" y="3276000"/>
            <a:ext cx="10800000" cy="0"/>
          </a:xfrm>
          <a:prstGeom prst="line">
            <a:avLst/>
          </a:prstGeom>
          <a:ln w="9525">
            <a:solidFill>
              <a:srgbClr val="C9CDD2"/>
            </a:solidFill>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687600" y="3340800"/>
            <a:ext cx="4392000" cy="342000"/>
          </a:xfrm>
          <a:prstGeom prst="rect">
            <a:avLst/>
          </a:prstGeom>
          <a:noFill/>
        </p:spPr>
        <p:txBody>
          <a:bodyPr wrap="square" lIns="0" rIns="0" tIns="0" bIns="0" anchor="t">
            <a:noAutofit/>
          </a:bodyPr>
          <a:lstStyle/>
          <a:p>
            <a:pPr algn="l"/>
            <a:r>
              <a:rPr sz="1600" b="0">
                <a:solidFill>
                  <a:srgbClr val="17283C"/>
                </a:solidFill>
              </a:rPr>
              <a:t>4. Medium, Low</a:t>
            </a:r>
          </a:p>
        </p:txBody>
      </p:sp>
      <p:sp>
        <p:nvSpPr>
          <p:cNvPr id="30" name="TextBox 29"/>
          <p:cNvSpPr txBox="1"/>
          <p:nvPr/>
        </p:nvSpPr>
        <p:spPr>
          <a:xfrm>
            <a:off x="5187600" y="3340800"/>
            <a:ext cx="1332000" cy="342000"/>
          </a:xfrm>
          <a:prstGeom prst="rect">
            <a:avLst/>
          </a:prstGeom>
          <a:noFill/>
        </p:spPr>
        <p:txBody>
          <a:bodyPr wrap="square" lIns="0" rIns="0" tIns="0" bIns="0" anchor="t">
            <a:noAutofit/>
          </a:bodyPr>
          <a:lstStyle/>
          <a:p>
            <a:pPr algn="r"/>
            <a:r>
              <a:rPr sz="1600" b="0">
                <a:solidFill>
                  <a:srgbClr val="17283C"/>
                </a:solidFill>
              </a:rPr>
              <a:t>0.18</a:t>
            </a:r>
          </a:p>
        </p:txBody>
      </p:sp>
      <p:sp>
        <p:nvSpPr>
          <p:cNvPr id="31" name="TextBox 30"/>
          <p:cNvSpPr txBox="1"/>
          <p:nvPr/>
        </p:nvSpPr>
        <p:spPr>
          <a:xfrm>
            <a:off x="6627600" y="3340800"/>
            <a:ext cx="1332000" cy="342000"/>
          </a:xfrm>
          <a:prstGeom prst="rect">
            <a:avLst/>
          </a:prstGeom>
          <a:noFill/>
        </p:spPr>
        <p:txBody>
          <a:bodyPr wrap="square" lIns="0" rIns="0" tIns="0" bIns="0" anchor="t">
            <a:noAutofit/>
          </a:bodyPr>
          <a:lstStyle/>
          <a:p>
            <a:pPr algn="r"/>
            <a:r>
              <a:rPr sz="1600" b="0">
                <a:solidFill>
                  <a:srgbClr val="17283C"/>
                </a:solidFill>
              </a:rPr>
              <a:t>0.81</a:t>
            </a:r>
          </a:p>
        </p:txBody>
      </p:sp>
      <p:sp>
        <p:nvSpPr>
          <p:cNvPr id="32" name="TextBox 31"/>
          <p:cNvSpPr txBox="1"/>
          <p:nvPr/>
        </p:nvSpPr>
        <p:spPr>
          <a:xfrm>
            <a:off x="8067600" y="3340800"/>
            <a:ext cx="1332000" cy="342000"/>
          </a:xfrm>
          <a:prstGeom prst="rect">
            <a:avLst/>
          </a:prstGeom>
          <a:noFill/>
        </p:spPr>
        <p:txBody>
          <a:bodyPr wrap="square" lIns="0" rIns="0" tIns="0" bIns="0" anchor="t">
            <a:noAutofit/>
          </a:bodyPr>
          <a:lstStyle/>
          <a:p>
            <a:pPr algn="r"/>
            <a:r>
              <a:rPr sz="1600" b="0">
                <a:solidFill>
                  <a:srgbClr val="17283C"/>
                </a:solidFill>
              </a:rPr>
              <a:t>0.00</a:t>
            </a:r>
          </a:p>
        </p:txBody>
      </p:sp>
      <p:sp>
        <p:nvSpPr>
          <p:cNvPr id="33" name="TextBox 32"/>
          <p:cNvSpPr txBox="1"/>
          <p:nvPr/>
        </p:nvSpPr>
        <p:spPr>
          <a:xfrm>
            <a:off x="9507600" y="3340800"/>
            <a:ext cx="1872000" cy="342000"/>
          </a:xfrm>
          <a:prstGeom prst="rect">
            <a:avLst/>
          </a:prstGeom>
          <a:noFill/>
        </p:spPr>
        <p:txBody>
          <a:bodyPr wrap="square" lIns="0" rIns="0" tIns="0" bIns="0" anchor="t">
            <a:noAutofit/>
          </a:bodyPr>
          <a:lstStyle/>
          <a:p>
            <a:pPr algn="r"/>
            <a:r>
              <a:rPr sz="1600" b="0">
                <a:solidFill>
                  <a:srgbClr val="17283C"/>
                </a:solidFill>
              </a:rPr>
              <a:t>0.41</a:t>
            </a:r>
          </a:p>
        </p:txBody>
      </p:sp>
      <p:cxnSp>
        <p:nvCxnSpPr>
          <p:cNvPr id="34" name="Connector 33"/>
          <p:cNvCxnSpPr/>
          <p:nvPr/>
        </p:nvCxnSpPr>
        <p:spPr>
          <a:xfrm>
            <a:off x="687600" y="3690000"/>
            <a:ext cx="10800000" cy="0"/>
          </a:xfrm>
          <a:prstGeom prst="line">
            <a:avLst/>
          </a:prstGeom>
          <a:ln w="9525">
            <a:solidFill>
              <a:srgbClr val="C9CDD2"/>
            </a:solidFill>
          </a:ln>
        </p:spPr>
        <p:style>
          <a:lnRef idx="2">
            <a:schemeClr val="accent1"/>
          </a:lnRef>
          <a:fillRef idx="0">
            <a:schemeClr val="accent1"/>
          </a:fillRef>
          <a:effectRef idx="1">
            <a:schemeClr val="accent1"/>
          </a:effectRef>
          <a:fontRef idx="minor">
            <a:schemeClr val="tx1"/>
          </a:fontRef>
        </p:style>
      </p:cxnSp>
      <p:sp>
        <p:nvSpPr>
          <p:cNvPr id="35" name="TextBox 34"/>
          <p:cNvSpPr txBox="1"/>
          <p:nvPr/>
        </p:nvSpPr>
        <p:spPr>
          <a:xfrm>
            <a:off x="687600" y="3754800"/>
            <a:ext cx="4392000" cy="342000"/>
          </a:xfrm>
          <a:prstGeom prst="rect">
            <a:avLst/>
          </a:prstGeom>
          <a:noFill/>
        </p:spPr>
        <p:txBody>
          <a:bodyPr wrap="square" lIns="0" rIns="0" tIns="0" bIns="0" anchor="t">
            <a:noAutofit/>
          </a:bodyPr>
          <a:lstStyle/>
          <a:p>
            <a:pPr algn="l"/>
            <a:r>
              <a:rPr sz="1600" b="0">
                <a:solidFill>
                  <a:srgbClr val="17283C"/>
                </a:solidFill>
              </a:rPr>
              <a:t>5. Medium, Medium</a:t>
            </a:r>
          </a:p>
        </p:txBody>
      </p:sp>
      <p:sp>
        <p:nvSpPr>
          <p:cNvPr id="36" name="TextBox 35"/>
          <p:cNvSpPr txBox="1"/>
          <p:nvPr/>
        </p:nvSpPr>
        <p:spPr>
          <a:xfrm>
            <a:off x="5187600" y="3754800"/>
            <a:ext cx="1332000" cy="342000"/>
          </a:xfrm>
          <a:prstGeom prst="rect">
            <a:avLst/>
          </a:prstGeom>
          <a:noFill/>
        </p:spPr>
        <p:txBody>
          <a:bodyPr wrap="square" lIns="0" rIns="0" tIns="0" bIns="0" anchor="t">
            <a:noAutofit/>
          </a:bodyPr>
          <a:lstStyle/>
          <a:p>
            <a:pPr algn="r"/>
            <a:r>
              <a:rPr sz="1600" b="0">
                <a:solidFill>
                  <a:srgbClr val="17283C"/>
                </a:solidFill>
              </a:rPr>
              <a:t>0.94</a:t>
            </a:r>
          </a:p>
        </p:txBody>
      </p:sp>
      <p:sp>
        <p:nvSpPr>
          <p:cNvPr id="37" name="TextBox 36"/>
          <p:cNvSpPr txBox="1"/>
          <p:nvPr/>
        </p:nvSpPr>
        <p:spPr>
          <a:xfrm>
            <a:off x="6627600" y="3754800"/>
            <a:ext cx="1332000" cy="342000"/>
          </a:xfrm>
          <a:prstGeom prst="rect">
            <a:avLst/>
          </a:prstGeom>
          <a:noFill/>
        </p:spPr>
        <p:txBody>
          <a:bodyPr wrap="square" lIns="0" rIns="0" tIns="0" bIns="0" anchor="t">
            <a:noAutofit/>
          </a:bodyPr>
          <a:lstStyle/>
          <a:p>
            <a:pPr algn="r"/>
            <a:r>
              <a:rPr sz="1600" b="0">
                <a:solidFill>
                  <a:srgbClr val="17283C"/>
                </a:solidFill>
              </a:rPr>
              <a:t>0.06</a:t>
            </a:r>
          </a:p>
        </p:txBody>
      </p:sp>
      <p:sp>
        <p:nvSpPr>
          <p:cNvPr id="38" name="TextBox 37"/>
          <p:cNvSpPr txBox="1"/>
          <p:nvPr/>
        </p:nvSpPr>
        <p:spPr>
          <a:xfrm>
            <a:off x="8067600" y="3754800"/>
            <a:ext cx="1332000" cy="342000"/>
          </a:xfrm>
          <a:prstGeom prst="rect">
            <a:avLst/>
          </a:prstGeom>
          <a:noFill/>
        </p:spPr>
        <p:txBody>
          <a:bodyPr wrap="square" lIns="0" rIns="0" tIns="0" bIns="0" anchor="t">
            <a:noAutofit/>
          </a:bodyPr>
          <a:lstStyle/>
          <a:p>
            <a:pPr algn="r"/>
            <a:r>
              <a:rPr sz="1600" b="0">
                <a:solidFill>
                  <a:srgbClr val="17283C"/>
                </a:solidFill>
              </a:rPr>
              <a:t>0.00</a:t>
            </a:r>
          </a:p>
        </p:txBody>
      </p:sp>
      <p:sp>
        <p:nvSpPr>
          <p:cNvPr id="39" name="TextBox 38"/>
          <p:cNvSpPr txBox="1"/>
          <p:nvPr/>
        </p:nvSpPr>
        <p:spPr>
          <a:xfrm>
            <a:off x="9507600" y="3754800"/>
            <a:ext cx="1872000" cy="342000"/>
          </a:xfrm>
          <a:prstGeom prst="rect">
            <a:avLst/>
          </a:prstGeom>
          <a:noFill/>
        </p:spPr>
        <p:txBody>
          <a:bodyPr wrap="square" lIns="0" rIns="0" tIns="0" bIns="0" anchor="t">
            <a:noAutofit/>
          </a:bodyPr>
          <a:lstStyle/>
          <a:p>
            <a:pPr algn="r"/>
            <a:r>
              <a:rPr sz="1600" b="0">
                <a:solidFill>
                  <a:srgbClr val="17283C"/>
                </a:solidFill>
              </a:rPr>
              <a:t>0.03</a:t>
            </a:r>
          </a:p>
        </p:txBody>
      </p:sp>
      <p:cxnSp>
        <p:nvCxnSpPr>
          <p:cNvPr id="40" name="Connector 39"/>
          <p:cNvCxnSpPr/>
          <p:nvPr/>
        </p:nvCxnSpPr>
        <p:spPr>
          <a:xfrm>
            <a:off x="687600" y="4103999"/>
            <a:ext cx="10800000" cy="0"/>
          </a:xfrm>
          <a:prstGeom prst="line">
            <a:avLst/>
          </a:prstGeom>
          <a:ln w="9525">
            <a:solidFill>
              <a:srgbClr val="C9CDD2"/>
            </a:solidFill>
          </a:ln>
        </p:spPr>
        <p:style>
          <a:lnRef idx="2">
            <a:schemeClr val="accent1"/>
          </a:lnRef>
          <a:fillRef idx="0">
            <a:schemeClr val="accent1"/>
          </a:fillRef>
          <a:effectRef idx="1">
            <a:schemeClr val="accent1"/>
          </a:effectRef>
          <a:fontRef idx="minor">
            <a:schemeClr val="tx1"/>
          </a:fontRef>
        </p:style>
      </p:cxnSp>
      <p:sp>
        <p:nvSpPr>
          <p:cNvPr id="41" name="TextBox 40"/>
          <p:cNvSpPr txBox="1"/>
          <p:nvPr/>
        </p:nvSpPr>
        <p:spPr>
          <a:xfrm>
            <a:off x="687600" y="4168799"/>
            <a:ext cx="4392000" cy="342000"/>
          </a:xfrm>
          <a:prstGeom prst="rect">
            <a:avLst/>
          </a:prstGeom>
          <a:noFill/>
        </p:spPr>
        <p:txBody>
          <a:bodyPr wrap="square" lIns="0" rIns="0" tIns="0" bIns="0" anchor="t">
            <a:noAutofit/>
          </a:bodyPr>
          <a:lstStyle/>
          <a:p>
            <a:pPr algn="l"/>
            <a:r>
              <a:rPr sz="1600" b="0">
                <a:solidFill>
                  <a:srgbClr val="17283C"/>
                </a:solidFill>
              </a:rPr>
              <a:t>6. Medium, High</a:t>
            </a:r>
          </a:p>
        </p:txBody>
      </p:sp>
      <p:sp>
        <p:nvSpPr>
          <p:cNvPr id="42" name="TextBox 41"/>
          <p:cNvSpPr txBox="1"/>
          <p:nvPr/>
        </p:nvSpPr>
        <p:spPr>
          <a:xfrm>
            <a:off x="5187600" y="4168799"/>
            <a:ext cx="1332000" cy="342000"/>
          </a:xfrm>
          <a:prstGeom prst="rect">
            <a:avLst/>
          </a:prstGeom>
          <a:noFill/>
        </p:spPr>
        <p:txBody>
          <a:bodyPr wrap="square" lIns="0" rIns="0" tIns="0" bIns="0" anchor="t">
            <a:noAutofit/>
          </a:bodyPr>
          <a:lstStyle/>
          <a:p>
            <a:pPr algn="r"/>
            <a:r>
              <a:rPr sz="1600" b="0">
                <a:solidFill>
                  <a:srgbClr val="17283C"/>
                </a:solidFill>
              </a:rPr>
              <a:t>1.00</a:t>
            </a:r>
          </a:p>
        </p:txBody>
      </p:sp>
      <p:sp>
        <p:nvSpPr>
          <p:cNvPr id="43" name="TextBox 42"/>
          <p:cNvSpPr txBox="1"/>
          <p:nvPr/>
        </p:nvSpPr>
        <p:spPr>
          <a:xfrm>
            <a:off x="6627600" y="4168799"/>
            <a:ext cx="1332000" cy="342000"/>
          </a:xfrm>
          <a:prstGeom prst="rect">
            <a:avLst/>
          </a:prstGeom>
          <a:noFill/>
        </p:spPr>
        <p:txBody>
          <a:bodyPr wrap="square" lIns="0" rIns="0" tIns="0" bIns="0" anchor="t">
            <a:noAutofit/>
          </a:bodyPr>
          <a:lstStyle/>
          <a:p>
            <a:pPr algn="r"/>
            <a:r>
              <a:rPr sz="1600" b="0">
                <a:solidFill>
                  <a:srgbClr val="17283C"/>
                </a:solidFill>
              </a:rPr>
              <a:t>0.00</a:t>
            </a:r>
          </a:p>
        </p:txBody>
      </p:sp>
      <p:sp>
        <p:nvSpPr>
          <p:cNvPr id="44" name="TextBox 43"/>
          <p:cNvSpPr txBox="1"/>
          <p:nvPr/>
        </p:nvSpPr>
        <p:spPr>
          <a:xfrm>
            <a:off x="8067600" y="4168799"/>
            <a:ext cx="1332000" cy="342000"/>
          </a:xfrm>
          <a:prstGeom prst="rect">
            <a:avLst/>
          </a:prstGeom>
          <a:noFill/>
        </p:spPr>
        <p:txBody>
          <a:bodyPr wrap="square" lIns="0" rIns="0" tIns="0" bIns="0" anchor="t">
            <a:noAutofit/>
          </a:bodyPr>
          <a:lstStyle/>
          <a:p>
            <a:pPr algn="r"/>
            <a:r>
              <a:rPr sz="1600" b="0">
                <a:solidFill>
                  <a:srgbClr val="17283C"/>
                </a:solidFill>
              </a:rPr>
              <a:t>0.00</a:t>
            </a:r>
          </a:p>
        </p:txBody>
      </p:sp>
      <p:sp>
        <p:nvSpPr>
          <p:cNvPr id="45" name="TextBox 44"/>
          <p:cNvSpPr txBox="1"/>
          <p:nvPr/>
        </p:nvSpPr>
        <p:spPr>
          <a:xfrm>
            <a:off x="9507600" y="4168799"/>
            <a:ext cx="1872000" cy="342000"/>
          </a:xfrm>
          <a:prstGeom prst="rect">
            <a:avLst/>
          </a:prstGeom>
          <a:noFill/>
        </p:spPr>
        <p:txBody>
          <a:bodyPr wrap="square" lIns="0" rIns="0" tIns="0" bIns="0" anchor="t">
            <a:noAutofit/>
          </a:bodyPr>
          <a:lstStyle/>
          <a:p>
            <a:pPr algn="r"/>
            <a:r>
              <a:rPr sz="1600" b="0">
                <a:solidFill>
                  <a:srgbClr val="17283C"/>
                </a:solidFill>
              </a:rPr>
              <a:t>0.00</a:t>
            </a:r>
          </a:p>
        </p:txBody>
      </p:sp>
      <p:cxnSp>
        <p:nvCxnSpPr>
          <p:cNvPr id="46" name="Connector 45"/>
          <p:cNvCxnSpPr/>
          <p:nvPr/>
        </p:nvCxnSpPr>
        <p:spPr>
          <a:xfrm>
            <a:off x="687600" y="4518000"/>
            <a:ext cx="10800000" cy="0"/>
          </a:xfrm>
          <a:prstGeom prst="line">
            <a:avLst/>
          </a:prstGeom>
          <a:ln w="9525">
            <a:solidFill>
              <a:srgbClr val="C9CDD2"/>
            </a:solidFill>
          </a:ln>
        </p:spPr>
        <p:style>
          <a:lnRef idx="2">
            <a:schemeClr val="accent1"/>
          </a:lnRef>
          <a:fillRef idx="0">
            <a:schemeClr val="accent1"/>
          </a:fillRef>
          <a:effectRef idx="1">
            <a:schemeClr val="accent1"/>
          </a:effectRef>
          <a:fontRef idx="minor">
            <a:schemeClr val="tx1"/>
          </a:fontRef>
        </p:style>
      </p:cxnSp>
      <p:sp>
        <p:nvSpPr>
          <p:cNvPr id="47" name="TextBox 46"/>
          <p:cNvSpPr txBox="1"/>
          <p:nvPr/>
        </p:nvSpPr>
        <p:spPr>
          <a:xfrm>
            <a:off x="687600" y="4582799"/>
            <a:ext cx="4392000" cy="342000"/>
          </a:xfrm>
          <a:prstGeom prst="rect">
            <a:avLst/>
          </a:prstGeom>
          <a:noFill/>
        </p:spPr>
        <p:txBody>
          <a:bodyPr wrap="square" lIns="0" rIns="0" tIns="0" bIns="0" anchor="t">
            <a:noAutofit/>
          </a:bodyPr>
          <a:lstStyle/>
          <a:p>
            <a:pPr algn="l"/>
            <a:r>
              <a:rPr sz="1600" b="0">
                <a:solidFill>
                  <a:srgbClr val="17283C"/>
                </a:solidFill>
              </a:rPr>
              <a:t>7. High, Low</a:t>
            </a:r>
          </a:p>
        </p:txBody>
      </p:sp>
      <p:sp>
        <p:nvSpPr>
          <p:cNvPr id="48" name="TextBox 47"/>
          <p:cNvSpPr txBox="1"/>
          <p:nvPr/>
        </p:nvSpPr>
        <p:spPr>
          <a:xfrm>
            <a:off x="5187600" y="4582799"/>
            <a:ext cx="1332000" cy="342000"/>
          </a:xfrm>
          <a:prstGeom prst="rect">
            <a:avLst/>
          </a:prstGeom>
          <a:noFill/>
        </p:spPr>
        <p:txBody>
          <a:bodyPr wrap="square" lIns="0" rIns="0" tIns="0" bIns="0" anchor="t">
            <a:noAutofit/>
          </a:bodyPr>
          <a:lstStyle/>
          <a:p>
            <a:pPr algn="r"/>
            <a:r>
              <a:rPr sz="1600" b="0">
                <a:solidFill>
                  <a:srgbClr val="17283C"/>
                </a:solidFill>
              </a:rPr>
              <a:t>0.00</a:t>
            </a:r>
          </a:p>
        </p:txBody>
      </p:sp>
      <p:sp>
        <p:nvSpPr>
          <p:cNvPr id="49" name="TextBox 48"/>
          <p:cNvSpPr txBox="1"/>
          <p:nvPr/>
        </p:nvSpPr>
        <p:spPr>
          <a:xfrm>
            <a:off x="6627600" y="4582799"/>
            <a:ext cx="1332000" cy="342000"/>
          </a:xfrm>
          <a:prstGeom prst="rect">
            <a:avLst/>
          </a:prstGeom>
          <a:noFill/>
        </p:spPr>
        <p:txBody>
          <a:bodyPr wrap="square" lIns="0" rIns="0" tIns="0" bIns="0" anchor="t">
            <a:noAutofit/>
          </a:bodyPr>
          <a:lstStyle/>
          <a:p>
            <a:pPr algn="r"/>
            <a:r>
              <a:rPr sz="1600" b="0">
                <a:solidFill>
                  <a:srgbClr val="17283C"/>
                </a:solidFill>
              </a:rPr>
              <a:t>0.23</a:t>
            </a:r>
          </a:p>
        </p:txBody>
      </p:sp>
      <p:sp>
        <p:nvSpPr>
          <p:cNvPr id="50" name="TextBox 49"/>
          <p:cNvSpPr txBox="1"/>
          <p:nvPr/>
        </p:nvSpPr>
        <p:spPr>
          <a:xfrm>
            <a:off x="8067600" y="4582799"/>
            <a:ext cx="1332000" cy="342000"/>
          </a:xfrm>
          <a:prstGeom prst="rect">
            <a:avLst/>
          </a:prstGeom>
          <a:noFill/>
        </p:spPr>
        <p:txBody>
          <a:bodyPr wrap="square" lIns="0" rIns="0" tIns="0" bIns="0" anchor="t">
            <a:noAutofit/>
          </a:bodyPr>
          <a:lstStyle/>
          <a:p>
            <a:pPr algn="r"/>
            <a:r>
              <a:rPr sz="1600" b="0">
                <a:solidFill>
                  <a:srgbClr val="17283C"/>
                </a:solidFill>
              </a:rPr>
              <a:t>0.77</a:t>
            </a:r>
          </a:p>
        </p:txBody>
      </p:sp>
      <p:sp>
        <p:nvSpPr>
          <p:cNvPr id="51" name="TextBox 50"/>
          <p:cNvSpPr txBox="1"/>
          <p:nvPr/>
        </p:nvSpPr>
        <p:spPr>
          <a:xfrm>
            <a:off x="9507600" y="4582799"/>
            <a:ext cx="1872000" cy="342000"/>
          </a:xfrm>
          <a:prstGeom prst="rect">
            <a:avLst/>
          </a:prstGeom>
          <a:noFill/>
        </p:spPr>
        <p:txBody>
          <a:bodyPr wrap="square" lIns="0" rIns="0" tIns="0" bIns="0" anchor="t">
            <a:noAutofit/>
          </a:bodyPr>
          <a:lstStyle/>
          <a:p>
            <a:pPr algn="r"/>
            <a:r>
              <a:rPr sz="1600" b="0">
                <a:solidFill>
                  <a:srgbClr val="17283C"/>
                </a:solidFill>
              </a:rPr>
              <a:t>0.89</a:t>
            </a:r>
          </a:p>
        </p:txBody>
      </p:sp>
      <p:cxnSp>
        <p:nvCxnSpPr>
          <p:cNvPr id="52" name="Connector 51"/>
          <p:cNvCxnSpPr/>
          <p:nvPr/>
        </p:nvCxnSpPr>
        <p:spPr>
          <a:xfrm>
            <a:off x="687600" y="4932000"/>
            <a:ext cx="10800000" cy="0"/>
          </a:xfrm>
          <a:prstGeom prst="line">
            <a:avLst/>
          </a:prstGeom>
          <a:ln w="9525">
            <a:solidFill>
              <a:srgbClr val="C9CDD2"/>
            </a:solidFill>
          </a:ln>
        </p:spPr>
        <p:style>
          <a:lnRef idx="2">
            <a:schemeClr val="accent1"/>
          </a:lnRef>
          <a:fillRef idx="0">
            <a:schemeClr val="accent1"/>
          </a:fillRef>
          <a:effectRef idx="1">
            <a:schemeClr val="accent1"/>
          </a:effectRef>
          <a:fontRef idx="minor">
            <a:schemeClr val="tx1"/>
          </a:fontRef>
        </p:style>
      </p:cxnSp>
      <p:sp>
        <p:nvSpPr>
          <p:cNvPr id="53" name="TextBox 52"/>
          <p:cNvSpPr txBox="1"/>
          <p:nvPr/>
        </p:nvSpPr>
        <p:spPr>
          <a:xfrm>
            <a:off x="687600" y="4996800"/>
            <a:ext cx="4392000" cy="342000"/>
          </a:xfrm>
          <a:prstGeom prst="rect">
            <a:avLst/>
          </a:prstGeom>
          <a:noFill/>
        </p:spPr>
        <p:txBody>
          <a:bodyPr wrap="square" lIns="0" rIns="0" tIns="0" bIns="0" anchor="t">
            <a:noAutofit/>
          </a:bodyPr>
          <a:lstStyle/>
          <a:p>
            <a:pPr algn="l"/>
            <a:r>
              <a:rPr sz="1600" b="0">
                <a:solidFill>
                  <a:srgbClr val="17283C"/>
                </a:solidFill>
              </a:rPr>
              <a:t>8. High, Medium</a:t>
            </a:r>
          </a:p>
        </p:txBody>
      </p:sp>
      <p:sp>
        <p:nvSpPr>
          <p:cNvPr id="54" name="TextBox 53"/>
          <p:cNvSpPr txBox="1"/>
          <p:nvPr/>
        </p:nvSpPr>
        <p:spPr>
          <a:xfrm>
            <a:off x="5187600" y="4996800"/>
            <a:ext cx="1332000" cy="342000"/>
          </a:xfrm>
          <a:prstGeom prst="rect">
            <a:avLst/>
          </a:prstGeom>
          <a:noFill/>
        </p:spPr>
        <p:txBody>
          <a:bodyPr wrap="square" lIns="0" rIns="0" tIns="0" bIns="0" anchor="t">
            <a:noAutofit/>
          </a:bodyPr>
          <a:lstStyle/>
          <a:p>
            <a:pPr algn="r"/>
            <a:r>
              <a:rPr sz="1600" b="0">
                <a:solidFill>
                  <a:srgbClr val="17283C"/>
                </a:solidFill>
              </a:rPr>
              <a:t>0.05</a:t>
            </a:r>
          </a:p>
        </p:txBody>
      </p:sp>
      <p:sp>
        <p:nvSpPr>
          <p:cNvPr id="55" name="TextBox 54"/>
          <p:cNvSpPr txBox="1"/>
          <p:nvPr/>
        </p:nvSpPr>
        <p:spPr>
          <a:xfrm>
            <a:off x="6627600" y="4996800"/>
            <a:ext cx="1332000" cy="342000"/>
          </a:xfrm>
          <a:prstGeom prst="rect">
            <a:avLst/>
          </a:prstGeom>
          <a:noFill/>
        </p:spPr>
        <p:txBody>
          <a:bodyPr wrap="square" lIns="0" rIns="0" tIns="0" bIns="0" anchor="t">
            <a:noAutofit/>
          </a:bodyPr>
          <a:lstStyle/>
          <a:p>
            <a:pPr algn="r"/>
            <a:r>
              <a:rPr sz="1600" b="0">
                <a:solidFill>
                  <a:srgbClr val="17283C"/>
                </a:solidFill>
              </a:rPr>
              <a:t>0.94</a:t>
            </a:r>
          </a:p>
        </p:txBody>
      </p:sp>
      <p:sp>
        <p:nvSpPr>
          <p:cNvPr id="56" name="TextBox 55"/>
          <p:cNvSpPr txBox="1"/>
          <p:nvPr/>
        </p:nvSpPr>
        <p:spPr>
          <a:xfrm>
            <a:off x="8067600" y="4996800"/>
            <a:ext cx="1332000" cy="342000"/>
          </a:xfrm>
          <a:prstGeom prst="rect">
            <a:avLst/>
          </a:prstGeom>
          <a:noFill/>
        </p:spPr>
        <p:txBody>
          <a:bodyPr wrap="square" lIns="0" rIns="0" tIns="0" bIns="0" anchor="t">
            <a:noAutofit/>
          </a:bodyPr>
          <a:lstStyle/>
          <a:p>
            <a:pPr algn="r"/>
            <a:r>
              <a:rPr sz="1600" b="0">
                <a:solidFill>
                  <a:srgbClr val="17283C"/>
                </a:solidFill>
              </a:rPr>
              <a:t>0.00</a:t>
            </a:r>
          </a:p>
        </p:txBody>
      </p:sp>
      <p:sp>
        <p:nvSpPr>
          <p:cNvPr id="57" name="TextBox 56"/>
          <p:cNvSpPr txBox="1"/>
          <p:nvPr/>
        </p:nvSpPr>
        <p:spPr>
          <a:xfrm>
            <a:off x="9507600" y="4996800"/>
            <a:ext cx="1872000" cy="342000"/>
          </a:xfrm>
          <a:prstGeom prst="rect">
            <a:avLst/>
          </a:prstGeom>
          <a:noFill/>
        </p:spPr>
        <p:txBody>
          <a:bodyPr wrap="square" lIns="0" rIns="0" tIns="0" bIns="0" anchor="t">
            <a:noAutofit/>
          </a:bodyPr>
          <a:lstStyle/>
          <a:p>
            <a:pPr algn="r"/>
            <a:r>
              <a:rPr sz="1600" b="0">
                <a:solidFill>
                  <a:srgbClr val="17283C"/>
                </a:solidFill>
              </a:rPr>
              <a:t>0.47</a:t>
            </a:r>
          </a:p>
        </p:txBody>
      </p:sp>
      <p:cxnSp>
        <p:nvCxnSpPr>
          <p:cNvPr id="58" name="Connector 57"/>
          <p:cNvCxnSpPr/>
          <p:nvPr/>
        </p:nvCxnSpPr>
        <p:spPr>
          <a:xfrm>
            <a:off x="687600" y="5346000"/>
            <a:ext cx="10800000" cy="0"/>
          </a:xfrm>
          <a:prstGeom prst="line">
            <a:avLst/>
          </a:prstGeom>
          <a:ln w="9525">
            <a:solidFill>
              <a:srgbClr val="C9CDD2"/>
            </a:solidFill>
          </a:ln>
        </p:spPr>
        <p:style>
          <a:lnRef idx="2">
            <a:schemeClr val="accent1"/>
          </a:lnRef>
          <a:fillRef idx="0">
            <a:schemeClr val="accent1"/>
          </a:fillRef>
          <a:effectRef idx="1">
            <a:schemeClr val="accent1"/>
          </a:effectRef>
          <a:fontRef idx="minor">
            <a:schemeClr val="tx1"/>
          </a:fontRef>
        </p:style>
      </p:cxnSp>
      <p:sp>
        <p:nvSpPr>
          <p:cNvPr id="59" name="TextBox 58"/>
          <p:cNvSpPr txBox="1"/>
          <p:nvPr/>
        </p:nvSpPr>
        <p:spPr>
          <a:xfrm>
            <a:off x="687600" y="5410800"/>
            <a:ext cx="4392000" cy="342000"/>
          </a:xfrm>
          <a:prstGeom prst="rect">
            <a:avLst/>
          </a:prstGeom>
          <a:noFill/>
        </p:spPr>
        <p:txBody>
          <a:bodyPr wrap="square" lIns="0" rIns="0" tIns="0" bIns="0" anchor="t">
            <a:noAutofit/>
          </a:bodyPr>
          <a:lstStyle/>
          <a:p>
            <a:pPr algn="l"/>
            <a:r>
              <a:rPr sz="1600" b="0">
                <a:solidFill>
                  <a:srgbClr val="17283C"/>
                </a:solidFill>
              </a:rPr>
              <a:t>9. High, High</a:t>
            </a:r>
          </a:p>
        </p:txBody>
      </p:sp>
      <p:sp>
        <p:nvSpPr>
          <p:cNvPr id="60" name="TextBox 59"/>
          <p:cNvSpPr txBox="1"/>
          <p:nvPr/>
        </p:nvSpPr>
        <p:spPr>
          <a:xfrm>
            <a:off x="5187600" y="5410800"/>
            <a:ext cx="1332000" cy="342000"/>
          </a:xfrm>
          <a:prstGeom prst="rect">
            <a:avLst/>
          </a:prstGeom>
          <a:noFill/>
        </p:spPr>
        <p:txBody>
          <a:bodyPr wrap="square" lIns="0" rIns="0" tIns="0" bIns="0" anchor="t">
            <a:noAutofit/>
          </a:bodyPr>
          <a:lstStyle/>
          <a:p>
            <a:pPr algn="r"/>
            <a:r>
              <a:rPr sz="1600" b="0">
                <a:solidFill>
                  <a:srgbClr val="17283C"/>
                </a:solidFill>
              </a:rPr>
              <a:t>1.00</a:t>
            </a:r>
          </a:p>
        </p:txBody>
      </p:sp>
      <p:sp>
        <p:nvSpPr>
          <p:cNvPr id="61" name="TextBox 60"/>
          <p:cNvSpPr txBox="1"/>
          <p:nvPr/>
        </p:nvSpPr>
        <p:spPr>
          <a:xfrm>
            <a:off x="6627600" y="5410800"/>
            <a:ext cx="1332000" cy="342000"/>
          </a:xfrm>
          <a:prstGeom prst="rect">
            <a:avLst/>
          </a:prstGeom>
          <a:noFill/>
        </p:spPr>
        <p:txBody>
          <a:bodyPr wrap="square" lIns="0" rIns="0" tIns="0" bIns="0" anchor="t">
            <a:noAutofit/>
          </a:bodyPr>
          <a:lstStyle/>
          <a:p>
            <a:pPr algn="r"/>
            <a:r>
              <a:rPr sz="1600" b="0">
                <a:solidFill>
                  <a:srgbClr val="17283C"/>
                </a:solidFill>
              </a:rPr>
              <a:t>0.00</a:t>
            </a:r>
          </a:p>
        </p:txBody>
      </p:sp>
      <p:sp>
        <p:nvSpPr>
          <p:cNvPr id="62" name="TextBox 61"/>
          <p:cNvSpPr txBox="1"/>
          <p:nvPr/>
        </p:nvSpPr>
        <p:spPr>
          <a:xfrm>
            <a:off x="8067600" y="5410800"/>
            <a:ext cx="1332000" cy="342000"/>
          </a:xfrm>
          <a:prstGeom prst="rect">
            <a:avLst/>
          </a:prstGeom>
          <a:noFill/>
        </p:spPr>
        <p:txBody>
          <a:bodyPr wrap="square" lIns="0" rIns="0" tIns="0" bIns="0" anchor="t">
            <a:noAutofit/>
          </a:bodyPr>
          <a:lstStyle/>
          <a:p>
            <a:pPr algn="r"/>
            <a:r>
              <a:rPr sz="1600" b="0">
                <a:solidFill>
                  <a:srgbClr val="17283C"/>
                </a:solidFill>
              </a:rPr>
              <a:t>0.00</a:t>
            </a:r>
          </a:p>
        </p:txBody>
      </p:sp>
      <p:sp>
        <p:nvSpPr>
          <p:cNvPr id="63" name="TextBox 62"/>
          <p:cNvSpPr txBox="1"/>
          <p:nvPr/>
        </p:nvSpPr>
        <p:spPr>
          <a:xfrm>
            <a:off x="9507600" y="5410800"/>
            <a:ext cx="1872000" cy="342000"/>
          </a:xfrm>
          <a:prstGeom prst="rect">
            <a:avLst/>
          </a:prstGeom>
          <a:noFill/>
        </p:spPr>
        <p:txBody>
          <a:bodyPr wrap="square" lIns="0" rIns="0" tIns="0" bIns="0" anchor="t">
            <a:noAutofit/>
          </a:bodyPr>
          <a:lstStyle/>
          <a:p>
            <a:pPr algn="r"/>
            <a:r>
              <a:rPr sz="1600" b="0">
                <a:solidFill>
                  <a:srgbClr val="17283C"/>
                </a:solidFill>
              </a:rPr>
              <a:t>0.00</a:t>
            </a:r>
          </a:p>
        </p:txBody>
      </p:sp>
      <p:cxnSp>
        <p:nvCxnSpPr>
          <p:cNvPr id="64" name="Connector 63"/>
          <p:cNvCxnSpPr/>
          <p:nvPr/>
        </p:nvCxnSpPr>
        <p:spPr>
          <a:xfrm>
            <a:off x="687600" y="5760000"/>
            <a:ext cx="10800000" cy="0"/>
          </a:xfrm>
          <a:prstGeom prst="line">
            <a:avLst/>
          </a:prstGeom>
          <a:ln w="9525">
            <a:solidFill>
              <a:srgbClr val="C9CDD2"/>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5F3ED"/>
        </a:solidFill>
        <a:effectLst/>
      </p:bgPr>
    </p:bg>
    <p:spTree>
      <p:nvGrpSpPr>
        <p:cNvPr id="1" name=""/>
        <p:cNvGrpSpPr/>
        <p:nvPr/>
      </p:nvGrpSpPr>
      <p:grpSpPr/>
      <p:sp>
        <p:nvSpPr>
          <p:cNvPr id="2" name="TextBox 1"/>
          <p:cNvSpPr txBox="1"/>
          <p:nvPr/>
        </p:nvSpPr>
        <p:spPr>
          <a:xfrm>
            <a:off x="687600" y="525600"/>
            <a:ext cx="10821600" cy="954000"/>
          </a:xfrm>
          <a:prstGeom prst="rect">
            <a:avLst/>
          </a:prstGeom>
          <a:noFill/>
        </p:spPr>
        <p:txBody>
          <a:bodyPr wrap="square" lIns="0" rIns="0" tIns="0" bIns="0" anchor="t">
            <a:noAutofit/>
          </a:bodyPr>
          <a:lstStyle/>
          <a:p>
            <a:pPr algn="l"/>
            <a:r>
              <a:rPr sz="3300" b="1">
                <a:solidFill>
                  <a:srgbClr val="17283C"/>
                </a:solidFill>
              </a:rPr>
              <a:t>Backup: labels needed for the hidden attack</a:t>
            </a:r>
          </a:p>
        </p:txBody>
      </p:sp>
      <p:sp>
        <p:nvSpPr>
          <p:cNvPr id="3" name="TextBox 2"/>
          <p:cNvSpPr txBox="1"/>
          <p:nvPr/>
        </p:nvSpPr>
        <p:spPr>
          <a:xfrm>
            <a:off x="10785600" y="6256800"/>
            <a:ext cx="363600" cy="237600"/>
          </a:xfrm>
          <a:prstGeom prst="rect">
            <a:avLst/>
          </a:prstGeom>
          <a:noFill/>
        </p:spPr>
        <p:txBody>
          <a:bodyPr wrap="square" lIns="0" rIns="0" tIns="0" bIns="0" anchor="t">
            <a:noAutofit/>
          </a:bodyPr>
          <a:lstStyle/>
          <a:p>
            <a:pPr algn="r"/>
            <a:r>
              <a:rPr sz="1250" b="0">
                <a:solidFill>
                  <a:srgbClr val="526173"/>
                </a:solidFill>
              </a:rPr>
              <a:t>B4</a:t>
            </a:r>
          </a:p>
        </p:txBody>
      </p:sp>
      <p:sp>
        <p:nvSpPr>
          <p:cNvPr id="4" name="TextBox 3"/>
          <p:cNvSpPr txBox="1"/>
          <p:nvPr/>
        </p:nvSpPr>
        <p:spPr>
          <a:xfrm>
            <a:off x="687600" y="6210000"/>
            <a:ext cx="9864000" cy="334800"/>
          </a:xfrm>
          <a:prstGeom prst="rect">
            <a:avLst/>
          </a:prstGeom>
          <a:noFill/>
        </p:spPr>
        <p:txBody>
          <a:bodyPr wrap="square" lIns="0" rIns="0" tIns="0" bIns="0" anchor="t">
            <a:noAutofit/>
          </a:bodyPr>
          <a:lstStyle/>
          <a:p>
            <a:pPr algn="l"/>
            <a:r>
              <a:rPr sz="1200" b="0">
                <a:solidFill>
                  <a:srgbClr val="526173"/>
                </a:solidFill>
              </a:rPr>
              <a:t>Separate notebook of additional checks · results/figures/X4_learning_curve.png</a:t>
            </a:r>
          </a:p>
        </p:txBody>
      </p:sp>
      <p:sp>
        <p:nvSpPr>
          <p:cNvPr id="5" name="Rectangle 4"/>
          <p:cNvSpPr/>
          <p:nvPr/>
        </p:nvSpPr>
        <p:spPr>
          <a:xfrm>
            <a:off x="1090971" y="1620000"/>
            <a:ext cx="10014857" cy="424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X4_learning_curve.png"/>
          <p:cNvPicPr>
            <a:picLocks noChangeAspect="1"/>
          </p:cNvPicPr>
          <p:nvPr/>
        </p:nvPicPr>
        <p:blipFill>
          <a:blip r:embed="rId2"/>
          <a:stretch>
            <a:fillRect/>
          </a:stretch>
        </p:blipFill>
        <p:spPr>
          <a:xfrm>
            <a:off x="1126971" y="1655999"/>
            <a:ext cx="9942857" cy="4176000"/>
          </a:xfrm>
          <a:prstGeom prst="rect">
            <a:avLst/>
          </a:prstGeom>
        </p:spPr>
      </p:pic>
    </p:spTree>
  </p:cSld>
  <p:clrMapOvr>
    <a:masterClrMapping/>
  </p:clrMapOvr>
</p:sld>
</file>

<file path=ppt/theme/theme1.xml><?xml version="1.0" encoding="utf-8"?>
<a:theme xmlns:a="http://schemas.openxmlformats.org/drawingml/2006/main" name="View">
  <a:themeElements>
    <a:clrScheme name="View">
      <a:dk1>
        <a:srgbClr val="000000"/>
      </a:dk1>
      <a:lt1>
        <a:srgbClr val="FFFFFF"/>
      </a:lt1>
      <a:dk2>
        <a:srgbClr val="46464A"/>
      </a:dk2>
      <a:lt2>
        <a:srgbClr val="D6D3CC"/>
      </a:lt2>
      <a:accent1>
        <a:srgbClr val="6F6F74"/>
      </a:accent1>
      <a:accent2>
        <a:srgbClr val="92A9B9"/>
      </a:accent2>
      <a:accent3>
        <a:srgbClr val="A7B789"/>
      </a:accent3>
      <a:accent4>
        <a:srgbClr val="B9A489"/>
      </a:accent4>
      <a:accent5>
        <a:srgbClr val="8D6374"/>
      </a:accent5>
      <a:accent6>
        <a:srgbClr val="9B7362"/>
      </a:accent6>
      <a:hlink>
        <a:srgbClr val="67AABF"/>
      </a:hlink>
      <a:folHlink>
        <a:srgbClr val="ABAFA5"/>
      </a:folHlink>
    </a:clrScheme>
    <a:fontScheme name="View">
      <a:majorFont>
        <a:latin typeface="Century Schoolbook" panose="020406040505050203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Schoolbook" panose="020406040505050203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View">
      <a:fillStyleLst>
        <a:solidFill>
          <a:schemeClr val="phClr"/>
        </a:solidFill>
        <a:solidFill>
          <a:schemeClr val="phClr">
            <a:tint val="60000"/>
            <a:satMod val="120000"/>
          </a:schemeClr>
        </a:solidFill>
        <a:solidFill>
          <a:schemeClr val="phClr">
            <a:shade val="75000"/>
            <a:satMod val="160000"/>
          </a:schemeClr>
        </a:solidFill>
      </a:fillStyleLst>
      <a:lnStyleLst>
        <a:ln w="9525" cap="flat" cmpd="sng" algn="ctr">
          <a:solidFill>
            <a:schemeClr val="phClr"/>
          </a:solidFill>
          <a:prstDash val="solid"/>
        </a:ln>
        <a:ln w="13970" cap="flat" cmpd="sng" algn="ctr">
          <a:solidFill>
            <a:schemeClr val="phClr"/>
          </a:solidFill>
          <a:prstDash val="solid"/>
        </a:ln>
        <a:ln w="17145" cap="flat" cmpd="sng" algn="ctr">
          <a:solidFill>
            <a:schemeClr val="phClr">
              <a:shade val="95000"/>
              <a:alpha val="95000"/>
              <a:satMod val="150000"/>
            </a:schemeClr>
          </a:solidFill>
          <a:prstDash val="solid"/>
        </a:ln>
      </a:lnStyleLst>
      <a:effectStyleLst>
        <a:effectStyle>
          <a:effectLst/>
        </a:effectStyle>
        <a:effectStyle>
          <a:effectLst>
            <a:outerShdw blurRad="50800" dist="15240" dir="5400000" algn="tl" rotWithShape="0">
              <a:srgbClr val="000000">
                <a:alpha val="75000"/>
              </a:srgbClr>
            </a:outerShdw>
          </a:effectLst>
          <a:scene3d>
            <a:camera prst="orthographicFront">
              <a:rot lat="0" lon="0" rev="0"/>
            </a:camera>
            <a:lightRig rig="brightRoom" dir="tl"/>
          </a:scene3d>
          <a:sp3d contourW="9525" prstMaterial="flat">
            <a:bevelT w="0" h="0" prst="coolSlant"/>
            <a:contourClr>
              <a:schemeClr val="phClr">
                <a:shade val="35000"/>
                <a:satMod val="130000"/>
              </a:schemeClr>
            </a:contourClr>
          </a:sp3d>
        </a:effectStyle>
        <a:effectStyle>
          <a:effectLst>
            <a:outerShdw blurRad="76200" dist="25400" dir="5400000" algn="tl" rotWithShape="0">
              <a:srgbClr val="000000">
                <a:alpha val="55000"/>
              </a:srgbClr>
            </a:outerShdw>
          </a:effectLst>
          <a:scene3d>
            <a:camera prst="orthographicFront">
              <a:rot lat="0" lon="0" rev="0"/>
            </a:camera>
            <a:lightRig rig="brightRoom" dir="tl"/>
          </a:scene3d>
          <a:sp3d contourW="19050" prstMaterial="flat">
            <a:bevelT w="0" h="0" prst="coolSlant"/>
            <a:contourClr>
              <a:schemeClr val="phClr">
                <a:shade val="25000"/>
                <a:satMod val="140000"/>
              </a:schemeClr>
            </a:contourClr>
          </a:sp3d>
        </a:effectStyle>
      </a:effectStyleLst>
      <a:bgFillStyleLst>
        <a:solidFill>
          <a:schemeClr val="phClr"/>
        </a:solidFill>
        <a:solidFill>
          <a:schemeClr val="phClr">
            <a:tint val="95000"/>
            <a:satMod val="170000"/>
          </a:schemeClr>
        </a:solidFill>
        <a:gradFill rotWithShape="1">
          <a:gsLst>
            <a:gs pos="0">
              <a:schemeClr val="phClr">
                <a:tint val="94000"/>
                <a:shade val="98000"/>
                <a:satMod val="130000"/>
                <a:lumMod val="102000"/>
              </a:schemeClr>
            </a:gs>
            <a:gs pos="100000">
              <a:schemeClr val="phClr">
                <a:tint val="98000"/>
                <a:shade val="78000"/>
                <a:satMod val="140000"/>
              </a:schemeClr>
            </a:gs>
          </a:gsLst>
          <a:path path="circle">
            <a:fillToRect l="100000" t="100000" r="100000" b="100000"/>
          </a:path>
        </a:gradFill>
      </a:bgFillStyleLst>
    </a:fmtScheme>
  </a:themeElements>
  <a:objectDefaults/>
  <a:extraClrSchemeLst/>
  <a:extLst>
    <a:ext uri="{05A4C25C-085E-4340-85A3-A5531E510DB2}">
      <thm15:themeFamily xmlns:thm15="http://schemas.microsoft.com/office/thememl/2012/main" name="View" id="{BA0EB5A6-F2D4-4F82-977B-64ADEE4A2A69}" vid="{3969A8A2-35DB-4E3B-8885-16FD20568674}"/>
    </a:ext>
  </a:ext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Application>Microsoft Office PowerPoint</Application>
  <PresentationFormat>Widescreen</PresentationFormat>
  <Slides>12</Slides>
  <Notes>12</Notes>
  <HiddenSlides>0</HiddenSlides>
  <ScaleCrop>false</ScaleCrop>
  <HeadingPairs>
    <vt:vector size="4" baseType="variant">
      <vt:variant>
        <vt:lpstr>Theme</vt:lpstr>
      </vt:variant>
      <vt:variant>
        <vt:i4>1</vt:i4>
      </vt:variant>
      <vt:variant>
        <vt:lpstr>Slide Titles</vt:lpstr>
      </vt:variant>
      <vt:variant>
        <vt:i4>12</vt:i4>
      </vt:variant>
    </vt:vector>
  </HeadingPairs>
  <TitlesOfParts>
    <vt:vector size="13" baseType="lpstr">
      <vt:lpstr>View</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revision>2</cp:revision>
  <dcterms:created xsi:type="dcterms:W3CDTF">2026-10-09T15:24:26Z</dcterms:created>
  <dcterms:modified xsi:type="dcterms:W3CDTF">2026-10-11T12:37:32Z</dcterms:modified>
</cp:coreProperties>
</file>