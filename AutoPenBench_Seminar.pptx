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65D3A9-B56B-780A-36D4-B1817836BBE5}" v="10" dt="2026-10-10T18:58:06.712"/>
    <p1510:client id="{77F15680-6136-DC7C-E562-BAF3CA7692A8}" v="3" dt="2026-10-10T19:39:22.518"/>
    <p1510:client id="{A82CF7B8-DBCE-3986-E89B-14D6004098A4}" v="2" dt="2026-10-10T19:38:33.937"/>
    <p1510:client id="{DC4EF911-D3B8-3368-B620-103D7213DC70}" v="62" dt="2026-10-09T17:12:08.0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chart-data-snapshot-001_107_7636785A.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Autonomous</c:v>
          </c:tx>
          <c:spPr>
            <a:solidFill>
              <a:srgbClr val="245CC5"/>
            </a:solidFill>
          </c:spPr>
          <c:invertIfNegative val="1"/>
          <c:dLbls>
            <c:numFmt formatCode="0%" sourceLinked="0"/>
            <c:spPr>
              <a:noFill/>
              <a:ln>
                <a:noFill/>
              </a:ln>
              <a:effectLst/>
            </c:spPr>
            <c:txPr>
              <a:bodyPr anchorCtr="1"/>
              <a:lstStyle/>
              <a:p>
                <a:pPr>
                  <a:defRPr sz="1875" b="1">
                    <a:solidFill>
                      <a:srgbClr val="17283C"/>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Introductory tasks (22)</c:v>
                </c:pt>
                <c:pt idx="1">
                  <c:v>CVE tasks (11)</c:v>
                </c:pt>
                <c:pt idx="2">
                  <c:v>All tasks (33)</c:v>
                </c:pt>
              </c:strCache>
            </c:strRef>
          </c:cat>
          <c:val>
            <c:numRef>
              <c:f>'Chart Data'!$B$2:$B$4</c:f>
              <c:numCache>
                <c:formatCode>0%</c:formatCode>
                <c:ptCount val="3"/>
                <c:pt idx="0">
                  <c:v>0.27</c:v>
                </c:pt>
                <c:pt idx="1">
                  <c:v>0.09</c:v>
                </c:pt>
                <c:pt idx="2">
                  <c:v>0.21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C9C-428C-AA27-4CC65F4BD447}"/>
            </c:ext>
          </c:extLst>
        </c:ser>
        <c:ser>
          <c:idx val="1"/>
          <c:order val="1"/>
          <c:tx>
            <c:v>Human-assisted</c:v>
          </c:tx>
          <c:spPr>
            <a:solidFill>
              <a:srgbClr val="087F79"/>
            </a:solidFill>
          </c:spPr>
          <c:invertIfNegative val="1"/>
          <c:dLbls>
            <c:numFmt formatCode="0%" sourceLinked="0"/>
            <c:spPr>
              <a:noFill/>
              <a:ln>
                <a:noFill/>
              </a:ln>
              <a:effectLst/>
            </c:spPr>
            <c:txPr>
              <a:bodyPr anchorCtr="1"/>
              <a:lstStyle/>
              <a:p>
                <a:pPr>
                  <a:defRPr sz="1875" b="1">
                    <a:solidFill>
                      <a:srgbClr val="17283C"/>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Introductory tasks (22)</c:v>
                </c:pt>
                <c:pt idx="1">
                  <c:v>CVE tasks (11)</c:v>
                </c:pt>
                <c:pt idx="2">
                  <c:v>All tasks (33)</c:v>
                </c:pt>
              </c:strCache>
            </c:strRef>
          </c:cat>
          <c:val>
            <c:numRef>
              <c:f>'Chart Data'!$D$2:$D$4</c:f>
              <c:numCache>
                <c:formatCode>0%</c:formatCode>
                <c:ptCount val="3"/>
                <c:pt idx="0">
                  <c:v>0.59</c:v>
                </c:pt>
                <c:pt idx="1">
                  <c:v>0.73</c:v>
                </c:pt>
                <c:pt idx="2">
                  <c:v>0.64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C9C-428C-AA27-4CC65F4BD447}"/>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17283C"/>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CED5DD"/>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575">
                <a:solidFill>
                  <a:srgbClr val="526173"/>
                </a:solidFill>
                <a:latin typeface="Arial"/>
                <a:ea typeface="Arial"/>
                <a:cs typeface="Arial"/>
              </a:defRPr>
            </a:pPr>
            <a:endParaRPr lang="en-US"/>
          </a:p>
        </c:txPr>
        <c:crossAx val="48650112"/>
        <c:crosses val="autoZero"/>
        <c:crossBetween val="between"/>
        <c:majorUnit val="0.2"/>
      </c:valAx>
      <c:spPr>
        <a:solidFill>
          <a:srgbClr val="F5F3ED"/>
        </a:solidFill>
      </c:spPr>
    </c:plotArea>
    <c:legend>
      <c:legendPos val="b"/>
      <c:overlay val="0"/>
      <c:txPr>
        <a:bodyPr anchorCtr="1"/>
        <a:lstStyle/>
        <a:p>
          <a:pPr>
            <a:defRPr sz="1725">
              <a:solidFill>
                <a:srgbClr val="17283C"/>
              </a:solidFill>
              <a:latin typeface="Arial"/>
              <a:ea typeface="Arial"/>
              <a:cs typeface="Arial"/>
            </a:defRPr>
          </a:pPr>
          <a:endParaRPr lang="en-US"/>
        </a:p>
      </c:txPr>
    </c:legend>
    <c:plotVisOnly val="1"/>
    <c:dispBlanksAs val="zero"/>
    <c:showDLblsOverMax val="1"/>
  </c:chart>
  <c:spPr>
    <a:solidFill>
      <a:srgbClr val="F5F3ED"/>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35 seconds. Presenter: </a:t>
            </a:r>
            <a:r>
              <a:rPr lang="en-US"/>
              <a:t>Kirill.</a:t>
            </a:r>
            <a:endParaRPr/>
          </a:p>
          <a:p>
            <a:endParaRPr/>
          </a:p>
          <a:p>
            <a:r>
              <a:rPr lang="en-US" b="1"/>
              <a:t>Slide 1 — </a:t>
            </a:r>
            <a:r>
              <a:rPr lang="en-US" b="1" err="1"/>
              <a:t>AutoPenBench</a:t>
            </a:r>
            <a:endParaRPr lang="en-US" err="1"/>
          </a:p>
          <a:p>
            <a:r>
              <a:rPr lang="en-US"/>
              <a:t>Today we are presenting </a:t>
            </a:r>
            <a:r>
              <a:rPr lang="en-US" err="1"/>
              <a:t>AutoPenBench</a:t>
            </a:r>
            <a:r>
              <a:rPr lang="en-US"/>
              <a:t>, a research paper evaluating AI agents that perform vulnerability testing.</a:t>
            </a:r>
          </a:p>
          <a:p>
            <a:r>
              <a:rPr lang="en-US"/>
              <a:t>The central question is whether an agent can complete a security task independently, and how knowledgeable human guidance changes its performance.</a:t>
            </a:r>
          </a:p>
          <a:p>
            <a:r>
              <a:rPr lang="en-US" err="1"/>
              <a:t>AutoPenBench</a:t>
            </a:r>
            <a:r>
              <a:rPr lang="en-US"/>
              <a:t> provides a controlled environment and scoring framework. We will explain its tasks, agent architectures, experimental results, and limitations, then give our assessment of what the evidence supports.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 Presenter: </a:t>
            </a:r>
            <a:r>
              <a:rPr lang="en-US"/>
              <a:t>Stefanos.</a:t>
            </a:r>
            <a:endParaRPr/>
          </a:p>
          <a:p>
            <a:endParaRPr/>
          </a:p>
          <a:p>
            <a:r>
              <a:rPr lang="en-US" b="1"/>
              <a:t>Slide 2 — The problem: multistep security testing</a:t>
            </a:r>
            <a:endParaRPr lang="en-US">
              <a:solidFill>
                <a:srgbClr val="444444"/>
              </a:solidFill>
            </a:endParaRPr>
          </a:p>
          <a:p>
            <a:r>
              <a:rPr lang="en-US"/>
              <a:t>A language model can explain a vulnerability correctly and still fail to complete a practical security test.</a:t>
            </a:r>
            <a:endParaRPr lang="en-US">
              <a:solidFill>
                <a:srgbClr val="444444"/>
              </a:solidFill>
            </a:endParaRPr>
          </a:p>
          <a:p>
            <a:r>
              <a:rPr lang="en-US"/>
              <a:t>Testing requires several connected decisions. The agent must gather information, choose an action, execute it, interpret the response, and decide what comes next. An incorrect assumption can affect later steps.</a:t>
            </a:r>
            <a:endParaRPr lang="en-US">
              <a:solidFill>
                <a:srgbClr val="444444"/>
              </a:solidFill>
            </a:endParaRPr>
          </a:p>
          <a:p>
            <a:r>
              <a:rPr lang="en-US"/>
              <a:t>For example, identifying potentially vulnerable software helps only if the agent understands its configuration and acts appropriately.</a:t>
            </a:r>
            <a:endParaRPr lang="en-US">
              <a:solidFill>
                <a:srgbClr val="444444"/>
              </a:solidFill>
            </a:endParaRPr>
          </a:p>
          <a:p>
            <a:r>
              <a:rPr lang="en-US"/>
              <a:t>Researchers therefore need shared tasks with clear completion criteria. </a:t>
            </a:r>
            <a:r>
              <a:rPr lang="en-US" err="1"/>
              <a:t>AutoPenBench</a:t>
            </a:r>
            <a:r>
              <a:rPr lang="en-US"/>
              <a:t> addresses this evaluation problem by measuring task completion and identifying where execution breaks down.</a:t>
            </a:r>
            <a:endParaRPr lang="en-US">
              <a:solidFill>
                <a:srgbClr val="444444"/>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 Presenter: </a:t>
            </a:r>
            <a:r>
              <a:rPr lang="en-US"/>
              <a:t>Kirill.</a:t>
            </a:r>
            <a:endParaRPr/>
          </a:p>
          <a:p>
            <a:endParaRPr/>
          </a:p>
          <a:p>
            <a:r>
              <a:rPr lang="en-US" b="1"/>
              <a:t>Slide 3 — The benchmark: 33 executable tasks</a:t>
            </a:r>
            <a:endParaRPr lang="en-US" b="1">
              <a:solidFill>
                <a:srgbClr val="444444"/>
              </a:solidFill>
            </a:endParaRPr>
          </a:p>
          <a:p>
            <a:r>
              <a:rPr lang="en-US" err="1"/>
              <a:t>AutoPenBench</a:t>
            </a:r>
            <a:r>
              <a:rPr lang="en-US"/>
              <a:t> contains 33 tasks in two groups.</a:t>
            </a:r>
            <a:endParaRPr lang="en-US">
              <a:solidFill>
                <a:srgbClr val="444444"/>
              </a:solidFill>
            </a:endParaRPr>
          </a:p>
          <a:p>
            <a:r>
              <a:rPr lang="en-US"/>
              <a:t>The first contains 22 introductory tasks covering access control, web security, network security, and cryptography. These simpler exercises expose basic strengths and weaknesses.</a:t>
            </a:r>
            <a:endParaRPr lang="en-US">
              <a:solidFill>
                <a:srgbClr val="444444"/>
              </a:solidFill>
            </a:endParaRPr>
          </a:p>
          <a:p>
            <a:r>
              <a:rPr lang="en-US"/>
              <a:t>The second contains 11 tasks based on documented CVEs from 2014 to 2024. The authors select vulnerabilities with existing exploits available through the testing environment.</a:t>
            </a:r>
            <a:endParaRPr lang="en-US">
              <a:solidFill>
                <a:srgbClr val="444444"/>
              </a:solidFill>
            </a:endParaRPr>
          </a:p>
          <a:p>
            <a:r>
              <a:rPr lang="en-US"/>
              <a:t>“Real-world” needs careful interpretation. These vulnerabilities affected actual software, but the experiments reproduce them inside controlled containers.</a:t>
            </a:r>
            <a:endParaRPr lang="en-US">
              <a:solidFill>
                <a:srgbClr val="444444"/>
              </a:solidFill>
            </a:endParaRPr>
          </a:p>
          <a:p>
            <a:r>
              <a:rPr lang="en-US"/>
              <a:t>The data consists of executable systems, instructions, and evaluation milestones, rather than examples labelled malicious or benign.</a:t>
            </a:r>
            <a:endParaRPr lang="en-US">
              <a:solidFill>
                <a:srgbClr val="444444"/>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 Presenter: </a:t>
            </a:r>
            <a:r>
              <a:rPr lang="en-US"/>
              <a:t>Stefanos.</a:t>
            </a:r>
            <a:endParaRPr/>
          </a:p>
          <a:p>
            <a:endParaRPr/>
          </a:p>
          <a:p>
            <a:r>
              <a:rPr lang="en-US" b="1"/>
              <a:t>Slide 4 — The testing environment</a:t>
            </a:r>
            <a:endParaRPr lang="en-US">
              <a:solidFill>
                <a:srgbClr val="444444"/>
              </a:solidFill>
            </a:endParaRPr>
          </a:p>
          <a:p>
            <a:r>
              <a:rPr lang="en-US"/>
              <a:t>This diagram shows how the agent interacts with the benchmark.</a:t>
            </a:r>
            <a:endParaRPr lang="en-US">
              <a:solidFill>
                <a:srgbClr val="444444"/>
              </a:solidFill>
            </a:endParaRPr>
          </a:p>
          <a:p>
            <a:r>
              <a:rPr lang="en-US"/>
              <a:t>The language model generates decisions, while agent software connects them to tools. These tools operate through a Kali Linux workstation connected to vulnerable Docker containers.</a:t>
            </a:r>
            <a:endParaRPr lang="en-US">
              <a:solidFill>
                <a:srgbClr val="444444"/>
              </a:solidFill>
            </a:endParaRPr>
          </a:p>
          <a:p>
            <a:r>
              <a:rPr lang="en-US"/>
              <a:t>Containers help recreate comparable environments across experiments. MCP, or Model Context Protocol, provides the interface for establishing connections, executing commands, and submitting answers.</a:t>
            </a:r>
            <a:endParaRPr lang="en-US">
              <a:solidFill>
                <a:srgbClr val="444444"/>
              </a:solidFill>
            </a:endParaRPr>
          </a:p>
          <a:p>
            <a:r>
              <a:rPr lang="en-US"/>
              <a:t>After an action, tool output returns as an observation for the next decision.</a:t>
            </a:r>
            <a:endParaRPr lang="en-US">
              <a:solidFill>
                <a:srgbClr val="444444"/>
              </a:solidFill>
            </a:endParaRPr>
          </a:p>
          <a:p>
            <a:r>
              <a:rPr lang="en-US"/>
              <a:t>Successful completion requires the agent to supply a flag: a task-specific secret that provides concrete evidence that it reached the goal.</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65 seconds. Presenter: </a:t>
            </a:r>
            <a:r>
              <a:rPr lang="en-US"/>
              <a:t>Kirill.</a:t>
            </a:r>
            <a:endParaRPr/>
          </a:p>
          <a:p>
            <a:endParaRPr/>
          </a:p>
          <a:p>
            <a:r>
              <a:rPr lang="en-US" b="1"/>
              <a:t>Slide 5 — Autonomous agent: the decision loop</a:t>
            </a:r>
            <a:endParaRPr lang="en-US">
              <a:solidFill>
                <a:srgbClr val="444444"/>
              </a:solidFill>
            </a:endParaRPr>
          </a:p>
          <a:p>
            <a:r>
              <a:rPr lang="en-US"/>
              <a:t>The autonomous agent follows a repeated decision loop.</a:t>
            </a:r>
            <a:endParaRPr lang="en-US">
              <a:solidFill>
                <a:srgbClr val="444444"/>
              </a:solidFill>
            </a:endParaRPr>
          </a:p>
          <a:p>
            <a:r>
              <a:rPr lang="en-US"/>
              <a:t>First, it </a:t>
            </a:r>
            <a:r>
              <a:rPr lang="en-US" err="1"/>
              <a:t>summarises</a:t>
            </a:r>
            <a:r>
              <a:rPr lang="en-US"/>
              <a:t> its instructions and history to retain relevant information. Next, it reasons about the next step and generates an action. The system executes that action and returns the result.</a:t>
            </a:r>
            <a:endParaRPr lang="en-US">
              <a:solidFill>
                <a:srgbClr val="444444"/>
              </a:solidFill>
            </a:endParaRPr>
          </a:p>
          <a:p>
            <a:r>
              <a:rPr lang="en-US"/>
              <a:t>The authors separate reasoning from action generation because a sensible explanation does not always produce an appropriate tool request.</a:t>
            </a:r>
            <a:endParaRPr lang="en-US">
              <a:solidFill>
                <a:srgbClr val="444444"/>
              </a:solidFill>
            </a:endParaRPr>
          </a:p>
          <a:p>
            <a:r>
              <a:rPr lang="en-US"/>
              <a:t>If an action returns an error, the agent should revise its approach instead of repeating an unsuccessful action.</a:t>
            </a:r>
            <a:endParaRPr lang="en-US">
              <a:solidFill>
                <a:srgbClr val="444444"/>
              </a:solidFill>
            </a:endParaRPr>
          </a:p>
          <a:p>
            <a:r>
              <a:rPr lang="en-US"/>
              <a:t>It updates working memory and continues until it completes the task or exhausts the execution budget.</a:t>
            </a:r>
            <a:endParaRPr lang="en-US">
              <a:solidFill>
                <a:srgbClr val="444444"/>
              </a:solidFill>
            </a:endParaRPr>
          </a:p>
          <a:p>
            <a:r>
              <a:rPr lang="en-US"/>
              <a:t>A human supplies no intermediate subtasks. The agent must maintain the overall strategy itself.</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65 seconds. Presenter: </a:t>
            </a:r>
            <a:r>
              <a:rPr lang="en-US"/>
              <a:t>Stefanos.</a:t>
            </a:r>
            <a:endParaRPr/>
          </a:p>
          <a:p>
            <a:endParaRPr/>
          </a:p>
          <a:p>
            <a:r>
              <a:rPr lang="en-US" b="1"/>
              <a:t>Slide 6 — Human assistance changes the strategy</a:t>
            </a:r>
            <a:endParaRPr lang="en-US">
              <a:solidFill>
                <a:srgbClr val="444444"/>
              </a:solidFill>
            </a:endParaRPr>
          </a:p>
          <a:p>
            <a:r>
              <a:rPr lang="en-US"/>
              <a:t>The assisted architecture gives the human control over the overall strategy.</a:t>
            </a:r>
            <a:endParaRPr lang="en-US">
              <a:solidFill>
                <a:srgbClr val="444444"/>
              </a:solidFill>
            </a:endParaRPr>
          </a:p>
          <a:p>
            <a:r>
              <a:rPr lang="en-US"/>
              <a:t>The human divides the goal into subtasks. The agent chooses and executes actions within each subtask, then reports its results so the human can choose the next instruction.</a:t>
            </a:r>
            <a:endParaRPr lang="en-US">
              <a:solidFill>
                <a:srgbClr val="444444"/>
              </a:solidFill>
            </a:endParaRPr>
          </a:p>
          <a:p>
            <a:r>
              <a:rPr lang="en-US"/>
              <a:t>The system also resets working memory between subtasks and carries useful information forward through reports.</a:t>
            </a:r>
            <a:endParaRPr lang="en-US">
              <a:solidFill>
                <a:srgbClr val="444444"/>
              </a:solidFill>
            </a:endParaRPr>
          </a:p>
          <a:p>
            <a:r>
              <a:rPr lang="en-US"/>
              <a:t>An important assumption is that the human knows the vulnerabilities. The results therefore do not establish what inexperienced users would achieve.</a:t>
            </a:r>
            <a:endParaRPr lang="en-US">
              <a:solidFill>
                <a:srgbClr val="444444"/>
              </a:solidFill>
            </a:endParaRPr>
          </a:p>
          <a:p>
            <a:r>
              <a:rPr lang="en-US"/>
              <a:t>Human guidance and memory handling both change between architectures. We cannot attribute the improvement entirely to either factor. The experiment compares the complete workflows.</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 Presenter: </a:t>
            </a:r>
            <a:r>
              <a:rPr lang="en-US"/>
              <a:t>Kirill.</a:t>
            </a:r>
            <a:endParaRPr/>
          </a:p>
          <a:p>
            <a:endParaRPr/>
          </a:p>
          <a:p>
            <a:r>
              <a:rPr lang="en-US" b="1"/>
              <a:t>Slide 7 — Evaluation: success and partial progress</a:t>
            </a:r>
            <a:endParaRPr lang="en-US">
              <a:solidFill>
                <a:srgbClr val="444444"/>
              </a:solidFill>
            </a:endParaRPr>
          </a:p>
          <a:p>
            <a:r>
              <a:rPr lang="en-US"/>
              <a:t>The paper uses Success Rate and Progress Rate.</a:t>
            </a:r>
            <a:endParaRPr lang="en-US">
              <a:solidFill>
                <a:srgbClr val="444444"/>
              </a:solidFill>
            </a:endParaRPr>
          </a:p>
          <a:p>
            <a:r>
              <a:rPr lang="en-US"/>
              <a:t>Success Rate measures the fraction of completed tasks. The agent must deliver the required flag; claiming success is insufficient.</a:t>
            </a:r>
            <a:endParaRPr lang="en-US">
              <a:solidFill>
                <a:srgbClr val="444444"/>
              </a:solidFill>
            </a:endParaRPr>
          </a:p>
          <a:p>
            <a:r>
              <a:rPr lang="en-US"/>
              <a:t>Progress Rate describes intermediate progress on failed tasks. An agent might identify a weakness but fail to finish. That progress helps diagnose failure, but does not count as completion.</a:t>
            </a:r>
            <a:endParaRPr lang="en-US">
              <a:solidFill>
                <a:srgbClr val="444444"/>
              </a:solidFill>
            </a:endParaRPr>
          </a:p>
          <a:p>
            <a:r>
              <a:rPr lang="en-US"/>
              <a:t>The benchmark uses command milestones and broader stage milestones, with an LLM judge assessing intermediate progress.</a:t>
            </a:r>
            <a:endParaRPr lang="en-US">
              <a:solidFill>
                <a:srgbClr val="444444"/>
              </a:solidFill>
            </a:endParaRPr>
          </a:p>
          <a:p>
            <a:r>
              <a:rPr lang="en-US"/>
              <a:t>The main comparison uses an August 2024 GPT-4o version at temperature zero. Limits are 30 execution steps for introductory tasks and 60 for CVE tasks.</a:t>
            </a:r>
            <a:endParaRPr lang="en-US">
              <a:solidFill>
                <a:srgbClr val="444444"/>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70 seconds. Presenter: </a:t>
            </a:r>
            <a:r>
              <a:rPr lang="en-US"/>
              <a:t>Stefanos.</a:t>
            </a:r>
            <a:endParaRPr/>
          </a:p>
          <a:p>
            <a:endParaRPr/>
          </a:p>
          <a:p>
            <a:r>
              <a:rPr lang="en-US" b="1"/>
              <a:t>Slide 8 — Human assistance raises task success</a:t>
            </a:r>
            <a:endParaRPr lang="en-US">
              <a:solidFill>
                <a:srgbClr val="444444"/>
              </a:solidFill>
            </a:endParaRPr>
          </a:p>
          <a:p>
            <a:r>
              <a:rPr lang="en-US"/>
              <a:t>This chart shows the main results from Table 2.</a:t>
            </a:r>
            <a:endParaRPr lang="en-US">
              <a:solidFill>
                <a:srgbClr val="444444"/>
              </a:solidFill>
            </a:endParaRPr>
          </a:p>
          <a:p>
            <a:r>
              <a:rPr lang="en-US"/>
              <a:t>For introductory tasks, success rises from 27 percent autonomously to 59 percent with assistance.</a:t>
            </a:r>
            <a:endParaRPr lang="en-US">
              <a:solidFill>
                <a:srgbClr val="444444"/>
              </a:solidFill>
            </a:endParaRPr>
          </a:p>
          <a:p>
            <a:r>
              <a:rPr lang="en-US"/>
              <a:t>For CVE tasks, it rises from 9 percent to 73 percent.</a:t>
            </a:r>
            <a:endParaRPr lang="en-US">
              <a:solidFill>
                <a:srgbClr val="444444"/>
              </a:solidFill>
            </a:endParaRPr>
          </a:p>
          <a:p>
            <a:r>
              <a:rPr lang="en-US"/>
              <a:t>Across all 33 tasks, the reported rates are 21 percent and 64 percent, corresponding to seven and 21 completed tasks.</a:t>
            </a:r>
            <a:endParaRPr lang="en-US">
              <a:solidFill>
                <a:srgbClr val="444444"/>
              </a:solidFill>
            </a:endParaRPr>
          </a:p>
          <a:p>
            <a:r>
              <a:rPr lang="en-US"/>
              <a:t>Using the rounded rates, the difference is 43 percentage points, which differs from a relative percentage increase.</a:t>
            </a:r>
            <a:endParaRPr lang="en-US">
              <a:solidFill>
                <a:srgbClr val="444444"/>
              </a:solidFill>
            </a:endParaRPr>
          </a:p>
          <a:p>
            <a:r>
              <a:rPr lang="en-US"/>
              <a:t>The finding is that informed human guidance substantially improves completion under these conditions. However, assisted agents still fail tasks.</a:t>
            </a:r>
            <a:endParaRPr lang="en-US">
              <a:solidFill>
                <a:srgbClr val="444444"/>
              </a:solidFill>
            </a:endParaRPr>
          </a:p>
          <a:p>
            <a:r>
              <a:rPr lang="en-US"/>
              <a:t>These results describe particular models and architectures on this benchmark, rather than the capability of every AI agent.</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 Presenter: </a:t>
            </a:r>
            <a:r>
              <a:rPr lang="en-US"/>
              <a:t>Kirill.</a:t>
            </a:r>
            <a:endParaRPr/>
          </a:p>
          <a:p>
            <a:endParaRPr/>
          </a:p>
          <a:p>
            <a:r>
              <a:rPr lang="en-US" b="1"/>
              <a:t>Slide 9 — Where autonomous execution breaks down</a:t>
            </a:r>
            <a:endParaRPr lang="en-US">
              <a:solidFill>
                <a:srgbClr val="444444"/>
              </a:solidFill>
            </a:endParaRPr>
          </a:p>
          <a:p>
            <a:r>
              <a:rPr lang="en-US"/>
              <a:t>The paper investigates why agents fail.</a:t>
            </a:r>
            <a:endParaRPr lang="en-US">
              <a:solidFill>
                <a:srgbClr val="444444"/>
              </a:solidFill>
            </a:endParaRPr>
          </a:p>
          <a:p>
            <a:r>
              <a:rPr lang="en-US"/>
              <a:t>One issue is the gap between </a:t>
            </a:r>
            <a:r>
              <a:rPr lang="en-US" err="1"/>
              <a:t>recognising</a:t>
            </a:r>
            <a:r>
              <a:rPr lang="en-US"/>
              <a:t> a weakness and acting successfully. Identifying a problem does not guarantee an appropriate next action.</a:t>
            </a:r>
            <a:endParaRPr lang="en-US">
              <a:solidFill>
                <a:srgbClr val="444444"/>
              </a:solidFill>
            </a:endParaRPr>
          </a:p>
          <a:p>
            <a:r>
              <a:rPr lang="en-US"/>
              <a:t>Incorrect tool parameters and misunderstanding earlier observations can also interrupt execution.</a:t>
            </a:r>
            <a:endParaRPr lang="en-US">
              <a:solidFill>
                <a:srgbClr val="444444"/>
              </a:solidFill>
            </a:endParaRPr>
          </a:p>
          <a:p>
            <a:r>
              <a:rPr lang="en-US"/>
              <a:t>The authors repeat two tasks ten times and observe variation despite temperature zero.</a:t>
            </a:r>
            <a:endParaRPr lang="en-US">
              <a:solidFill>
                <a:srgbClr val="444444"/>
              </a:solidFill>
            </a:endParaRPr>
          </a:p>
          <a:p>
            <a:r>
              <a:rPr lang="en-US"/>
              <a:t>This matters because one successful demonstration shows possibility, while dependable performance requires repeated evidence.</a:t>
            </a:r>
            <a:endParaRPr lang="en-US">
              <a:solidFill>
                <a:srgbClr val="444444"/>
              </a:solidFill>
            </a:endParaRPr>
          </a:p>
          <a:p>
            <a:r>
              <a:rPr lang="en-US"/>
              <a:t>Milestones and execution histories help distinguish missing knowledge from problems with planning, tool use, or maintaining context.</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 Presenter: </a:t>
            </a:r>
            <a:r>
              <a:rPr lang="en-US"/>
              <a:t>Stefanos.</a:t>
            </a:r>
            <a:endParaRPr/>
          </a:p>
          <a:p>
            <a:endParaRPr lang="en-US"/>
          </a:p>
          <a:p>
            <a:r>
              <a:rPr lang="en-US" b="1"/>
              <a:t>Slide 10 — What the paper does well</a:t>
            </a:r>
            <a:endParaRPr lang="en-US">
              <a:solidFill>
                <a:srgbClr val="444444"/>
              </a:solidFill>
            </a:endParaRPr>
          </a:p>
          <a:p>
            <a:r>
              <a:rPr lang="en-US"/>
              <a:t>Our positive assessment focuses on the benchmark.</a:t>
            </a:r>
            <a:endParaRPr lang="en-US">
              <a:solidFill>
                <a:srgbClr val="444444"/>
              </a:solidFill>
            </a:endParaRPr>
          </a:p>
          <a:p>
            <a:r>
              <a:rPr lang="en-US"/>
              <a:t>Shared infrastructure makes comparisons more meaningful because agents face the same tasks and explicit goals.</a:t>
            </a:r>
            <a:endParaRPr lang="en-US">
              <a:solidFill>
                <a:srgbClr val="444444"/>
              </a:solidFill>
            </a:endParaRPr>
          </a:p>
          <a:p>
            <a:r>
              <a:rPr lang="en-US"/>
              <a:t>Intermediate milestones reveal where an agent stops progressing. This helps researchers improve its architecture rather than relying only on a final score.</a:t>
            </a:r>
            <a:endParaRPr lang="en-US">
              <a:solidFill>
                <a:srgbClr val="444444"/>
              </a:solidFill>
            </a:endParaRPr>
          </a:p>
          <a:p>
            <a:r>
              <a:rPr lang="en-US"/>
              <a:t>The autonomous-versus-assisted comparison also makes human involvement visible.</a:t>
            </a:r>
            <a:endParaRPr lang="en-US">
              <a:solidFill>
                <a:srgbClr val="444444"/>
              </a:solidFill>
            </a:endParaRPr>
          </a:p>
          <a:p>
            <a:r>
              <a:rPr lang="en-US"/>
              <a:t>The framework is open source and provides a method for adding tasks.</a:t>
            </a:r>
            <a:endParaRPr lang="en-US">
              <a:solidFill>
                <a:srgbClr val="444444"/>
              </a:solidFill>
            </a:endParaRPr>
          </a:p>
          <a:p>
            <a:r>
              <a:rPr lang="en-US"/>
              <a:t>These contributions remain useful despite poor autonomous performance. Research can advance by exposing weaknesses and supporting systematic experiments, without demonstrating a deployment-ready solution.</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65 seconds. Presenter: </a:t>
            </a:r>
            <a:r>
              <a:rPr lang="en-US"/>
              <a:t>Kirill.</a:t>
            </a:r>
            <a:endParaRPr/>
          </a:p>
          <a:p>
            <a:endParaRPr/>
          </a:p>
          <a:p>
            <a:r>
              <a:rPr lang="en-US" b="1"/>
              <a:t>Slide 11 — Limits on the conclusions</a:t>
            </a:r>
            <a:endParaRPr lang="en-US" b="1">
              <a:solidFill>
                <a:srgbClr val="444444"/>
              </a:solidFill>
            </a:endParaRPr>
          </a:p>
          <a:p>
            <a:r>
              <a:rPr lang="en-US"/>
              <a:t>Several limitations require caution.</a:t>
            </a:r>
            <a:endParaRPr lang="en-US">
              <a:solidFill>
                <a:srgbClr val="444444"/>
              </a:solidFill>
            </a:endParaRPr>
          </a:p>
          <a:p>
            <a:r>
              <a:rPr lang="en-US"/>
              <a:t>Known vulnerabilities and existing exploits provide limited evidence about unfamiliar weaknesses or zero-days. Isolated environments also omit much of the complexity of enterprise networks.</a:t>
            </a:r>
            <a:endParaRPr lang="en-US">
              <a:solidFill>
                <a:srgbClr val="444444"/>
              </a:solidFill>
            </a:endParaRPr>
          </a:p>
          <a:p>
            <a:r>
              <a:rPr lang="en-US"/>
              <a:t>The assisted architecture assumes knowledgeable guidance and changes memory handling. Further experiments would need to separate those effects.</a:t>
            </a:r>
            <a:endParaRPr lang="en-US">
              <a:solidFill>
                <a:srgbClr val="444444"/>
              </a:solidFill>
            </a:endParaRPr>
          </a:p>
          <a:p>
            <a:r>
              <a:rPr lang="en-US"/>
              <a:t>The main comparison uses one model and two architectures. The additional eight-model comparison covers only one task.</a:t>
            </a:r>
            <a:endParaRPr lang="en-US">
              <a:solidFill>
                <a:srgbClr val="444444"/>
              </a:solidFill>
            </a:endParaRPr>
          </a:p>
          <a:p>
            <a:r>
              <a:rPr lang="en-US"/>
              <a:t>Small categories make percentages sensitive to individual outcomes.</a:t>
            </a:r>
            <a:endParaRPr lang="en-US">
              <a:solidFill>
                <a:srgbClr val="444444"/>
              </a:solidFill>
            </a:endParaRPr>
          </a:p>
          <a:p>
            <a:r>
              <a:rPr lang="en-US"/>
              <a:t>Our proposed follow-up would repeat every task and independently vary guidance, expertise, and memory handling. It should also measure human effort and cost, since improved completion alone does not prove efficiency.</a:t>
            </a:r>
            <a:endParaRPr lang="en-US">
              <a:solidFill>
                <a:srgbClr val="444444"/>
              </a:solidFill>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65 seconds. Presenter: </a:t>
            </a:r>
            <a:r>
              <a:rPr lang="en-US"/>
              <a:t>Stefanos.</a:t>
            </a:r>
            <a:endParaRPr/>
          </a:p>
          <a:p>
            <a:endParaRPr/>
          </a:p>
          <a:p>
            <a:r>
              <a:rPr lang="en-US" b="1"/>
              <a:t>Slide 12 — Course connection and our verdict</a:t>
            </a:r>
            <a:endParaRPr lang="en-US">
              <a:solidFill>
                <a:srgbClr val="444444"/>
              </a:solidFill>
            </a:endParaRPr>
          </a:p>
          <a:p>
            <a:r>
              <a:rPr lang="en-US"/>
              <a:t>The course connection is the application of learned models to cybersecurity.</a:t>
            </a:r>
            <a:endParaRPr lang="en-US">
              <a:solidFill>
                <a:srgbClr val="444444"/>
              </a:solidFill>
            </a:endParaRPr>
          </a:p>
          <a:p>
            <a:r>
              <a:rPr lang="en-US"/>
              <a:t>The authors use pretrained language models for decisions and tool use during execution. Human task guidance does not necessarily update model parameters, and the evaluated workflow does not train agents through reinforcement learning.</a:t>
            </a:r>
            <a:endParaRPr lang="en-US">
              <a:solidFill>
                <a:srgbClr val="444444"/>
              </a:solidFill>
            </a:endParaRPr>
          </a:p>
          <a:p>
            <a:r>
              <a:rPr lang="en-US"/>
              <a:t>Reasoning text and action histories also connect to explainability. They help inspect the workflow, but plausible explanations do not prove faithful accounts of model decisions.</a:t>
            </a:r>
            <a:endParaRPr lang="en-US">
              <a:solidFill>
                <a:srgbClr val="444444"/>
              </a:solidFill>
            </a:endParaRPr>
          </a:p>
          <a:p>
            <a:r>
              <a:rPr lang="en-US"/>
              <a:t>Our proposed verdict is that </a:t>
            </a:r>
            <a:r>
              <a:rPr lang="en-US" err="1"/>
              <a:t>AutoPenBench</a:t>
            </a:r>
            <a:r>
              <a:rPr lang="en-US"/>
              <a:t> provides a useful evaluation framework.</a:t>
            </a:r>
            <a:endParaRPr lang="en-US">
              <a:solidFill>
                <a:srgbClr val="444444"/>
              </a:solidFill>
            </a:endParaRPr>
          </a:p>
          <a:p>
            <a:r>
              <a:rPr lang="en-US"/>
              <a:t>The tested autonomous agent remains unreliable, while informed guidance improves completion. Further work should examine </a:t>
            </a:r>
            <a:r>
              <a:rPr lang="en-US" err="1"/>
              <a:t>generalisation</a:t>
            </a:r>
            <a:r>
              <a:rPr lang="en-US"/>
              <a:t>, consistency, and the human expertise required.</a:t>
            </a:r>
            <a:endParaRPr lang="en-US">
              <a:solidFill>
                <a:srgbClr val="444444"/>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10/11/2026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882234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94063-DF36-4330-A365-08DA1FA5B7D6}"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42337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1706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FA4AC-08CC-42CE-BD01-C191750A04EC}" type="datetimeFigureOut">
              <a:rPr lang="en-US" dirty="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553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A7A723-92A7-435B-B681-F25B092FEFEB}" type="datetimeFigureOut">
              <a:rPr lang="en-US" dirty="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034260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704424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977083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860022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63152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33E54A-A8CA-48C1-9504-691B58049D29}"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3574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6C806-BBF7-471C-9527-881CE2266695}"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469961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10/11/2026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93634629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3C0074-06B5-4319-92D1-AB274D5D2584}"/>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AutoPenBench</a:t>
            </a:r>
          </a:p>
        </p:txBody>
      </p:sp>
      <p:sp>
        <p:nvSpPr>
          <p:cNvPr id="2" name="Rectangle 1">
            <a:extLst>
              <a:ext uri="{FF2B5EF4-FFF2-40B4-BE49-F238E27FC236}">
                <a16:creationId xmlns:a16="http://schemas.microsoft.com/office/drawing/2014/main" id="{9A42B17A-42B8-4065-856D-C090CC638C13}"/>
              </a:ext>
            </a:extLst>
          </p:cNvPr>
          <p:cNvSpPr>
            <a:spLocks noGrp="1"/>
          </p:cNvSpPr>
          <p:nvPr/>
        </p:nvSpPr>
        <p:spPr>
          <a:xfrm>
            <a:off x="10801350" y="6267450"/>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1</a:t>
            </a:r>
            <a:endParaRPr sz="1275" b="0">
              <a:solidFill>
                <a:srgbClr val="526173"/>
              </a:solidFill>
            </a:endParaRPr>
          </a:p>
        </p:txBody>
      </p:sp>
      <p:sp>
        <p:nvSpPr>
          <p:cNvPr id="4" name="Rectangle 3">
            <a:extLst>
              <a:ext uri="{FF2B5EF4-FFF2-40B4-BE49-F238E27FC236}">
                <a16:creationId xmlns:a16="http://schemas.microsoft.com/office/drawing/2014/main" id="{010E973F-0F14-4995-8704-E37D24AE36CD}"/>
              </a:ext>
            </a:extLst>
          </p:cNvPr>
          <p:cNvSpPr>
            <a:spLocks noGrp="1"/>
          </p:cNvSpPr>
          <p:nvPr/>
        </p:nvSpPr>
        <p:spPr>
          <a:xfrm>
            <a:off x="685800" y="1952625"/>
            <a:ext cx="10477500" cy="1524000"/>
          </a:xfrm>
          <a:prstGeom prst="rect">
            <a:avLst/>
          </a:prstGeom>
          <a:noFill/>
          <a:ln w="0">
            <a:noFill/>
          </a:ln>
        </p:spPr>
        <p:txBody>
          <a:bodyPr lIns="0" tIns="0" rIns="0" bIns="0" anchor="t"/>
          <a:lstStyle>
            <a:defPPr>
              <a:defRPr sz="3675" b="1">
                <a:solidFill>
                  <a:srgbClr val="17283C"/>
                </a:solidFill>
              </a:defRPr>
            </a:defPPr>
          </a:lstStyle>
          <a:p>
            <a:pPr>
              <a:defRPr sz="3675" b="1">
                <a:solidFill>
                  <a:srgbClr val="17283C"/>
                </a:solidFill>
              </a:defRPr>
            </a:pPr>
            <a:r>
              <a:rPr sz="3675" b="1">
                <a:solidFill>
                  <a:srgbClr val="17283C"/>
                </a:solidFill>
              </a:rPr>
              <a:t>A Vulnerability Testing Benchmark</a:t>
            </a:r>
          </a:p>
          <a:p>
            <a:pPr>
              <a:defRPr sz="3675" b="1">
                <a:solidFill>
                  <a:srgbClr val="17283C"/>
                </a:solidFill>
              </a:defRPr>
            </a:pPr>
            <a:r>
              <a:rPr sz="3675" b="1">
                <a:solidFill>
                  <a:srgbClr val="17283C"/>
                </a:solidFill>
              </a:rPr>
              <a:t>for Generative Agents</a:t>
            </a:r>
          </a:p>
        </p:txBody>
      </p:sp>
      <p:sp>
        <p:nvSpPr>
          <p:cNvPr id="5" name="Rectangle 4">
            <a:extLst>
              <a:ext uri="{FF2B5EF4-FFF2-40B4-BE49-F238E27FC236}">
                <a16:creationId xmlns:a16="http://schemas.microsoft.com/office/drawing/2014/main" id="{C7FC489F-695A-483A-B460-3E977C38531A}"/>
              </a:ext>
            </a:extLst>
          </p:cNvPr>
          <p:cNvSpPr>
            <a:spLocks noGrp="1"/>
          </p:cNvSpPr>
          <p:nvPr/>
        </p:nvSpPr>
        <p:spPr>
          <a:xfrm>
            <a:off x="685800" y="3905250"/>
            <a:ext cx="10001250" cy="666750"/>
          </a:xfrm>
          <a:prstGeom prst="rect">
            <a:avLst/>
          </a:prstGeom>
          <a:noFill/>
          <a:ln w="0">
            <a:noFill/>
          </a:ln>
        </p:spPr>
        <p:txBody>
          <a:bodyPr lIns="0" tIns="0" rIns="0" bIns="0" anchor="t"/>
          <a:lstStyle>
            <a:defPPr>
              <a:defRPr sz="2400" b="0">
                <a:solidFill>
                  <a:srgbClr val="245CC5"/>
                </a:solidFill>
              </a:defRPr>
            </a:defPPr>
          </a:lstStyle>
          <a:p>
            <a:pPr>
              <a:defRPr sz="2400" b="0">
                <a:solidFill>
                  <a:srgbClr val="245CC5"/>
                </a:solidFill>
              </a:defRPr>
            </a:pPr>
            <a:r>
              <a:rPr sz="2400" b="0">
                <a:solidFill>
                  <a:srgbClr val="245CC5"/>
                </a:solidFill>
              </a:rPr>
              <a:t>Can an AI agent complete a security test independently?</a:t>
            </a:r>
          </a:p>
        </p:txBody>
      </p:sp>
      <p:sp>
        <p:nvSpPr>
          <p:cNvPr id="6" name="Rectangle 5">
            <a:extLst>
              <a:ext uri="{FF2B5EF4-FFF2-40B4-BE49-F238E27FC236}">
                <a16:creationId xmlns:a16="http://schemas.microsoft.com/office/drawing/2014/main" id="{50618F48-5A64-4546-9EF9-BCCC22C99F43}"/>
              </a:ext>
            </a:extLst>
          </p:cNvPr>
          <p:cNvSpPr>
            <a:spLocks noGrp="1"/>
          </p:cNvSpPr>
          <p:nvPr/>
        </p:nvSpPr>
        <p:spPr>
          <a:xfrm>
            <a:off x="685800" y="4972050"/>
            <a:ext cx="10001250" cy="1009650"/>
          </a:xfrm>
          <a:prstGeom prst="rect">
            <a:avLst/>
          </a:prstGeom>
          <a:noFill/>
          <a:ln w="0">
            <a:noFill/>
          </a:ln>
        </p:spPr>
        <p:txBody>
          <a:bodyPr lIns="0" tIns="0" rIns="0" bIns="0" anchor="t"/>
          <a:lstStyle>
            <a:defPPr>
              <a:defRPr sz="1875" b="0">
                <a:solidFill>
                  <a:srgbClr val="526173"/>
                </a:solidFill>
              </a:defRPr>
            </a:defPPr>
          </a:lstStyle>
          <a:p>
            <a:pPr>
              <a:defRPr sz="1875" b="0">
                <a:solidFill>
                  <a:srgbClr val="526173"/>
                </a:solidFill>
              </a:defRPr>
            </a:pPr>
            <a:r>
              <a:rPr sz="1850" b="0">
                <a:solidFill>
                  <a:srgbClr val="526173"/>
                </a:solidFill>
              </a:rPr>
              <a:t>Group </a:t>
            </a:r>
            <a:r>
              <a:rPr lang="en-US" sz="1850">
                <a:solidFill>
                  <a:srgbClr val="526173"/>
                </a:solidFill>
              </a:rPr>
              <a:t>6:</a:t>
            </a:r>
            <a:br>
              <a:rPr lang="en-US" sz="1850">
                <a:solidFill>
                  <a:srgbClr val="526173"/>
                </a:solidFill>
              </a:rPr>
            </a:br>
            <a:r>
              <a:rPr lang="en-US" sz="1850">
                <a:ea typeface="+mn-lt"/>
                <a:cs typeface="+mn-lt"/>
              </a:rPr>
              <a:t>Stefanos Ntentopoulos</a:t>
            </a:r>
            <a:br>
              <a:rPr lang="en-US" sz="1850">
                <a:ea typeface="+mn-lt"/>
                <a:cs typeface="+mn-lt"/>
              </a:rPr>
            </a:br>
            <a:r>
              <a:rPr lang="en-US" sz="1850">
                <a:ea typeface="+mn-lt"/>
                <a:cs typeface="+mn-lt"/>
              </a:rPr>
              <a:t>Kirill Silchenko</a:t>
            </a:r>
          </a:p>
        </p:txBody>
      </p:sp>
    </p:spTree>
    <p:extLst>
      <p:ext uri="{BB962C8B-B14F-4D97-AF65-F5344CB8AC3E}">
        <p14:creationId xmlns:p14="http://schemas.microsoft.com/office/powerpoint/2010/main" val="301448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0F8ACA0-A19C-408C-B32B-43AD15352C51}"/>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The problem: multistep security testing</a:t>
            </a:r>
          </a:p>
        </p:txBody>
      </p:sp>
      <p:sp>
        <p:nvSpPr>
          <p:cNvPr id="2" name="Rectangle 1">
            <a:extLst>
              <a:ext uri="{FF2B5EF4-FFF2-40B4-BE49-F238E27FC236}">
                <a16:creationId xmlns:a16="http://schemas.microsoft.com/office/drawing/2014/main" id="{6AC4D5A9-3938-4973-A796-29FD0B46FCC7}"/>
              </a:ext>
            </a:extLst>
          </p:cNvPr>
          <p:cNvSpPr>
            <a:spLocks noGrp="1"/>
          </p:cNvSpPr>
          <p:nvPr/>
        </p:nvSpPr>
        <p:spPr>
          <a:xfrm>
            <a:off x="10698773"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2</a:t>
            </a:r>
            <a:endParaRPr sz="1275" b="0">
              <a:solidFill>
                <a:srgbClr val="526173"/>
              </a:solidFill>
            </a:endParaRPr>
          </a:p>
        </p:txBody>
      </p:sp>
      <p:sp>
        <p:nvSpPr>
          <p:cNvPr id="3" name="Rectangle 2">
            <a:extLst>
              <a:ext uri="{FF2B5EF4-FFF2-40B4-BE49-F238E27FC236}">
                <a16:creationId xmlns:a16="http://schemas.microsoft.com/office/drawing/2014/main" id="{1D80E01C-760B-4B40-A17D-E03838BD89A7}"/>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§1</a:t>
            </a:r>
          </a:p>
        </p:txBody>
      </p:sp>
      <p:sp>
        <p:nvSpPr>
          <p:cNvPr id="4" name="Rectangle 3">
            <a:extLst>
              <a:ext uri="{FF2B5EF4-FFF2-40B4-BE49-F238E27FC236}">
                <a16:creationId xmlns:a16="http://schemas.microsoft.com/office/drawing/2014/main" id="{8707EEC4-2B6C-42F7-A86F-E320366DA0B0}"/>
              </a:ext>
            </a:extLst>
          </p:cNvPr>
          <p:cNvSpPr>
            <a:spLocks noGrp="1"/>
          </p:cNvSpPr>
          <p:nvPr/>
        </p:nvSpPr>
        <p:spPr>
          <a:xfrm>
            <a:off x="685800" y="180975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Knowledge versus execution</a:t>
            </a:r>
          </a:p>
        </p:txBody>
      </p:sp>
      <p:sp>
        <p:nvSpPr>
          <p:cNvPr id="5" name="Rectangle 4">
            <a:extLst>
              <a:ext uri="{FF2B5EF4-FFF2-40B4-BE49-F238E27FC236}">
                <a16:creationId xmlns:a16="http://schemas.microsoft.com/office/drawing/2014/main" id="{B0A9BEDC-9F51-40AA-A140-F27F0026E2D6}"/>
              </a:ext>
            </a:extLst>
          </p:cNvPr>
          <p:cNvSpPr>
            <a:spLocks noGrp="1"/>
          </p:cNvSpPr>
          <p:nvPr/>
        </p:nvSpPr>
        <p:spPr>
          <a:xfrm>
            <a:off x="4476750" y="1809750"/>
            <a:ext cx="6484327"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Knowing a vulnerability does not guarantee successful action.</a:t>
            </a:r>
          </a:p>
        </p:txBody>
      </p:sp>
      <p:sp>
        <p:nvSpPr>
          <p:cNvPr id="6" name="Rectangle 5">
            <a:extLst>
              <a:ext uri="{FF2B5EF4-FFF2-40B4-BE49-F238E27FC236}">
                <a16:creationId xmlns:a16="http://schemas.microsoft.com/office/drawing/2014/main" id="{4B7DCAE8-562E-48DF-A667-DF5A8DBCEE33}"/>
              </a:ext>
            </a:extLst>
          </p:cNvPr>
          <p:cNvSpPr>
            <a:spLocks noGrp="1"/>
          </p:cNvSpPr>
          <p:nvPr/>
        </p:nvSpPr>
        <p:spPr>
          <a:xfrm>
            <a:off x="685800" y="3076575"/>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Feedback across steps</a:t>
            </a:r>
          </a:p>
        </p:txBody>
      </p:sp>
      <p:sp>
        <p:nvSpPr>
          <p:cNvPr id="7" name="Rectangle 6">
            <a:extLst>
              <a:ext uri="{FF2B5EF4-FFF2-40B4-BE49-F238E27FC236}">
                <a16:creationId xmlns:a16="http://schemas.microsoft.com/office/drawing/2014/main" id="{BCB7F3D6-FF98-4158-97DB-AF60E22AF09A}"/>
              </a:ext>
            </a:extLst>
          </p:cNvPr>
          <p:cNvSpPr>
            <a:spLocks noGrp="1"/>
          </p:cNvSpPr>
          <p:nvPr/>
        </p:nvSpPr>
        <p:spPr>
          <a:xfrm>
            <a:off x="4476750" y="3076575"/>
            <a:ext cx="6320204"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The agent must interpret output and revise its next action.</a:t>
            </a:r>
          </a:p>
        </p:txBody>
      </p:sp>
      <p:sp>
        <p:nvSpPr>
          <p:cNvPr id="8" name="Rectangle 7">
            <a:extLst>
              <a:ext uri="{FF2B5EF4-FFF2-40B4-BE49-F238E27FC236}">
                <a16:creationId xmlns:a16="http://schemas.microsoft.com/office/drawing/2014/main" id="{FA6AD7B6-A7C4-45A6-B69B-1B76D573E90D}"/>
              </a:ext>
            </a:extLst>
          </p:cNvPr>
          <p:cNvSpPr>
            <a:spLocks noGrp="1"/>
          </p:cNvSpPr>
          <p:nvPr/>
        </p:nvSpPr>
        <p:spPr>
          <a:xfrm>
            <a:off x="685800" y="434340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A common evaluation</a:t>
            </a:r>
          </a:p>
        </p:txBody>
      </p:sp>
      <p:sp>
        <p:nvSpPr>
          <p:cNvPr id="9" name="Rectangle 8">
            <a:extLst>
              <a:ext uri="{FF2B5EF4-FFF2-40B4-BE49-F238E27FC236}">
                <a16:creationId xmlns:a16="http://schemas.microsoft.com/office/drawing/2014/main" id="{7C2B228C-E94E-4384-BADA-5E195AA468F5}"/>
              </a:ext>
            </a:extLst>
          </p:cNvPr>
          <p:cNvSpPr>
            <a:spLocks noGrp="1"/>
          </p:cNvSpPr>
          <p:nvPr/>
        </p:nvSpPr>
        <p:spPr>
          <a:xfrm>
            <a:off x="4476750" y="4343400"/>
            <a:ext cx="622642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Comparable tasks reveal success and where execution breaks down.</a:t>
            </a:r>
          </a:p>
        </p:txBody>
      </p:sp>
    </p:spTree>
    <p:extLst>
      <p:ext uri="{BB962C8B-B14F-4D97-AF65-F5344CB8AC3E}">
        <p14:creationId xmlns:p14="http://schemas.microsoft.com/office/powerpoint/2010/main" val="1433776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DB64D5F-BFF4-4EAC-8D92-7B403AA87306}"/>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The benchmark: 33 executable tasks</a:t>
            </a:r>
          </a:p>
        </p:txBody>
      </p:sp>
      <p:sp>
        <p:nvSpPr>
          <p:cNvPr id="2" name="Rectangle 1">
            <a:extLst>
              <a:ext uri="{FF2B5EF4-FFF2-40B4-BE49-F238E27FC236}">
                <a16:creationId xmlns:a16="http://schemas.microsoft.com/office/drawing/2014/main" id="{0B905EB4-943E-4194-8FD8-74B9AE617CA9}"/>
              </a:ext>
            </a:extLst>
          </p:cNvPr>
          <p:cNvSpPr>
            <a:spLocks noGrp="1"/>
          </p:cNvSpPr>
          <p:nvPr/>
        </p:nvSpPr>
        <p:spPr>
          <a:xfrm>
            <a:off x="10792558"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3</a:t>
            </a:r>
            <a:endParaRPr sz="1275" b="0">
              <a:solidFill>
                <a:srgbClr val="526173"/>
              </a:solidFill>
            </a:endParaRPr>
          </a:p>
        </p:txBody>
      </p:sp>
      <p:sp>
        <p:nvSpPr>
          <p:cNvPr id="3" name="Rectangle 2">
            <a:extLst>
              <a:ext uri="{FF2B5EF4-FFF2-40B4-BE49-F238E27FC236}">
                <a16:creationId xmlns:a16="http://schemas.microsoft.com/office/drawing/2014/main" id="{2218EC15-5081-4F9A-BD09-416E7E728FCE}"/>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§2.2 and Appendix A</a:t>
            </a:r>
          </a:p>
        </p:txBody>
      </p:sp>
      <p:sp>
        <p:nvSpPr>
          <p:cNvPr id="4" name="Rectangle 3">
            <a:extLst>
              <a:ext uri="{FF2B5EF4-FFF2-40B4-BE49-F238E27FC236}">
                <a16:creationId xmlns:a16="http://schemas.microsoft.com/office/drawing/2014/main" id="{A7C4731A-7709-4F29-8753-3D2F837E5371}"/>
              </a:ext>
            </a:extLst>
          </p:cNvPr>
          <p:cNvSpPr>
            <a:spLocks noGrp="1"/>
          </p:cNvSpPr>
          <p:nvPr/>
        </p:nvSpPr>
        <p:spPr>
          <a:xfrm>
            <a:off x="685800" y="1762125"/>
            <a:ext cx="3429000" cy="1238250"/>
          </a:xfrm>
          <a:prstGeom prst="rect">
            <a:avLst/>
          </a:prstGeom>
          <a:noFill/>
          <a:ln w="0">
            <a:noFill/>
          </a:ln>
        </p:spPr>
        <p:txBody>
          <a:bodyPr lIns="0" tIns="0" rIns="0" bIns="0" anchor="t"/>
          <a:lstStyle>
            <a:defPPr>
              <a:defRPr sz="7500" b="1">
                <a:solidFill>
                  <a:srgbClr val="245CC5"/>
                </a:solidFill>
              </a:defRPr>
            </a:defPPr>
          </a:lstStyle>
          <a:p>
            <a:pPr>
              <a:defRPr sz="7500" b="1">
                <a:solidFill>
                  <a:srgbClr val="245CC5"/>
                </a:solidFill>
              </a:defRPr>
            </a:pPr>
            <a:r>
              <a:rPr sz="7500" b="1">
                <a:solidFill>
                  <a:srgbClr val="245CC5"/>
                </a:solidFill>
              </a:rPr>
              <a:t>22</a:t>
            </a:r>
          </a:p>
        </p:txBody>
      </p:sp>
      <p:sp>
        <p:nvSpPr>
          <p:cNvPr id="5" name="Rectangle 4">
            <a:extLst>
              <a:ext uri="{FF2B5EF4-FFF2-40B4-BE49-F238E27FC236}">
                <a16:creationId xmlns:a16="http://schemas.microsoft.com/office/drawing/2014/main" id="{556D3030-8223-4F41-9F1D-A8C9DFD145DF}"/>
              </a:ext>
            </a:extLst>
          </p:cNvPr>
          <p:cNvSpPr>
            <a:spLocks noGrp="1"/>
          </p:cNvSpPr>
          <p:nvPr/>
        </p:nvSpPr>
        <p:spPr>
          <a:xfrm>
            <a:off x="685800" y="3114675"/>
            <a:ext cx="4191000" cy="476250"/>
          </a:xfrm>
          <a:prstGeom prst="rect">
            <a:avLst/>
          </a:prstGeom>
          <a:noFill/>
          <a:ln w="0">
            <a:noFill/>
          </a:ln>
        </p:spPr>
        <p:txBody>
          <a:bodyPr lIns="0" tIns="0" rIns="0" bIns="0" anchor="t"/>
          <a:lstStyle>
            <a:defPPr>
              <a:defRPr sz="2400" b="1">
                <a:solidFill>
                  <a:srgbClr val="17283C"/>
                </a:solidFill>
              </a:defRPr>
            </a:defPPr>
          </a:lstStyle>
          <a:p>
            <a:pPr>
              <a:defRPr sz="2400" b="1">
                <a:solidFill>
                  <a:srgbClr val="17283C"/>
                </a:solidFill>
              </a:defRPr>
            </a:pPr>
            <a:r>
              <a:rPr sz="2400" b="1">
                <a:solidFill>
                  <a:srgbClr val="17283C"/>
                </a:solidFill>
              </a:rPr>
              <a:t>Introductory tasks</a:t>
            </a:r>
          </a:p>
        </p:txBody>
      </p:sp>
      <p:sp>
        <p:nvSpPr>
          <p:cNvPr id="6" name="Rectangle 5">
            <a:extLst>
              <a:ext uri="{FF2B5EF4-FFF2-40B4-BE49-F238E27FC236}">
                <a16:creationId xmlns:a16="http://schemas.microsoft.com/office/drawing/2014/main" id="{F767372F-5231-4369-BA8D-6810A2AD3158}"/>
              </a:ext>
            </a:extLst>
          </p:cNvPr>
          <p:cNvSpPr>
            <a:spLocks noGrp="1"/>
          </p:cNvSpPr>
          <p:nvPr/>
        </p:nvSpPr>
        <p:spPr>
          <a:xfrm>
            <a:off x="685800" y="3762375"/>
            <a:ext cx="4476750" cy="1095375"/>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Access control, web security,</a:t>
            </a:r>
          </a:p>
          <a:p>
            <a:pPr>
              <a:defRPr sz="2100" b="0">
                <a:solidFill>
                  <a:srgbClr val="17283C"/>
                </a:solidFill>
              </a:defRPr>
            </a:pPr>
            <a:r>
              <a:rPr sz="2100" b="0">
                <a:solidFill>
                  <a:srgbClr val="17283C"/>
                </a:solidFill>
              </a:rPr>
              <a:t>network security, cryptography</a:t>
            </a:r>
          </a:p>
        </p:txBody>
      </p:sp>
      <p:sp>
        <p:nvSpPr>
          <p:cNvPr id="7" name="Rectangle 6">
            <a:extLst>
              <a:ext uri="{FF2B5EF4-FFF2-40B4-BE49-F238E27FC236}">
                <a16:creationId xmlns:a16="http://schemas.microsoft.com/office/drawing/2014/main" id="{EABFCC00-3EA7-4A47-AA72-A436D4E7730D}"/>
              </a:ext>
            </a:extLst>
          </p:cNvPr>
          <p:cNvSpPr>
            <a:spLocks noGrp="1"/>
          </p:cNvSpPr>
          <p:nvPr/>
        </p:nvSpPr>
        <p:spPr>
          <a:xfrm>
            <a:off x="5780942" y="1762125"/>
            <a:ext cx="3429000" cy="1238250"/>
          </a:xfrm>
          <a:prstGeom prst="rect">
            <a:avLst/>
          </a:prstGeom>
          <a:noFill/>
          <a:ln w="0">
            <a:noFill/>
          </a:ln>
        </p:spPr>
        <p:txBody>
          <a:bodyPr lIns="0" tIns="0" rIns="0" bIns="0" anchor="t"/>
          <a:lstStyle>
            <a:defPPr>
              <a:defRPr sz="7500" b="1">
                <a:solidFill>
                  <a:srgbClr val="087F79"/>
                </a:solidFill>
              </a:defRPr>
            </a:defPPr>
          </a:lstStyle>
          <a:p>
            <a:pPr>
              <a:defRPr sz="7500" b="1">
                <a:solidFill>
                  <a:srgbClr val="087F79"/>
                </a:solidFill>
              </a:defRPr>
            </a:pPr>
            <a:r>
              <a:rPr sz="7500" b="1">
                <a:solidFill>
                  <a:srgbClr val="087F79"/>
                </a:solidFill>
              </a:rPr>
              <a:t>11</a:t>
            </a:r>
          </a:p>
        </p:txBody>
      </p:sp>
      <p:sp>
        <p:nvSpPr>
          <p:cNvPr id="8" name="Rectangle 7">
            <a:extLst>
              <a:ext uri="{FF2B5EF4-FFF2-40B4-BE49-F238E27FC236}">
                <a16:creationId xmlns:a16="http://schemas.microsoft.com/office/drawing/2014/main" id="{693D4F7A-E1EC-4479-B5EB-A96D3FCA47B5}"/>
              </a:ext>
            </a:extLst>
          </p:cNvPr>
          <p:cNvSpPr>
            <a:spLocks noGrp="1"/>
          </p:cNvSpPr>
          <p:nvPr/>
        </p:nvSpPr>
        <p:spPr>
          <a:xfrm>
            <a:off x="5780942" y="3114675"/>
            <a:ext cx="4953000" cy="476250"/>
          </a:xfrm>
          <a:prstGeom prst="rect">
            <a:avLst/>
          </a:prstGeom>
          <a:noFill/>
          <a:ln w="0">
            <a:noFill/>
          </a:ln>
        </p:spPr>
        <p:txBody>
          <a:bodyPr lIns="0" tIns="0" rIns="0" bIns="0" anchor="t"/>
          <a:lstStyle>
            <a:defPPr>
              <a:defRPr sz="2400" b="1">
                <a:solidFill>
                  <a:srgbClr val="17283C"/>
                </a:solidFill>
              </a:defRPr>
            </a:defPPr>
          </a:lstStyle>
          <a:p>
            <a:pPr>
              <a:defRPr sz="2400" b="1">
                <a:solidFill>
                  <a:srgbClr val="17283C"/>
                </a:solidFill>
              </a:defRPr>
            </a:pPr>
            <a:r>
              <a:rPr sz="2400" b="1">
                <a:solidFill>
                  <a:srgbClr val="17283C"/>
                </a:solidFill>
              </a:rPr>
              <a:t>Documented CVE tasks</a:t>
            </a:r>
          </a:p>
        </p:txBody>
      </p:sp>
      <p:sp>
        <p:nvSpPr>
          <p:cNvPr id="9" name="Rectangle 8">
            <a:extLst>
              <a:ext uri="{FF2B5EF4-FFF2-40B4-BE49-F238E27FC236}">
                <a16:creationId xmlns:a16="http://schemas.microsoft.com/office/drawing/2014/main" id="{6D07B887-7EE8-43DD-B6D5-E0A495281318}"/>
              </a:ext>
            </a:extLst>
          </p:cNvPr>
          <p:cNvSpPr>
            <a:spLocks noGrp="1"/>
          </p:cNvSpPr>
          <p:nvPr/>
        </p:nvSpPr>
        <p:spPr>
          <a:xfrm>
            <a:off x="5780942" y="3762375"/>
            <a:ext cx="5191125" cy="1095375"/>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Vulnerabilities from 2014–2024</a:t>
            </a:r>
          </a:p>
          <a:p>
            <a:pPr>
              <a:defRPr sz="2100" b="0">
                <a:solidFill>
                  <a:srgbClr val="17283C"/>
                </a:solidFill>
              </a:defRPr>
            </a:pPr>
            <a:r>
              <a:rPr sz="2100" b="0">
                <a:solidFill>
                  <a:srgbClr val="17283C"/>
                </a:solidFill>
              </a:rPr>
              <a:t>Existing exploits available in Kali Linux</a:t>
            </a:r>
          </a:p>
        </p:txBody>
      </p:sp>
      <p:sp>
        <p:nvSpPr>
          <p:cNvPr id="10" name="Rectangle 9">
            <a:extLst>
              <a:ext uri="{FF2B5EF4-FFF2-40B4-BE49-F238E27FC236}">
                <a16:creationId xmlns:a16="http://schemas.microsoft.com/office/drawing/2014/main" id="{7BD90D9F-A6D3-4C7A-A6C1-1EBB4441B563}"/>
              </a:ext>
            </a:extLst>
          </p:cNvPr>
          <p:cNvSpPr>
            <a:spLocks noGrp="1"/>
          </p:cNvSpPr>
          <p:nvPr/>
        </p:nvSpPr>
        <p:spPr>
          <a:xfrm>
            <a:off x="685800" y="5381625"/>
            <a:ext cx="10763250" cy="476250"/>
          </a:xfrm>
          <a:prstGeom prst="rect">
            <a:avLst/>
          </a:prstGeom>
          <a:noFill/>
          <a:ln w="0">
            <a:noFill/>
          </a:ln>
        </p:spPr>
        <p:txBody>
          <a:bodyPr lIns="0" tIns="0" rIns="0" bIns="0" anchor="t"/>
          <a:lstStyle>
            <a:defPPr>
              <a:defRPr sz="1875" b="0">
                <a:solidFill>
                  <a:srgbClr val="526173"/>
                </a:solidFill>
              </a:defRPr>
            </a:defPPr>
          </a:lstStyle>
          <a:p>
            <a:pPr>
              <a:defRPr sz="1875" b="0">
                <a:solidFill>
                  <a:srgbClr val="526173"/>
                </a:solidFill>
              </a:defRPr>
            </a:pPr>
            <a:r>
              <a:rPr sz="1875" b="0">
                <a:solidFill>
                  <a:srgbClr val="526173"/>
                </a:solidFill>
              </a:rPr>
              <a:t>“Real-world” CVEs run inside controlled benchmark environments.</a:t>
            </a:r>
          </a:p>
        </p:txBody>
      </p:sp>
    </p:spTree>
    <p:extLst>
      <p:ext uri="{BB962C8B-B14F-4D97-AF65-F5344CB8AC3E}">
        <p14:creationId xmlns:p14="http://schemas.microsoft.com/office/powerpoint/2010/main" val="1426190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7D36EDF2-190B-490E-A59E-CDA27C63FC16}"/>
              </a:ext>
            </a:extLst>
          </p:cNvPr>
          <p:cNvCxnSpPr>
            <a:stCxn id="5" idx="3"/>
            <a:endCxn id="6" idx="1"/>
          </p:cNvCxnSpPr>
          <p:nvPr/>
        </p:nvCxnSpPr>
        <p:spPr>
          <a:xfrm>
            <a:off x="6810375" y="2786063"/>
            <a:ext cx="834537" cy="11723"/>
          </a:xfrm>
          <a:prstGeom prst="straightConnector1">
            <a:avLst/>
          </a:prstGeom>
          <a:ln w="19050">
            <a:solidFill>
              <a:srgbClr val="245CC5"/>
            </a:solidFill>
            <a:tailEnd type="arrow" w="med" len="med"/>
          </a:ln>
        </p:spPr>
      </p:cxnSp>
      <p:cxnSp>
        <p:nvCxnSpPr>
          <p:cNvPr id="7" name="Straight Arrow Connector 6">
            <a:extLst>
              <a:ext uri="{FF2B5EF4-FFF2-40B4-BE49-F238E27FC236}">
                <a16:creationId xmlns:a16="http://schemas.microsoft.com/office/drawing/2014/main" id="{D8E08906-7B4E-4F15-87BD-24B3F1B0EB54}"/>
              </a:ext>
            </a:extLst>
          </p:cNvPr>
          <p:cNvCxnSpPr>
            <a:stCxn id="4" idx="3"/>
            <a:endCxn id="5" idx="1"/>
          </p:cNvCxnSpPr>
          <p:nvPr/>
        </p:nvCxnSpPr>
        <p:spPr>
          <a:xfrm flipV="1">
            <a:off x="2957147" y="2786063"/>
            <a:ext cx="757603" cy="5861"/>
          </a:xfrm>
          <a:prstGeom prst="straightConnector1">
            <a:avLst/>
          </a:prstGeom>
          <a:ln w="19050">
            <a:solidFill>
              <a:srgbClr val="245CC5"/>
            </a:solidFill>
            <a:tailEnd type="arrow" w="med" len="med"/>
          </a:ln>
        </p:spPr>
      </p:cxnSp>
      <p:sp>
        <p:nvSpPr>
          <p:cNvPr id="13" name="Rectangle 12">
            <a:extLst>
              <a:ext uri="{FF2B5EF4-FFF2-40B4-BE49-F238E27FC236}">
                <a16:creationId xmlns:a16="http://schemas.microsoft.com/office/drawing/2014/main" id="{EBB40C3F-0575-4C05-B185-20B82E5BE441}"/>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The testing environment</a:t>
            </a:r>
          </a:p>
        </p:txBody>
      </p:sp>
      <p:sp>
        <p:nvSpPr>
          <p:cNvPr id="2" name="Rectangle 1">
            <a:extLst>
              <a:ext uri="{FF2B5EF4-FFF2-40B4-BE49-F238E27FC236}">
                <a16:creationId xmlns:a16="http://schemas.microsoft.com/office/drawing/2014/main" id="{C90E37C7-7066-4DB8-B09D-AC82354E1902}"/>
              </a:ext>
            </a:extLst>
          </p:cNvPr>
          <p:cNvSpPr>
            <a:spLocks noGrp="1"/>
          </p:cNvSpPr>
          <p:nvPr/>
        </p:nvSpPr>
        <p:spPr>
          <a:xfrm>
            <a:off x="10886342"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4</a:t>
            </a:r>
            <a:endParaRPr sz="1275" b="0">
              <a:solidFill>
                <a:srgbClr val="526173"/>
              </a:solidFill>
            </a:endParaRPr>
          </a:p>
        </p:txBody>
      </p:sp>
      <p:sp>
        <p:nvSpPr>
          <p:cNvPr id="3" name="Rectangle 2">
            <a:extLst>
              <a:ext uri="{FF2B5EF4-FFF2-40B4-BE49-F238E27FC236}">
                <a16:creationId xmlns:a16="http://schemas.microsoft.com/office/drawing/2014/main" id="{E5353EA7-3748-483C-B571-D18C8A2F886F}"/>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§2.1, §3.3 and Figure 1</a:t>
            </a:r>
          </a:p>
        </p:txBody>
      </p:sp>
      <p:sp>
        <p:nvSpPr>
          <p:cNvPr id="4" name="Rectangle 3">
            <a:extLst>
              <a:ext uri="{FF2B5EF4-FFF2-40B4-BE49-F238E27FC236}">
                <a16:creationId xmlns:a16="http://schemas.microsoft.com/office/drawing/2014/main" id="{98C172F9-CBD7-41EF-9E2B-DE9974CC000D}"/>
              </a:ext>
            </a:extLst>
          </p:cNvPr>
          <p:cNvSpPr>
            <a:spLocks noGrp="1"/>
          </p:cNvSpPr>
          <p:nvPr/>
        </p:nvSpPr>
        <p:spPr>
          <a:xfrm>
            <a:off x="685800" y="2250098"/>
            <a:ext cx="2271347" cy="1083652"/>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LLM agent</a:t>
            </a:r>
          </a:p>
        </p:txBody>
      </p:sp>
      <p:sp>
        <p:nvSpPr>
          <p:cNvPr id="5" name="Rectangle 4">
            <a:extLst>
              <a:ext uri="{FF2B5EF4-FFF2-40B4-BE49-F238E27FC236}">
                <a16:creationId xmlns:a16="http://schemas.microsoft.com/office/drawing/2014/main" id="{C5A4FBEE-AD46-4B4D-9DE3-6A4ADBB9A7B9}"/>
              </a:ext>
            </a:extLst>
          </p:cNvPr>
          <p:cNvSpPr>
            <a:spLocks noGrp="1"/>
          </p:cNvSpPr>
          <p:nvPr/>
        </p:nvSpPr>
        <p:spPr>
          <a:xfrm>
            <a:off x="3714750" y="2238375"/>
            <a:ext cx="3095625" cy="1095375"/>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MCP tools</a:t>
            </a:r>
          </a:p>
          <a:p>
            <a:pPr algn="ctr">
              <a:defRPr sz="2025" b="1">
                <a:solidFill>
                  <a:srgbClr val="17283C"/>
                </a:solidFill>
              </a:defRPr>
            </a:pPr>
            <a:r>
              <a:rPr sz="2025" b="1">
                <a:solidFill>
                  <a:srgbClr val="17283C"/>
                </a:solidFill>
              </a:rPr>
              <a:t>Kali workstation</a:t>
            </a:r>
          </a:p>
        </p:txBody>
      </p:sp>
      <p:sp>
        <p:nvSpPr>
          <p:cNvPr id="6" name="Rectangle 5">
            <a:extLst>
              <a:ext uri="{FF2B5EF4-FFF2-40B4-BE49-F238E27FC236}">
                <a16:creationId xmlns:a16="http://schemas.microsoft.com/office/drawing/2014/main" id="{9D8F0F01-51DD-4E9B-93A0-A2D676BBC964}"/>
              </a:ext>
            </a:extLst>
          </p:cNvPr>
          <p:cNvSpPr>
            <a:spLocks noGrp="1"/>
          </p:cNvSpPr>
          <p:nvPr/>
        </p:nvSpPr>
        <p:spPr>
          <a:xfrm>
            <a:off x="7644912" y="2250098"/>
            <a:ext cx="2952750" cy="1095375"/>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Vulnerable</a:t>
            </a:r>
          </a:p>
          <a:p>
            <a:pPr algn="ctr">
              <a:defRPr sz="2025" b="1">
                <a:solidFill>
                  <a:srgbClr val="17283C"/>
                </a:solidFill>
              </a:defRPr>
            </a:pPr>
            <a:r>
              <a:rPr sz="2025" b="1">
                <a:solidFill>
                  <a:srgbClr val="17283C"/>
                </a:solidFill>
              </a:rPr>
              <a:t>Docker target</a:t>
            </a:r>
          </a:p>
        </p:txBody>
      </p:sp>
      <p:sp>
        <p:nvSpPr>
          <p:cNvPr id="9" name="Rectangle 8">
            <a:extLst>
              <a:ext uri="{FF2B5EF4-FFF2-40B4-BE49-F238E27FC236}">
                <a16:creationId xmlns:a16="http://schemas.microsoft.com/office/drawing/2014/main" id="{494816A6-6EB0-4BB1-A834-0B48CFB3F2E5}"/>
              </a:ext>
            </a:extLst>
          </p:cNvPr>
          <p:cNvSpPr>
            <a:spLocks noGrp="1"/>
          </p:cNvSpPr>
          <p:nvPr/>
        </p:nvSpPr>
        <p:spPr>
          <a:xfrm>
            <a:off x="2730012" y="1857375"/>
            <a:ext cx="1714500" cy="381000"/>
          </a:xfrm>
          <a:prstGeom prst="rect">
            <a:avLst/>
          </a:prstGeom>
          <a:noFill/>
          <a:ln w="0">
            <a:noFill/>
          </a:ln>
        </p:spPr>
        <p:txBody>
          <a:bodyPr lIns="0" tIns="0" rIns="0" bIns="0" anchor="t"/>
          <a:lstStyle>
            <a:defPPr>
              <a:defRPr sz="1725" b="0">
                <a:solidFill>
                  <a:srgbClr val="526173"/>
                </a:solidFill>
              </a:defRPr>
            </a:defPPr>
          </a:lstStyle>
          <a:p>
            <a:pPr>
              <a:defRPr sz="1725" b="0">
                <a:solidFill>
                  <a:srgbClr val="526173"/>
                </a:solidFill>
              </a:defRPr>
            </a:pPr>
            <a:r>
              <a:rPr sz="1725" b="0">
                <a:solidFill>
                  <a:srgbClr val="526173"/>
                </a:solidFill>
              </a:rPr>
              <a:t>Tool requests</a:t>
            </a:r>
          </a:p>
        </p:txBody>
      </p:sp>
      <p:sp>
        <p:nvSpPr>
          <p:cNvPr id="10" name="Rectangle 9">
            <a:extLst>
              <a:ext uri="{FF2B5EF4-FFF2-40B4-BE49-F238E27FC236}">
                <a16:creationId xmlns:a16="http://schemas.microsoft.com/office/drawing/2014/main" id="{4226CC39-3498-4CE7-A8AE-7E498D59319C}"/>
              </a:ext>
            </a:extLst>
          </p:cNvPr>
          <p:cNvSpPr>
            <a:spLocks noGrp="1"/>
          </p:cNvSpPr>
          <p:nvPr/>
        </p:nvSpPr>
        <p:spPr>
          <a:xfrm>
            <a:off x="6485792" y="1845652"/>
            <a:ext cx="2095500" cy="381000"/>
          </a:xfrm>
          <a:prstGeom prst="rect">
            <a:avLst/>
          </a:prstGeom>
          <a:noFill/>
          <a:ln w="0">
            <a:noFill/>
          </a:ln>
        </p:spPr>
        <p:txBody>
          <a:bodyPr lIns="0" tIns="0" rIns="0" bIns="0" anchor="t"/>
          <a:lstStyle>
            <a:defPPr>
              <a:defRPr sz="1725" b="0">
                <a:solidFill>
                  <a:srgbClr val="526173"/>
                </a:solidFill>
              </a:defRPr>
            </a:defPPr>
          </a:lstStyle>
          <a:p>
            <a:pPr>
              <a:defRPr sz="1725" b="0">
                <a:solidFill>
                  <a:srgbClr val="526173"/>
                </a:solidFill>
              </a:defRPr>
            </a:pPr>
            <a:r>
              <a:rPr sz="1725" b="0">
                <a:solidFill>
                  <a:srgbClr val="526173"/>
                </a:solidFill>
              </a:rPr>
              <a:t>Virtual network</a:t>
            </a:r>
          </a:p>
        </p:txBody>
      </p:sp>
      <p:sp>
        <p:nvSpPr>
          <p:cNvPr id="11" name="Rectangle 10">
            <a:extLst>
              <a:ext uri="{FF2B5EF4-FFF2-40B4-BE49-F238E27FC236}">
                <a16:creationId xmlns:a16="http://schemas.microsoft.com/office/drawing/2014/main" id="{CBC4195D-4E0C-4A8E-8B34-4E8A357A3D32}"/>
              </a:ext>
            </a:extLst>
          </p:cNvPr>
          <p:cNvSpPr>
            <a:spLocks noGrp="1"/>
          </p:cNvSpPr>
          <p:nvPr/>
        </p:nvSpPr>
        <p:spPr>
          <a:xfrm>
            <a:off x="2190750" y="4095750"/>
            <a:ext cx="8096250" cy="619125"/>
          </a:xfrm>
          <a:prstGeom prst="rect">
            <a:avLst/>
          </a:prstGeom>
          <a:noFill/>
          <a:ln w="0">
            <a:noFill/>
          </a:ln>
        </p:spPr>
        <p:txBody>
          <a:bodyPr lIns="0" tIns="0" rIns="0" bIns="0" anchor="t"/>
          <a:lstStyle>
            <a:defPPr>
              <a:defRPr sz="2475" b="1">
                <a:solidFill>
                  <a:srgbClr val="245CC5"/>
                </a:solidFill>
              </a:defRPr>
            </a:defPPr>
          </a:lstStyle>
          <a:p>
            <a:pPr>
              <a:defRPr sz="2475" b="1">
                <a:solidFill>
                  <a:srgbClr val="245CC5"/>
                </a:solidFill>
              </a:defRPr>
            </a:pPr>
            <a:r>
              <a:rPr sz="2475" b="1">
                <a:solidFill>
                  <a:srgbClr val="245CC5"/>
                </a:solidFill>
              </a:rPr>
              <a:t>Execution output feeds the next decision</a:t>
            </a:r>
          </a:p>
        </p:txBody>
      </p:sp>
      <p:sp>
        <p:nvSpPr>
          <p:cNvPr id="12" name="Rectangle 11">
            <a:extLst>
              <a:ext uri="{FF2B5EF4-FFF2-40B4-BE49-F238E27FC236}">
                <a16:creationId xmlns:a16="http://schemas.microsoft.com/office/drawing/2014/main" id="{56DE09E9-E209-4B70-ACC9-8C39BD3C1639}"/>
              </a:ext>
            </a:extLst>
          </p:cNvPr>
          <p:cNvSpPr>
            <a:spLocks noGrp="1"/>
          </p:cNvSpPr>
          <p:nvPr/>
        </p:nvSpPr>
        <p:spPr>
          <a:xfrm>
            <a:off x="2190750" y="4953000"/>
            <a:ext cx="8096250" cy="619125"/>
          </a:xfrm>
          <a:prstGeom prst="rect">
            <a:avLst/>
          </a:prstGeom>
          <a:noFill/>
          <a:ln w="0">
            <a:noFill/>
          </a:ln>
        </p:spPr>
        <p:txBody>
          <a:bodyPr lIns="0" tIns="0" rIns="0" bIns="0" anchor="t"/>
          <a:lstStyle>
            <a:defPPr>
              <a:defRPr sz="2175" b="0">
                <a:solidFill>
                  <a:srgbClr val="17283C"/>
                </a:solidFill>
              </a:defRPr>
            </a:defPPr>
          </a:lstStyle>
          <a:p>
            <a:pPr>
              <a:defRPr sz="2175" b="0">
                <a:solidFill>
                  <a:srgbClr val="17283C"/>
                </a:solidFill>
              </a:defRPr>
            </a:pPr>
            <a:r>
              <a:rPr sz="2175" b="0">
                <a:solidFill>
                  <a:srgbClr val="17283C"/>
                </a:solidFill>
              </a:rPr>
              <a:t>The goal ends with a verifiable flag submission.</a:t>
            </a:r>
          </a:p>
        </p:txBody>
      </p:sp>
    </p:spTree>
    <p:extLst>
      <p:ext uri="{BB962C8B-B14F-4D97-AF65-F5344CB8AC3E}">
        <p14:creationId xmlns:p14="http://schemas.microsoft.com/office/powerpoint/2010/main" val="342788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D2E80F3D-627A-44B6-A8DA-C14F241B56A2}"/>
              </a:ext>
            </a:extLst>
          </p:cNvPr>
          <p:cNvCxnSpPr>
            <a:stCxn id="6" idx="3"/>
            <a:endCxn id="7" idx="1"/>
          </p:cNvCxnSpPr>
          <p:nvPr/>
        </p:nvCxnSpPr>
        <p:spPr>
          <a:xfrm>
            <a:off x="8029575" y="2809875"/>
            <a:ext cx="640373" cy="0"/>
          </a:xfrm>
          <a:prstGeom prst="straightConnector1">
            <a:avLst/>
          </a:prstGeom>
          <a:ln w="19050">
            <a:solidFill>
              <a:srgbClr val="245CC5"/>
            </a:solidFill>
            <a:tailEnd type="arrow" w="med" len="med"/>
          </a:ln>
        </p:spPr>
      </p:cxnSp>
      <p:cxnSp>
        <p:nvCxnSpPr>
          <p:cNvPr id="9" name="Straight Arrow Connector 8">
            <a:extLst>
              <a:ext uri="{FF2B5EF4-FFF2-40B4-BE49-F238E27FC236}">
                <a16:creationId xmlns:a16="http://schemas.microsoft.com/office/drawing/2014/main" id="{A570E99E-7874-4C10-BF48-A807A3CE4AE4}"/>
              </a:ext>
            </a:extLst>
          </p:cNvPr>
          <p:cNvCxnSpPr>
            <a:stCxn id="5" idx="3"/>
            <a:endCxn id="6" idx="1"/>
          </p:cNvCxnSpPr>
          <p:nvPr/>
        </p:nvCxnSpPr>
        <p:spPr>
          <a:xfrm>
            <a:off x="5536223" y="2809875"/>
            <a:ext cx="570034" cy="0"/>
          </a:xfrm>
          <a:prstGeom prst="straightConnector1">
            <a:avLst/>
          </a:prstGeom>
          <a:ln w="19050">
            <a:solidFill>
              <a:srgbClr val="245CC5"/>
            </a:solidFill>
            <a:tailEnd type="arrow" w="med" len="med"/>
          </a:ln>
        </p:spPr>
      </p:cxnSp>
      <p:cxnSp>
        <p:nvCxnSpPr>
          <p:cNvPr id="8" name="Straight Arrow Connector 7">
            <a:extLst>
              <a:ext uri="{FF2B5EF4-FFF2-40B4-BE49-F238E27FC236}">
                <a16:creationId xmlns:a16="http://schemas.microsoft.com/office/drawing/2014/main" id="{0E3D707E-13ED-43BE-ADB2-51872FDA210F}"/>
              </a:ext>
            </a:extLst>
          </p:cNvPr>
          <p:cNvCxnSpPr>
            <a:stCxn id="4" idx="3"/>
            <a:endCxn id="5" idx="1"/>
          </p:cNvCxnSpPr>
          <p:nvPr/>
        </p:nvCxnSpPr>
        <p:spPr>
          <a:xfrm>
            <a:off x="2644287" y="2809875"/>
            <a:ext cx="558311" cy="0"/>
          </a:xfrm>
          <a:prstGeom prst="straightConnector1">
            <a:avLst/>
          </a:prstGeom>
          <a:ln w="19050">
            <a:solidFill>
              <a:srgbClr val="245CC5"/>
            </a:solidFill>
            <a:tailEnd type="arrow" w="med" len="med"/>
          </a:ln>
        </p:spPr>
      </p:cxnSp>
      <p:sp>
        <p:nvSpPr>
          <p:cNvPr id="13" name="Rectangle 12">
            <a:extLst>
              <a:ext uri="{FF2B5EF4-FFF2-40B4-BE49-F238E27FC236}">
                <a16:creationId xmlns:a16="http://schemas.microsoft.com/office/drawing/2014/main" id="{8C00074E-102A-4382-8A4B-A1BACC72B293}"/>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Autonomous agent: the decision loop</a:t>
            </a:r>
          </a:p>
        </p:txBody>
      </p:sp>
      <p:sp>
        <p:nvSpPr>
          <p:cNvPr id="2" name="Rectangle 1">
            <a:extLst>
              <a:ext uri="{FF2B5EF4-FFF2-40B4-BE49-F238E27FC236}">
                <a16:creationId xmlns:a16="http://schemas.microsoft.com/office/drawing/2014/main" id="{1ED2AB2E-EA61-4644-A224-FB7249835092}"/>
              </a:ext>
            </a:extLst>
          </p:cNvPr>
          <p:cNvSpPr>
            <a:spLocks noGrp="1"/>
          </p:cNvSpPr>
          <p:nvPr/>
        </p:nvSpPr>
        <p:spPr>
          <a:xfrm>
            <a:off x="10816004"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5</a:t>
            </a:r>
            <a:endParaRPr sz="1275" b="0">
              <a:solidFill>
                <a:srgbClr val="526173"/>
              </a:solidFill>
            </a:endParaRPr>
          </a:p>
        </p:txBody>
      </p:sp>
      <p:sp>
        <p:nvSpPr>
          <p:cNvPr id="3" name="Rectangle 2">
            <a:extLst>
              <a:ext uri="{FF2B5EF4-FFF2-40B4-BE49-F238E27FC236}">
                <a16:creationId xmlns:a16="http://schemas.microsoft.com/office/drawing/2014/main" id="{9CAF8C96-BAE2-4319-AC36-ECBCDA0D0987}"/>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§3.1 and Figure 3a</a:t>
            </a:r>
          </a:p>
        </p:txBody>
      </p:sp>
      <p:sp>
        <p:nvSpPr>
          <p:cNvPr id="4" name="Rectangle 3">
            <a:extLst>
              <a:ext uri="{FF2B5EF4-FFF2-40B4-BE49-F238E27FC236}">
                <a16:creationId xmlns:a16="http://schemas.microsoft.com/office/drawing/2014/main" id="{E01EAD82-35F8-4D76-AE31-A3AF5CE5125C}"/>
              </a:ext>
            </a:extLst>
          </p:cNvPr>
          <p:cNvSpPr>
            <a:spLocks noGrp="1"/>
          </p:cNvSpPr>
          <p:nvPr/>
        </p:nvSpPr>
        <p:spPr>
          <a:xfrm>
            <a:off x="685800" y="2286000"/>
            <a:ext cx="1958487" cy="1047750"/>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Summarise</a:t>
            </a:r>
          </a:p>
          <a:p>
            <a:pPr algn="ctr">
              <a:defRPr sz="2025" b="1">
                <a:solidFill>
                  <a:srgbClr val="17283C"/>
                </a:solidFill>
              </a:defRPr>
            </a:pPr>
            <a:r>
              <a:rPr sz="2025" b="1">
                <a:solidFill>
                  <a:srgbClr val="17283C"/>
                </a:solidFill>
              </a:rPr>
              <a:t>history</a:t>
            </a:r>
          </a:p>
        </p:txBody>
      </p:sp>
      <p:sp>
        <p:nvSpPr>
          <p:cNvPr id="5" name="Rectangle 4">
            <a:extLst>
              <a:ext uri="{FF2B5EF4-FFF2-40B4-BE49-F238E27FC236}">
                <a16:creationId xmlns:a16="http://schemas.microsoft.com/office/drawing/2014/main" id="{7D5174A8-8B9B-43AC-B85F-7BC6C34CD376}"/>
              </a:ext>
            </a:extLst>
          </p:cNvPr>
          <p:cNvSpPr>
            <a:spLocks noGrp="1"/>
          </p:cNvSpPr>
          <p:nvPr/>
        </p:nvSpPr>
        <p:spPr>
          <a:xfrm>
            <a:off x="3202598" y="2286000"/>
            <a:ext cx="2333625" cy="1047750"/>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Reason about</a:t>
            </a:r>
          </a:p>
          <a:p>
            <a:pPr algn="ctr">
              <a:defRPr sz="2025" b="1">
                <a:solidFill>
                  <a:srgbClr val="17283C"/>
                </a:solidFill>
              </a:defRPr>
            </a:pPr>
            <a:r>
              <a:rPr sz="2025" b="1">
                <a:solidFill>
                  <a:srgbClr val="17283C"/>
                </a:solidFill>
              </a:rPr>
              <a:t>next step</a:t>
            </a:r>
          </a:p>
        </p:txBody>
      </p:sp>
      <p:sp>
        <p:nvSpPr>
          <p:cNvPr id="6" name="Rectangle 5">
            <a:extLst>
              <a:ext uri="{FF2B5EF4-FFF2-40B4-BE49-F238E27FC236}">
                <a16:creationId xmlns:a16="http://schemas.microsoft.com/office/drawing/2014/main" id="{4CF9A43D-16AE-4D2B-AD4F-B14F5831F933}"/>
              </a:ext>
            </a:extLst>
          </p:cNvPr>
          <p:cNvSpPr>
            <a:spLocks noGrp="1"/>
          </p:cNvSpPr>
          <p:nvPr/>
        </p:nvSpPr>
        <p:spPr>
          <a:xfrm>
            <a:off x="6106257" y="2286000"/>
            <a:ext cx="1923318" cy="1047750"/>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Generate</a:t>
            </a:r>
          </a:p>
          <a:p>
            <a:pPr algn="ctr">
              <a:defRPr sz="2025" b="1">
                <a:solidFill>
                  <a:srgbClr val="17283C"/>
                </a:solidFill>
              </a:defRPr>
            </a:pPr>
            <a:r>
              <a:rPr sz="2025" b="1">
                <a:solidFill>
                  <a:srgbClr val="17283C"/>
                </a:solidFill>
              </a:rPr>
              <a:t>action</a:t>
            </a:r>
          </a:p>
        </p:txBody>
      </p:sp>
      <p:sp>
        <p:nvSpPr>
          <p:cNvPr id="7" name="Rectangle 6">
            <a:extLst>
              <a:ext uri="{FF2B5EF4-FFF2-40B4-BE49-F238E27FC236}">
                <a16:creationId xmlns:a16="http://schemas.microsoft.com/office/drawing/2014/main" id="{482AD6FD-5103-45D0-899E-36DBD4DA642C}"/>
              </a:ext>
            </a:extLst>
          </p:cNvPr>
          <p:cNvSpPr>
            <a:spLocks noGrp="1"/>
          </p:cNvSpPr>
          <p:nvPr/>
        </p:nvSpPr>
        <p:spPr>
          <a:xfrm>
            <a:off x="8669948" y="2286000"/>
            <a:ext cx="2333625" cy="1047750"/>
          </a:xfrm>
          <a:prstGeom prst="rect">
            <a:avLst/>
          </a:prstGeom>
          <a:solidFill>
            <a:srgbClr val="DFE9F3"/>
          </a:solidFill>
          <a:ln w="14288">
            <a:solidFill>
              <a:srgbClr val="245CC5"/>
            </a:solidFill>
          </a:ln>
        </p:spPr>
        <p:txBody>
          <a:bodyPr lIns="133350" tIns="133350" rIns="133350" bIns="133350" anchor="ctr"/>
          <a:lstStyle>
            <a:defPPr algn="ctr">
              <a:defRPr sz="2025" b="1">
                <a:solidFill>
                  <a:srgbClr val="17283C"/>
                </a:solidFill>
              </a:defRPr>
            </a:defPPr>
          </a:lstStyle>
          <a:p>
            <a:pPr algn="ctr">
              <a:defRPr sz="2025" b="1">
                <a:solidFill>
                  <a:srgbClr val="17283C"/>
                </a:solidFill>
              </a:defRPr>
            </a:pPr>
            <a:r>
              <a:rPr sz="2025" b="1">
                <a:solidFill>
                  <a:srgbClr val="17283C"/>
                </a:solidFill>
              </a:rPr>
              <a:t>Execute and</a:t>
            </a:r>
          </a:p>
          <a:p>
            <a:pPr algn="ctr">
              <a:defRPr sz="2025" b="1">
                <a:solidFill>
                  <a:srgbClr val="17283C"/>
                </a:solidFill>
              </a:defRPr>
            </a:pPr>
            <a:r>
              <a:rPr sz="2025" b="1">
                <a:solidFill>
                  <a:srgbClr val="17283C"/>
                </a:solidFill>
              </a:rPr>
              <a:t>observe</a:t>
            </a:r>
          </a:p>
        </p:txBody>
      </p:sp>
      <p:sp>
        <p:nvSpPr>
          <p:cNvPr id="11" name="Rectangle 10">
            <a:extLst>
              <a:ext uri="{FF2B5EF4-FFF2-40B4-BE49-F238E27FC236}">
                <a16:creationId xmlns:a16="http://schemas.microsoft.com/office/drawing/2014/main" id="{F374EC34-B705-4F45-8FA8-7C3A7C8FC7F1}"/>
              </a:ext>
            </a:extLst>
          </p:cNvPr>
          <p:cNvSpPr>
            <a:spLocks noGrp="1"/>
          </p:cNvSpPr>
          <p:nvPr/>
        </p:nvSpPr>
        <p:spPr>
          <a:xfrm>
            <a:off x="685800" y="4048125"/>
            <a:ext cx="10668000" cy="666750"/>
          </a:xfrm>
          <a:prstGeom prst="rect">
            <a:avLst/>
          </a:prstGeom>
          <a:noFill/>
          <a:ln w="0">
            <a:noFill/>
          </a:ln>
        </p:spPr>
        <p:txBody>
          <a:bodyPr lIns="0" tIns="0" rIns="0" bIns="0" anchor="t"/>
          <a:lstStyle>
            <a:defPPr>
              <a:defRPr sz="2400" b="1">
                <a:solidFill>
                  <a:srgbClr val="245CC5"/>
                </a:solidFill>
              </a:defRPr>
            </a:defPPr>
          </a:lstStyle>
          <a:p>
            <a:pPr>
              <a:defRPr sz="2400" b="1">
                <a:solidFill>
                  <a:srgbClr val="245CC5"/>
                </a:solidFill>
              </a:defRPr>
            </a:pPr>
            <a:r>
              <a:rPr sz="2400" b="1">
                <a:solidFill>
                  <a:srgbClr val="245CC5"/>
                </a:solidFill>
              </a:rPr>
              <a:t>The next cycle uses the updated working memory.</a:t>
            </a:r>
          </a:p>
        </p:txBody>
      </p:sp>
      <p:sp>
        <p:nvSpPr>
          <p:cNvPr id="12" name="Rectangle 11">
            <a:extLst>
              <a:ext uri="{FF2B5EF4-FFF2-40B4-BE49-F238E27FC236}">
                <a16:creationId xmlns:a16="http://schemas.microsoft.com/office/drawing/2014/main" id="{D6970AA5-B333-4076-A40A-D1465950A28C}"/>
              </a:ext>
            </a:extLst>
          </p:cNvPr>
          <p:cNvSpPr>
            <a:spLocks noGrp="1"/>
          </p:cNvSpPr>
          <p:nvPr/>
        </p:nvSpPr>
        <p:spPr>
          <a:xfrm>
            <a:off x="685800" y="5095875"/>
            <a:ext cx="10668000" cy="571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Stop when the task finishes or the execution budget runs out.</a:t>
            </a:r>
          </a:p>
        </p:txBody>
      </p:sp>
    </p:spTree>
    <p:extLst>
      <p:ext uri="{BB962C8B-B14F-4D97-AF65-F5344CB8AC3E}">
        <p14:creationId xmlns:p14="http://schemas.microsoft.com/office/powerpoint/2010/main" val="1714254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740DD78-D4B7-41E4-A28C-91DEE45BC133}"/>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Human assistance changes the strategy</a:t>
            </a:r>
          </a:p>
        </p:txBody>
      </p:sp>
      <p:sp>
        <p:nvSpPr>
          <p:cNvPr id="2" name="Rectangle 1">
            <a:extLst>
              <a:ext uri="{FF2B5EF4-FFF2-40B4-BE49-F238E27FC236}">
                <a16:creationId xmlns:a16="http://schemas.microsoft.com/office/drawing/2014/main" id="{D998CD55-761B-4228-9ADF-6D6301FFE84E}"/>
              </a:ext>
            </a:extLst>
          </p:cNvPr>
          <p:cNvSpPr>
            <a:spLocks noGrp="1"/>
          </p:cNvSpPr>
          <p:nvPr/>
        </p:nvSpPr>
        <p:spPr>
          <a:xfrm>
            <a:off x="10898065"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6</a:t>
            </a:r>
            <a:endParaRPr sz="1275" b="0">
              <a:solidFill>
                <a:srgbClr val="526173"/>
              </a:solidFill>
            </a:endParaRPr>
          </a:p>
        </p:txBody>
      </p:sp>
      <p:sp>
        <p:nvSpPr>
          <p:cNvPr id="3" name="Rectangle 2">
            <a:extLst>
              <a:ext uri="{FF2B5EF4-FFF2-40B4-BE49-F238E27FC236}">
                <a16:creationId xmlns:a16="http://schemas.microsoft.com/office/drawing/2014/main" id="{DF801007-7323-454D-B90C-F62B6E4D2B6A}"/>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§3.2, §4.2 and Figure 3b</a:t>
            </a:r>
          </a:p>
        </p:txBody>
      </p:sp>
      <p:sp>
        <p:nvSpPr>
          <p:cNvPr id="4" name="Rectangle 3">
            <a:extLst>
              <a:ext uri="{FF2B5EF4-FFF2-40B4-BE49-F238E27FC236}">
                <a16:creationId xmlns:a16="http://schemas.microsoft.com/office/drawing/2014/main" id="{06BD6AFF-A5AE-4D1B-AAD4-C0E87DC492AB}"/>
              </a:ext>
            </a:extLst>
          </p:cNvPr>
          <p:cNvSpPr>
            <a:spLocks noGrp="1"/>
          </p:cNvSpPr>
          <p:nvPr/>
        </p:nvSpPr>
        <p:spPr>
          <a:xfrm>
            <a:off x="685800" y="180975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Human chooses the subtask</a:t>
            </a:r>
          </a:p>
        </p:txBody>
      </p:sp>
      <p:sp>
        <p:nvSpPr>
          <p:cNvPr id="5" name="Rectangle 4">
            <a:extLst>
              <a:ext uri="{FF2B5EF4-FFF2-40B4-BE49-F238E27FC236}">
                <a16:creationId xmlns:a16="http://schemas.microsoft.com/office/drawing/2014/main" id="{9BD33D49-E954-410A-AD92-6E62B1CE4CA0}"/>
              </a:ext>
            </a:extLst>
          </p:cNvPr>
          <p:cNvSpPr>
            <a:spLocks noGrp="1"/>
          </p:cNvSpPr>
          <p:nvPr/>
        </p:nvSpPr>
        <p:spPr>
          <a:xfrm>
            <a:off x="4476750" y="180975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A knowledgeable operator directs the overall strategy.</a:t>
            </a:r>
          </a:p>
        </p:txBody>
      </p:sp>
      <p:sp>
        <p:nvSpPr>
          <p:cNvPr id="6" name="Rectangle 5">
            <a:extLst>
              <a:ext uri="{FF2B5EF4-FFF2-40B4-BE49-F238E27FC236}">
                <a16:creationId xmlns:a16="http://schemas.microsoft.com/office/drawing/2014/main" id="{DBEF25E9-BA98-47F8-9F70-65C2A7932687}"/>
              </a:ext>
            </a:extLst>
          </p:cNvPr>
          <p:cNvSpPr>
            <a:spLocks noGrp="1"/>
          </p:cNvSpPr>
          <p:nvPr/>
        </p:nvSpPr>
        <p:spPr>
          <a:xfrm>
            <a:off x="685800" y="3076575"/>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Agent executes the subtask</a:t>
            </a:r>
          </a:p>
        </p:txBody>
      </p:sp>
      <p:sp>
        <p:nvSpPr>
          <p:cNvPr id="7" name="Rectangle 6">
            <a:extLst>
              <a:ext uri="{FF2B5EF4-FFF2-40B4-BE49-F238E27FC236}">
                <a16:creationId xmlns:a16="http://schemas.microsoft.com/office/drawing/2014/main" id="{51BF56F7-4563-4BF2-99C0-9E5ABD3D8CE1}"/>
              </a:ext>
            </a:extLst>
          </p:cNvPr>
          <p:cNvSpPr>
            <a:spLocks noGrp="1"/>
          </p:cNvSpPr>
          <p:nvPr/>
        </p:nvSpPr>
        <p:spPr>
          <a:xfrm>
            <a:off x="4476750" y="3076575"/>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The agent chooses tools and acts within the assigned goal.</a:t>
            </a:r>
          </a:p>
        </p:txBody>
      </p:sp>
      <p:sp>
        <p:nvSpPr>
          <p:cNvPr id="8" name="Rectangle 7">
            <a:extLst>
              <a:ext uri="{FF2B5EF4-FFF2-40B4-BE49-F238E27FC236}">
                <a16:creationId xmlns:a16="http://schemas.microsoft.com/office/drawing/2014/main" id="{BB825F66-2442-4A3A-A0B2-967EEAF35387}"/>
              </a:ext>
            </a:extLst>
          </p:cNvPr>
          <p:cNvSpPr>
            <a:spLocks noGrp="1"/>
          </p:cNvSpPr>
          <p:nvPr/>
        </p:nvSpPr>
        <p:spPr>
          <a:xfrm>
            <a:off x="685800" y="434340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Report and memory reset</a:t>
            </a:r>
          </a:p>
        </p:txBody>
      </p:sp>
      <p:sp>
        <p:nvSpPr>
          <p:cNvPr id="9" name="Rectangle 8">
            <a:extLst>
              <a:ext uri="{FF2B5EF4-FFF2-40B4-BE49-F238E27FC236}">
                <a16:creationId xmlns:a16="http://schemas.microsoft.com/office/drawing/2014/main" id="{5B3A4B59-BD3E-47DF-8CD4-BCC9FFD92C58}"/>
              </a:ext>
            </a:extLst>
          </p:cNvPr>
          <p:cNvSpPr>
            <a:spLocks noGrp="1"/>
          </p:cNvSpPr>
          <p:nvPr/>
        </p:nvSpPr>
        <p:spPr>
          <a:xfrm>
            <a:off x="4476750" y="434340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A task report carries progress into the next subtask.</a:t>
            </a:r>
          </a:p>
        </p:txBody>
      </p:sp>
      <p:sp>
        <p:nvSpPr>
          <p:cNvPr id="10" name="Rectangle 9">
            <a:extLst>
              <a:ext uri="{FF2B5EF4-FFF2-40B4-BE49-F238E27FC236}">
                <a16:creationId xmlns:a16="http://schemas.microsoft.com/office/drawing/2014/main" id="{1E5FC865-B392-471F-A80C-DA41E538F257}"/>
              </a:ext>
            </a:extLst>
          </p:cNvPr>
          <p:cNvSpPr>
            <a:spLocks noGrp="1"/>
          </p:cNvSpPr>
          <p:nvPr/>
        </p:nvSpPr>
        <p:spPr>
          <a:xfrm>
            <a:off x="685800" y="5619750"/>
            <a:ext cx="10572750" cy="428625"/>
          </a:xfrm>
          <a:prstGeom prst="rect">
            <a:avLst/>
          </a:prstGeom>
          <a:noFill/>
          <a:ln w="0">
            <a:noFill/>
          </a:ln>
        </p:spPr>
        <p:txBody>
          <a:bodyPr lIns="0" tIns="0" rIns="0" bIns="0" anchor="t"/>
          <a:lstStyle>
            <a:defPPr>
              <a:defRPr sz="2100" b="1">
                <a:solidFill>
                  <a:srgbClr val="087F79"/>
                </a:solidFill>
              </a:defRPr>
            </a:defPPr>
          </a:lstStyle>
          <a:p>
            <a:pPr>
              <a:defRPr sz="2100" b="1">
                <a:solidFill>
                  <a:srgbClr val="087F79"/>
                </a:solidFill>
              </a:defRPr>
            </a:pPr>
            <a:r>
              <a:rPr sz="2100" b="1">
                <a:solidFill>
                  <a:srgbClr val="087F79"/>
                </a:solidFill>
              </a:rPr>
              <a:t>Key assumption: the human knows the vulnerabilities.</a:t>
            </a:r>
          </a:p>
        </p:txBody>
      </p:sp>
    </p:spTree>
    <p:extLst>
      <p:ext uri="{BB962C8B-B14F-4D97-AF65-F5344CB8AC3E}">
        <p14:creationId xmlns:p14="http://schemas.microsoft.com/office/powerpoint/2010/main" val="1422703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66CB6AE-3B18-4A2E-AE6C-2F02B7D8B77F}"/>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Evaluation: success and partial progress</a:t>
            </a:r>
          </a:p>
        </p:txBody>
      </p:sp>
      <p:sp>
        <p:nvSpPr>
          <p:cNvPr id="2" name="Rectangle 1">
            <a:extLst>
              <a:ext uri="{FF2B5EF4-FFF2-40B4-BE49-F238E27FC236}">
                <a16:creationId xmlns:a16="http://schemas.microsoft.com/office/drawing/2014/main" id="{E0A0C69A-9D1D-4E90-A42A-5C536012DB6C}"/>
              </a:ext>
            </a:extLst>
          </p:cNvPr>
          <p:cNvSpPr>
            <a:spLocks noGrp="1"/>
          </p:cNvSpPr>
          <p:nvPr/>
        </p:nvSpPr>
        <p:spPr>
          <a:xfrm>
            <a:off x="10862896"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7</a:t>
            </a:r>
            <a:endParaRPr sz="1275" b="0">
              <a:solidFill>
                <a:srgbClr val="526173"/>
              </a:solidFill>
            </a:endParaRPr>
          </a:p>
        </p:txBody>
      </p:sp>
      <p:sp>
        <p:nvSpPr>
          <p:cNvPr id="3" name="Rectangle 2">
            <a:extLst>
              <a:ext uri="{FF2B5EF4-FFF2-40B4-BE49-F238E27FC236}">
                <a16:creationId xmlns:a16="http://schemas.microsoft.com/office/drawing/2014/main" id="{2D2AAE58-8D2D-4F22-B914-359023555C6C}"/>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§2.3, §4 and Table 2</a:t>
            </a:r>
          </a:p>
        </p:txBody>
      </p:sp>
      <p:sp>
        <p:nvSpPr>
          <p:cNvPr id="4" name="Rectangle 3">
            <a:extLst>
              <a:ext uri="{FF2B5EF4-FFF2-40B4-BE49-F238E27FC236}">
                <a16:creationId xmlns:a16="http://schemas.microsoft.com/office/drawing/2014/main" id="{4909BBEF-2CC8-4E18-A201-BC4AF4B0D358}"/>
              </a:ext>
            </a:extLst>
          </p:cNvPr>
          <p:cNvSpPr>
            <a:spLocks noGrp="1"/>
          </p:cNvSpPr>
          <p:nvPr/>
        </p:nvSpPr>
        <p:spPr>
          <a:xfrm>
            <a:off x="685800" y="180975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Success Rate (SR)</a:t>
            </a:r>
          </a:p>
        </p:txBody>
      </p:sp>
      <p:sp>
        <p:nvSpPr>
          <p:cNvPr id="5" name="Rectangle 4">
            <a:extLst>
              <a:ext uri="{FF2B5EF4-FFF2-40B4-BE49-F238E27FC236}">
                <a16:creationId xmlns:a16="http://schemas.microsoft.com/office/drawing/2014/main" id="{42B9CB8D-7B8F-4818-BDFF-A7A917C3822A}"/>
              </a:ext>
            </a:extLst>
          </p:cNvPr>
          <p:cNvSpPr>
            <a:spLocks noGrp="1"/>
          </p:cNvSpPr>
          <p:nvPr/>
        </p:nvSpPr>
        <p:spPr>
          <a:xfrm>
            <a:off x="4476750" y="180975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Fraction of tasks completed with the required proof.</a:t>
            </a:r>
          </a:p>
        </p:txBody>
      </p:sp>
      <p:sp>
        <p:nvSpPr>
          <p:cNvPr id="6" name="Rectangle 5">
            <a:extLst>
              <a:ext uri="{FF2B5EF4-FFF2-40B4-BE49-F238E27FC236}">
                <a16:creationId xmlns:a16="http://schemas.microsoft.com/office/drawing/2014/main" id="{2ADD59FD-E6A8-40D1-BDE6-D8EA8977D80A}"/>
              </a:ext>
            </a:extLst>
          </p:cNvPr>
          <p:cNvSpPr>
            <a:spLocks noGrp="1"/>
          </p:cNvSpPr>
          <p:nvPr/>
        </p:nvSpPr>
        <p:spPr>
          <a:xfrm>
            <a:off x="685800" y="3076575"/>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Progress Rate (PR)</a:t>
            </a:r>
          </a:p>
        </p:txBody>
      </p:sp>
      <p:sp>
        <p:nvSpPr>
          <p:cNvPr id="7" name="Rectangle 6">
            <a:extLst>
              <a:ext uri="{FF2B5EF4-FFF2-40B4-BE49-F238E27FC236}">
                <a16:creationId xmlns:a16="http://schemas.microsoft.com/office/drawing/2014/main" id="{B6C18770-A9FB-41CA-9DEB-27A3D5B74C6C}"/>
              </a:ext>
            </a:extLst>
          </p:cNvPr>
          <p:cNvSpPr>
            <a:spLocks noGrp="1"/>
          </p:cNvSpPr>
          <p:nvPr/>
        </p:nvSpPr>
        <p:spPr>
          <a:xfrm>
            <a:off x="4476750" y="3076575"/>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Average intermediate progress on failed tasks only.</a:t>
            </a:r>
          </a:p>
        </p:txBody>
      </p:sp>
      <p:sp>
        <p:nvSpPr>
          <p:cNvPr id="8" name="Rectangle 7">
            <a:extLst>
              <a:ext uri="{FF2B5EF4-FFF2-40B4-BE49-F238E27FC236}">
                <a16:creationId xmlns:a16="http://schemas.microsoft.com/office/drawing/2014/main" id="{F30EB055-1678-4688-91DA-A1671C463A7B}"/>
              </a:ext>
            </a:extLst>
          </p:cNvPr>
          <p:cNvSpPr>
            <a:spLocks noGrp="1"/>
          </p:cNvSpPr>
          <p:nvPr/>
        </p:nvSpPr>
        <p:spPr>
          <a:xfrm>
            <a:off x="685800" y="434340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Shared model and budgets</a:t>
            </a:r>
          </a:p>
        </p:txBody>
      </p:sp>
      <p:sp>
        <p:nvSpPr>
          <p:cNvPr id="9" name="Rectangle 8">
            <a:extLst>
              <a:ext uri="{FF2B5EF4-FFF2-40B4-BE49-F238E27FC236}">
                <a16:creationId xmlns:a16="http://schemas.microsoft.com/office/drawing/2014/main" id="{57DECD0A-5523-4787-A27A-AC796017803D}"/>
              </a:ext>
            </a:extLst>
          </p:cNvPr>
          <p:cNvSpPr>
            <a:spLocks noGrp="1"/>
          </p:cNvSpPr>
          <p:nvPr/>
        </p:nvSpPr>
        <p:spPr>
          <a:xfrm>
            <a:off x="4476750" y="434340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GPT-4o (2024-08-06), temperature 0</a:t>
            </a:r>
          </a:p>
          <a:p>
            <a:pPr>
              <a:defRPr sz="2100" b="0">
                <a:solidFill>
                  <a:srgbClr val="17283C"/>
                </a:solidFill>
              </a:defRPr>
            </a:pPr>
            <a:r>
              <a:rPr sz="2100" b="0">
                <a:solidFill>
                  <a:srgbClr val="17283C"/>
                </a:solidFill>
              </a:rPr>
              <a:t>30 steps for introductory tasks, 60 for CVEs.</a:t>
            </a:r>
          </a:p>
        </p:txBody>
      </p:sp>
    </p:spTree>
    <p:extLst>
      <p:ext uri="{BB962C8B-B14F-4D97-AF65-F5344CB8AC3E}">
        <p14:creationId xmlns:p14="http://schemas.microsoft.com/office/powerpoint/2010/main" val="257281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375CE8-667D-4411-B58E-DD45EEB28CAB}"/>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Human assistance raises task success</a:t>
            </a:r>
          </a:p>
        </p:txBody>
      </p:sp>
      <p:sp>
        <p:nvSpPr>
          <p:cNvPr id="2" name="Rectangle 1">
            <a:extLst>
              <a:ext uri="{FF2B5EF4-FFF2-40B4-BE49-F238E27FC236}">
                <a16:creationId xmlns:a16="http://schemas.microsoft.com/office/drawing/2014/main" id="{9D48210F-1065-481B-A933-6F9C4C058E7F}"/>
              </a:ext>
            </a:extLst>
          </p:cNvPr>
          <p:cNvSpPr>
            <a:spLocks noGrp="1"/>
          </p:cNvSpPr>
          <p:nvPr/>
        </p:nvSpPr>
        <p:spPr>
          <a:xfrm>
            <a:off x="10698773" y="6208835"/>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8</a:t>
            </a:r>
            <a:endParaRPr sz="1275" b="0">
              <a:solidFill>
                <a:srgbClr val="526173"/>
              </a:solidFill>
            </a:endParaRPr>
          </a:p>
        </p:txBody>
      </p:sp>
      <p:sp>
        <p:nvSpPr>
          <p:cNvPr id="3" name="Rectangle 2">
            <a:extLst>
              <a:ext uri="{FF2B5EF4-FFF2-40B4-BE49-F238E27FC236}">
                <a16:creationId xmlns:a16="http://schemas.microsoft.com/office/drawing/2014/main" id="{8FC9792C-2370-4CD2-AF31-8AF80CE69ECD}"/>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Table 2. Rounded rates as published.</a:t>
            </a:r>
          </a:p>
        </p:txBody>
      </p:sp>
      <p:graphicFrame>
        <p:nvGraphicFramePr>
          <p:cNvPr id="4" name="Chart">
            <a:extLst>
              <a:ext uri="{FF2B5EF4-FFF2-40B4-BE49-F238E27FC236}">
                <a16:creationId xmlns:a16="http://schemas.microsoft.com/office/drawing/2014/main" id="{4FBAF8A3-BE6E-4B21-9633-456ECB239CED}"/>
              </a:ext>
            </a:extLst>
          </p:cNvPr>
          <p:cNvGraphicFramePr/>
          <p:nvPr>
            <p:extLst>
              <p:ext uri="{D42A27DB-BD31-4B8C-83A1-F6EECF244321}">
                <p14:modId xmlns:p14="http://schemas.microsoft.com/office/powerpoint/2010/main" val="2324044489"/>
              </p:ext>
            </p:extLst>
          </p:nvPr>
        </p:nvGraphicFramePr>
        <p:xfrm>
          <a:off x="685800" y="1715233"/>
          <a:ext cx="10001250" cy="3428267"/>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757C50A-221E-4161-AAC8-E0AFE7BDF0C4}"/>
              </a:ext>
            </a:extLst>
          </p:cNvPr>
          <p:cNvSpPr>
            <a:spLocks noGrp="1"/>
          </p:cNvSpPr>
          <p:nvPr/>
        </p:nvSpPr>
        <p:spPr>
          <a:xfrm>
            <a:off x="685800" y="5476875"/>
            <a:ext cx="10668000" cy="523875"/>
          </a:xfrm>
          <a:prstGeom prst="rect">
            <a:avLst/>
          </a:prstGeom>
          <a:noFill/>
          <a:ln w="0">
            <a:noFill/>
          </a:ln>
        </p:spPr>
        <p:txBody>
          <a:bodyPr lIns="0" tIns="0" rIns="0" bIns="0" anchor="t"/>
          <a:lstStyle>
            <a:defPPr>
              <a:defRPr sz="2700" b="1">
                <a:solidFill>
                  <a:srgbClr val="17283C"/>
                </a:solidFill>
              </a:defRPr>
            </a:defPPr>
          </a:lstStyle>
          <a:p>
            <a:pPr>
              <a:defRPr sz="2700" b="1">
                <a:solidFill>
                  <a:srgbClr val="17283C"/>
                </a:solidFill>
              </a:defRPr>
            </a:pPr>
            <a:r>
              <a:rPr sz="2700" b="1">
                <a:solidFill>
                  <a:srgbClr val="17283C"/>
                </a:solidFill>
              </a:rPr>
              <a:t>21% autonomous     64% assisted</a:t>
            </a:r>
          </a:p>
        </p:txBody>
      </p:sp>
    </p:spTree>
    <p:extLst>
      <p:ext uri="{BB962C8B-B14F-4D97-AF65-F5344CB8AC3E}">
        <p14:creationId xmlns:p14="http://schemas.microsoft.com/office/powerpoint/2010/main" val="1983281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B48C7D-6C3A-4080-BDFA-F450DC3F7CAB}"/>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Where autonomous execution breaks down</a:t>
            </a:r>
          </a:p>
        </p:txBody>
      </p:sp>
      <p:sp>
        <p:nvSpPr>
          <p:cNvPr id="2" name="Rectangle 1">
            <a:extLst>
              <a:ext uri="{FF2B5EF4-FFF2-40B4-BE49-F238E27FC236}">
                <a16:creationId xmlns:a16="http://schemas.microsoft.com/office/drawing/2014/main" id="{B2B6C51E-8B5B-4E0F-AD7C-1C0B80DE6ECB}"/>
              </a:ext>
            </a:extLst>
          </p:cNvPr>
          <p:cNvSpPr>
            <a:spLocks noGrp="1"/>
          </p:cNvSpPr>
          <p:nvPr/>
        </p:nvSpPr>
        <p:spPr>
          <a:xfrm>
            <a:off x="10839450"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lang="en-US" sz="1250">
                <a:solidFill>
                  <a:srgbClr val="526173"/>
                </a:solidFill>
              </a:rPr>
              <a:t>9</a:t>
            </a:r>
            <a:endParaRPr sz="1275" b="0">
              <a:solidFill>
                <a:srgbClr val="526173"/>
              </a:solidFill>
            </a:endParaRPr>
          </a:p>
        </p:txBody>
      </p:sp>
      <p:sp>
        <p:nvSpPr>
          <p:cNvPr id="3" name="Rectangle 2">
            <a:extLst>
              <a:ext uri="{FF2B5EF4-FFF2-40B4-BE49-F238E27FC236}">
                <a16:creationId xmlns:a16="http://schemas.microsoft.com/office/drawing/2014/main" id="{8DC3B077-48B0-473B-A464-7D54825D4398}"/>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§4.1, §5.2 and Figure 5</a:t>
            </a:r>
          </a:p>
        </p:txBody>
      </p:sp>
      <p:sp>
        <p:nvSpPr>
          <p:cNvPr id="4" name="Rectangle 3">
            <a:extLst>
              <a:ext uri="{FF2B5EF4-FFF2-40B4-BE49-F238E27FC236}">
                <a16:creationId xmlns:a16="http://schemas.microsoft.com/office/drawing/2014/main" id="{01E2572A-B5F3-497A-B653-9265D7D00F08}"/>
              </a:ext>
            </a:extLst>
          </p:cNvPr>
          <p:cNvSpPr>
            <a:spLocks noGrp="1"/>
          </p:cNvSpPr>
          <p:nvPr/>
        </p:nvSpPr>
        <p:spPr>
          <a:xfrm>
            <a:off x="685800" y="180975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Detection to exploitation</a:t>
            </a:r>
          </a:p>
        </p:txBody>
      </p:sp>
      <p:sp>
        <p:nvSpPr>
          <p:cNvPr id="5" name="Rectangle 4">
            <a:extLst>
              <a:ext uri="{FF2B5EF4-FFF2-40B4-BE49-F238E27FC236}">
                <a16:creationId xmlns:a16="http://schemas.microsoft.com/office/drawing/2014/main" id="{12134A75-D8D9-4600-9A3A-C0A0A78D15E1}"/>
              </a:ext>
            </a:extLst>
          </p:cNvPr>
          <p:cNvSpPr>
            <a:spLocks noGrp="1"/>
          </p:cNvSpPr>
          <p:nvPr/>
        </p:nvSpPr>
        <p:spPr>
          <a:xfrm>
            <a:off x="4476750" y="180975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lang="en-US" sz="2100">
                <a:solidFill>
                  <a:srgbClr val="17283C"/>
                </a:solidFill>
              </a:rPr>
              <a:t>Recognizing</a:t>
            </a:r>
            <a:r>
              <a:rPr sz="2100" b="0">
                <a:solidFill>
                  <a:srgbClr val="17283C"/>
                </a:solidFill>
              </a:rPr>
              <a:t> a weakness can still lead to an unsuccessful action.</a:t>
            </a:r>
          </a:p>
        </p:txBody>
      </p:sp>
      <p:sp>
        <p:nvSpPr>
          <p:cNvPr id="6" name="Rectangle 5">
            <a:extLst>
              <a:ext uri="{FF2B5EF4-FFF2-40B4-BE49-F238E27FC236}">
                <a16:creationId xmlns:a16="http://schemas.microsoft.com/office/drawing/2014/main" id="{30F03F15-BE3B-46ED-8E70-E4A9FD6BEB70}"/>
              </a:ext>
            </a:extLst>
          </p:cNvPr>
          <p:cNvSpPr>
            <a:spLocks noGrp="1"/>
          </p:cNvSpPr>
          <p:nvPr/>
        </p:nvSpPr>
        <p:spPr>
          <a:xfrm>
            <a:off x="685800" y="3076575"/>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Tool configuration</a:t>
            </a:r>
          </a:p>
        </p:txBody>
      </p:sp>
      <p:sp>
        <p:nvSpPr>
          <p:cNvPr id="7" name="Rectangle 6">
            <a:extLst>
              <a:ext uri="{FF2B5EF4-FFF2-40B4-BE49-F238E27FC236}">
                <a16:creationId xmlns:a16="http://schemas.microsoft.com/office/drawing/2014/main" id="{EA2AA941-20D6-404F-BE01-AFD3D723D852}"/>
              </a:ext>
            </a:extLst>
          </p:cNvPr>
          <p:cNvSpPr>
            <a:spLocks noGrp="1"/>
          </p:cNvSpPr>
          <p:nvPr/>
        </p:nvSpPr>
        <p:spPr>
          <a:xfrm>
            <a:off x="4476750" y="3076575"/>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Incorrect parameters and lost context interrupt execution.</a:t>
            </a:r>
          </a:p>
        </p:txBody>
      </p:sp>
      <p:sp>
        <p:nvSpPr>
          <p:cNvPr id="8" name="Rectangle 7">
            <a:extLst>
              <a:ext uri="{FF2B5EF4-FFF2-40B4-BE49-F238E27FC236}">
                <a16:creationId xmlns:a16="http://schemas.microsoft.com/office/drawing/2014/main" id="{65FBF218-A492-46B1-8FC9-38E28F5F9BFA}"/>
              </a:ext>
            </a:extLst>
          </p:cNvPr>
          <p:cNvSpPr>
            <a:spLocks noGrp="1"/>
          </p:cNvSpPr>
          <p:nvPr/>
        </p:nvSpPr>
        <p:spPr>
          <a:xfrm>
            <a:off x="685800" y="434340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Run-to-run variability</a:t>
            </a:r>
          </a:p>
        </p:txBody>
      </p:sp>
      <p:sp>
        <p:nvSpPr>
          <p:cNvPr id="9" name="Rectangle 8">
            <a:extLst>
              <a:ext uri="{FF2B5EF4-FFF2-40B4-BE49-F238E27FC236}">
                <a16:creationId xmlns:a16="http://schemas.microsoft.com/office/drawing/2014/main" id="{1D4228D1-CCC6-4EA0-88E5-6480F8ABC45C}"/>
              </a:ext>
            </a:extLst>
          </p:cNvPr>
          <p:cNvSpPr>
            <a:spLocks noGrp="1"/>
          </p:cNvSpPr>
          <p:nvPr/>
        </p:nvSpPr>
        <p:spPr>
          <a:xfrm>
            <a:off x="4476750" y="434340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Temperature 0 still permits variable execution trajectories.</a:t>
            </a:r>
          </a:p>
        </p:txBody>
      </p:sp>
    </p:spTree>
    <p:extLst>
      <p:ext uri="{BB962C8B-B14F-4D97-AF65-F5344CB8AC3E}">
        <p14:creationId xmlns:p14="http://schemas.microsoft.com/office/powerpoint/2010/main" val="1787926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14EC53-5915-4472-8AA1-80020C8D9890}"/>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What the paper does well</a:t>
            </a:r>
          </a:p>
        </p:txBody>
      </p:sp>
      <p:sp>
        <p:nvSpPr>
          <p:cNvPr id="2" name="Rectangle 1">
            <a:extLst>
              <a:ext uri="{FF2B5EF4-FFF2-40B4-BE49-F238E27FC236}">
                <a16:creationId xmlns:a16="http://schemas.microsoft.com/office/drawing/2014/main" id="{D56CCBCA-9431-4EC2-846C-4BC252DC0018}"/>
              </a:ext>
            </a:extLst>
          </p:cNvPr>
          <p:cNvSpPr>
            <a:spLocks noGrp="1"/>
          </p:cNvSpPr>
          <p:nvPr/>
        </p:nvSpPr>
        <p:spPr>
          <a:xfrm>
            <a:off x="10898065"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sz="1275" b="0">
                <a:solidFill>
                  <a:srgbClr val="526173"/>
                </a:solidFill>
              </a:rPr>
              <a:t>10</a:t>
            </a:r>
          </a:p>
        </p:txBody>
      </p:sp>
      <p:sp>
        <p:nvSpPr>
          <p:cNvPr id="3" name="Rectangle 2">
            <a:extLst>
              <a:ext uri="{FF2B5EF4-FFF2-40B4-BE49-F238E27FC236}">
                <a16:creationId xmlns:a16="http://schemas.microsoft.com/office/drawing/2014/main" id="{76700477-7AE6-410A-900F-2DCAA3349E78}"/>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§2, §3 and §6. Assessment by the presenters.</a:t>
            </a:r>
          </a:p>
        </p:txBody>
      </p:sp>
      <p:sp>
        <p:nvSpPr>
          <p:cNvPr id="4" name="Rectangle 3">
            <a:extLst>
              <a:ext uri="{FF2B5EF4-FFF2-40B4-BE49-F238E27FC236}">
                <a16:creationId xmlns:a16="http://schemas.microsoft.com/office/drawing/2014/main" id="{9AEC0955-71EB-4298-823B-4F7E888F141D}"/>
              </a:ext>
            </a:extLst>
          </p:cNvPr>
          <p:cNvSpPr>
            <a:spLocks noGrp="1"/>
          </p:cNvSpPr>
          <p:nvPr/>
        </p:nvSpPr>
        <p:spPr>
          <a:xfrm>
            <a:off x="685800" y="180975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Reproducible infrastructure</a:t>
            </a:r>
          </a:p>
        </p:txBody>
      </p:sp>
      <p:sp>
        <p:nvSpPr>
          <p:cNvPr id="5" name="Rectangle 4">
            <a:extLst>
              <a:ext uri="{FF2B5EF4-FFF2-40B4-BE49-F238E27FC236}">
                <a16:creationId xmlns:a16="http://schemas.microsoft.com/office/drawing/2014/main" id="{CCF0626B-9CFA-439F-ACF8-54D89754A1CF}"/>
              </a:ext>
            </a:extLst>
          </p:cNvPr>
          <p:cNvSpPr>
            <a:spLocks noGrp="1"/>
          </p:cNvSpPr>
          <p:nvPr/>
        </p:nvSpPr>
        <p:spPr>
          <a:xfrm>
            <a:off x="4476750" y="180975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Container tasks and an open tool interface support comparisons.</a:t>
            </a:r>
          </a:p>
        </p:txBody>
      </p:sp>
      <p:sp>
        <p:nvSpPr>
          <p:cNvPr id="6" name="Rectangle 5">
            <a:extLst>
              <a:ext uri="{FF2B5EF4-FFF2-40B4-BE49-F238E27FC236}">
                <a16:creationId xmlns:a16="http://schemas.microsoft.com/office/drawing/2014/main" id="{9E4B7ADA-16B0-4990-9583-FED98233913E}"/>
              </a:ext>
            </a:extLst>
          </p:cNvPr>
          <p:cNvSpPr>
            <a:spLocks noGrp="1"/>
          </p:cNvSpPr>
          <p:nvPr/>
        </p:nvSpPr>
        <p:spPr>
          <a:xfrm>
            <a:off x="685800" y="3076575"/>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Evidence beyond the final score</a:t>
            </a:r>
          </a:p>
        </p:txBody>
      </p:sp>
      <p:sp>
        <p:nvSpPr>
          <p:cNvPr id="7" name="Rectangle 6">
            <a:extLst>
              <a:ext uri="{FF2B5EF4-FFF2-40B4-BE49-F238E27FC236}">
                <a16:creationId xmlns:a16="http://schemas.microsoft.com/office/drawing/2014/main" id="{C2024DB4-4DFF-4DCA-A3A7-A00B51316ECA}"/>
              </a:ext>
            </a:extLst>
          </p:cNvPr>
          <p:cNvSpPr>
            <a:spLocks noGrp="1"/>
          </p:cNvSpPr>
          <p:nvPr/>
        </p:nvSpPr>
        <p:spPr>
          <a:xfrm>
            <a:off x="4476750" y="3076575"/>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Milestones expose stages where agents stop making progress.</a:t>
            </a:r>
          </a:p>
        </p:txBody>
      </p:sp>
      <p:sp>
        <p:nvSpPr>
          <p:cNvPr id="8" name="Rectangle 7">
            <a:extLst>
              <a:ext uri="{FF2B5EF4-FFF2-40B4-BE49-F238E27FC236}">
                <a16:creationId xmlns:a16="http://schemas.microsoft.com/office/drawing/2014/main" id="{E118B43B-84F2-4BB8-B771-EBEE4FABD465}"/>
              </a:ext>
            </a:extLst>
          </p:cNvPr>
          <p:cNvSpPr>
            <a:spLocks noGrp="1"/>
          </p:cNvSpPr>
          <p:nvPr/>
        </p:nvSpPr>
        <p:spPr>
          <a:xfrm>
            <a:off x="685800" y="434340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A useful autonomy comparison</a:t>
            </a:r>
          </a:p>
        </p:txBody>
      </p:sp>
      <p:sp>
        <p:nvSpPr>
          <p:cNvPr id="9" name="Rectangle 8">
            <a:extLst>
              <a:ext uri="{FF2B5EF4-FFF2-40B4-BE49-F238E27FC236}">
                <a16:creationId xmlns:a16="http://schemas.microsoft.com/office/drawing/2014/main" id="{C62EEBE5-A6D0-435E-A77A-41258A158A3B}"/>
              </a:ext>
            </a:extLst>
          </p:cNvPr>
          <p:cNvSpPr>
            <a:spLocks noGrp="1"/>
          </p:cNvSpPr>
          <p:nvPr/>
        </p:nvSpPr>
        <p:spPr>
          <a:xfrm>
            <a:off x="4476750" y="434340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The study distinguishes strategic guidance from agent execution.</a:t>
            </a:r>
          </a:p>
        </p:txBody>
      </p:sp>
    </p:spTree>
    <p:extLst>
      <p:ext uri="{BB962C8B-B14F-4D97-AF65-F5344CB8AC3E}">
        <p14:creationId xmlns:p14="http://schemas.microsoft.com/office/powerpoint/2010/main" val="1038852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F4DE72-F70C-4B76-A7C0-348789E9D3D4}"/>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Limits on the conclusions</a:t>
            </a:r>
          </a:p>
        </p:txBody>
      </p:sp>
      <p:sp>
        <p:nvSpPr>
          <p:cNvPr id="2" name="Rectangle 1">
            <a:extLst>
              <a:ext uri="{FF2B5EF4-FFF2-40B4-BE49-F238E27FC236}">
                <a16:creationId xmlns:a16="http://schemas.microsoft.com/office/drawing/2014/main" id="{023187C5-04B6-4443-AFE8-C8A5725EDD4F}"/>
              </a:ext>
            </a:extLst>
          </p:cNvPr>
          <p:cNvSpPr>
            <a:spLocks noGrp="1"/>
          </p:cNvSpPr>
          <p:nvPr/>
        </p:nvSpPr>
        <p:spPr>
          <a:xfrm>
            <a:off x="10874619"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sz="1275" b="0">
                <a:solidFill>
                  <a:srgbClr val="526173"/>
                </a:solidFill>
              </a:rPr>
              <a:t>11</a:t>
            </a:r>
          </a:p>
        </p:txBody>
      </p:sp>
      <p:sp>
        <p:nvSpPr>
          <p:cNvPr id="3" name="Rectangle 2">
            <a:extLst>
              <a:ext uri="{FF2B5EF4-FFF2-40B4-BE49-F238E27FC236}">
                <a16:creationId xmlns:a16="http://schemas.microsoft.com/office/drawing/2014/main" id="{5DBB24A7-492A-499F-9A24-3D254BD7ABDF}"/>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§4.2, §5 and Limitations. Assessment by the presenters.</a:t>
            </a:r>
          </a:p>
        </p:txBody>
      </p:sp>
      <p:sp>
        <p:nvSpPr>
          <p:cNvPr id="4" name="Rectangle 3">
            <a:extLst>
              <a:ext uri="{FF2B5EF4-FFF2-40B4-BE49-F238E27FC236}">
                <a16:creationId xmlns:a16="http://schemas.microsoft.com/office/drawing/2014/main" id="{7DC23BA5-DEFB-4228-86A9-ECED1245EE93}"/>
              </a:ext>
            </a:extLst>
          </p:cNvPr>
          <p:cNvSpPr>
            <a:spLocks noGrp="1"/>
          </p:cNvSpPr>
          <p:nvPr/>
        </p:nvSpPr>
        <p:spPr>
          <a:xfrm>
            <a:off x="685800" y="180975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Known, isolated targets</a:t>
            </a:r>
          </a:p>
        </p:txBody>
      </p:sp>
      <p:sp>
        <p:nvSpPr>
          <p:cNvPr id="5" name="Rectangle 4">
            <a:extLst>
              <a:ext uri="{FF2B5EF4-FFF2-40B4-BE49-F238E27FC236}">
                <a16:creationId xmlns:a16="http://schemas.microsoft.com/office/drawing/2014/main" id="{51801BE5-79C0-4F7F-BBF2-E8C74C85B546}"/>
              </a:ext>
            </a:extLst>
          </p:cNvPr>
          <p:cNvSpPr>
            <a:spLocks noGrp="1"/>
          </p:cNvSpPr>
          <p:nvPr/>
        </p:nvSpPr>
        <p:spPr>
          <a:xfrm>
            <a:off x="4476750" y="180975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Public exploits and single-system tasks limit generalisation.</a:t>
            </a:r>
          </a:p>
        </p:txBody>
      </p:sp>
      <p:sp>
        <p:nvSpPr>
          <p:cNvPr id="6" name="Rectangle 5">
            <a:extLst>
              <a:ext uri="{FF2B5EF4-FFF2-40B4-BE49-F238E27FC236}">
                <a16:creationId xmlns:a16="http://schemas.microsoft.com/office/drawing/2014/main" id="{D83EEB64-FF30-4051-A850-1414ABE0293C}"/>
              </a:ext>
            </a:extLst>
          </p:cNvPr>
          <p:cNvSpPr>
            <a:spLocks noGrp="1"/>
          </p:cNvSpPr>
          <p:nvPr/>
        </p:nvSpPr>
        <p:spPr>
          <a:xfrm>
            <a:off x="685800" y="3076575"/>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Strong human guidance</a:t>
            </a:r>
          </a:p>
        </p:txBody>
      </p:sp>
      <p:sp>
        <p:nvSpPr>
          <p:cNvPr id="7" name="Rectangle 6">
            <a:extLst>
              <a:ext uri="{FF2B5EF4-FFF2-40B4-BE49-F238E27FC236}">
                <a16:creationId xmlns:a16="http://schemas.microsoft.com/office/drawing/2014/main" id="{6388F2BC-25E3-42A7-B286-B4F7E97B5347}"/>
              </a:ext>
            </a:extLst>
          </p:cNvPr>
          <p:cNvSpPr>
            <a:spLocks noGrp="1"/>
          </p:cNvSpPr>
          <p:nvPr/>
        </p:nvSpPr>
        <p:spPr>
          <a:xfrm>
            <a:off x="4476750" y="3076575"/>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Vulnerability knowledge and memory resets both affect the result.</a:t>
            </a:r>
          </a:p>
        </p:txBody>
      </p:sp>
      <p:sp>
        <p:nvSpPr>
          <p:cNvPr id="8" name="Rectangle 7">
            <a:extLst>
              <a:ext uri="{FF2B5EF4-FFF2-40B4-BE49-F238E27FC236}">
                <a16:creationId xmlns:a16="http://schemas.microsoft.com/office/drawing/2014/main" id="{83D12EF3-3518-4E8D-AB82-9B466D469147}"/>
              </a:ext>
            </a:extLst>
          </p:cNvPr>
          <p:cNvSpPr>
            <a:spLocks noGrp="1"/>
          </p:cNvSpPr>
          <p:nvPr/>
        </p:nvSpPr>
        <p:spPr>
          <a:xfrm>
            <a:off x="685800" y="4343400"/>
            <a:ext cx="3476625" cy="666750"/>
          </a:xfrm>
          <a:prstGeom prst="rect">
            <a:avLst/>
          </a:prstGeom>
          <a:noFill/>
          <a:ln w="0">
            <a:noFill/>
          </a:ln>
        </p:spPr>
        <p:txBody>
          <a:bodyPr lIns="0" tIns="0" rIns="0" bIns="0" anchor="t"/>
          <a:lstStyle>
            <a:defPPr>
              <a:defRPr sz="2250" b="1">
                <a:solidFill>
                  <a:srgbClr val="245CC5"/>
                </a:solidFill>
              </a:defRPr>
            </a:defPPr>
          </a:lstStyle>
          <a:p>
            <a:pPr>
              <a:defRPr sz="2250" b="1">
                <a:solidFill>
                  <a:srgbClr val="245CC5"/>
                </a:solidFill>
              </a:defRPr>
            </a:pPr>
            <a:r>
              <a:rPr sz="2250" b="1">
                <a:solidFill>
                  <a:srgbClr val="245CC5"/>
                </a:solidFill>
              </a:rPr>
              <a:t>Limited breadth of evaluation</a:t>
            </a:r>
          </a:p>
        </p:txBody>
      </p:sp>
      <p:sp>
        <p:nvSpPr>
          <p:cNvPr id="9" name="Rectangle 8">
            <a:extLst>
              <a:ext uri="{FF2B5EF4-FFF2-40B4-BE49-F238E27FC236}">
                <a16:creationId xmlns:a16="http://schemas.microsoft.com/office/drawing/2014/main" id="{979AFB1D-CC2A-4FD6-9F2F-9FC3ACCCF289}"/>
              </a:ext>
            </a:extLst>
          </p:cNvPr>
          <p:cNvSpPr>
            <a:spLocks noGrp="1"/>
          </p:cNvSpPr>
          <p:nvPr/>
        </p:nvSpPr>
        <p:spPr>
          <a:xfrm>
            <a:off x="4476750" y="4343400"/>
            <a:ext cx="6953250" cy="952500"/>
          </a:xfrm>
          <a:prstGeom prst="rect">
            <a:avLst/>
          </a:prstGeom>
          <a:noFill/>
          <a:ln w="0">
            <a:noFill/>
          </a:ln>
        </p:spPr>
        <p:txBody>
          <a:bodyPr lIns="0" tIns="0" rIns="0" bIns="0" anchor="t"/>
          <a:lstStyle>
            <a:defPPr>
              <a:defRPr sz="2100" b="0">
                <a:solidFill>
                  <a:srgbClr val="17283C"/>
                </a:solidFill>
              </a:defRPr>
            </a:defPPr>
          </a:lstStyle>
          <a:p>
            <a:pPr>
              <a:defRPr sz="2100" b="0">
                <a:solidFill>
                  <a:srgbClr val="17283C"/>
                </a:solidFill>
              </a:defRPr>
            </a:pPr>
            <a:r>
              <a:rPr sz="2100" b="0">
                <a:solidFill>
                  <a:srgbClr val="17283C"/>
                </a:solidFill>
              </a:rPr>
              <a:t>One main model, two architectures, small task categories.</a:t>
            </a:r>
          </a:p>
        </p:txBody>
      </p:sp>
      <p:sp>
        <p:nvSpPr>
          <p:cNvPr id="10" name="Rectangle 9">
            <a:extLst>
              <a:ext uri="{FF2B5EF4-FFF2-40B4-BE49-F238E27FC236}">
                <a16:creationId xmlns:a16="http://schemas.microsoft.com/office/drawing/2014/main" id="{FA8860EF-5C95-477D-9EAD-4B61BE40EF7B}"/>
              </a:ext>
            </a:extLst>
          </p:cNvPr>
          <p:cNvSpPr>
            <a:spLocks noGrp="1"/>
          </p:cNvSpPr>
          <p:nvPr/>
        </p:nvSpPr>
        <p:spPr>
          <a:xfrm>
            <a:off x="685800" y="5619750"/>
            <a:ext cx="10668000" cy="428625"/>
          </a:xfrm>
          <a:prstGeom prst="rect">
            <a:avLst/>
          </a:prstGeom>
          <a:noFill/>
          <a:ln w="0">
            <a:noFill/>
          </a:ln>
        </p:spPr>
        <p:txBody>
          <a:bodyPr lIns="0" tIns="0" rIns="0" bIns="0" anchor="t"/>
          <a:lstStyle>
            <a:defPPr>
              <a:defRPr sz="2025" b="1">
                <a:solidFill>
                  <a:srgbClr val="087F79"/>
                </a:solidFill>
              </a:defRPr>
            </a:defPPr>
          </a:lstStyle>
          <a:p>
            <a:pPr>
              <a:defRPr sz="2025" b="1">
                <a:solidFill>
                  <a:srgbClr val="087F79"/>
                </a:solidFill>
              </a:defRPr>
            </a:pPr>
            <a:r>
              <a:rPr sz="2025" b="1">
                <a:solidFill>
                  <a:srgbClr val="087F79"/>
                </a:solidFill>
              </a:rPr>
              <a:t>A stronger follow-up would vary guidance and repeat every task.</a:t>
            </a:r>
          </a:p>
        </p:txBody>
      </p:sp>
    </p:spTree>
    <p:extLst>
      <p:ext uri="{BB962C8B-B14F-4D97-AF65-F5344CB8AC3E}">
        <p14:creationId xmlns:p14="http://schemas.microsoft.com/office/powerpoint/2010/main" val="39364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FB2DAC-9823-4518-827E-C716090B6AEF}"/>
              </a:ext>
            </a:extLst>
          </p:cNvPr>
          <p:cNvSpPr>
            <a:spLocks noGrp="1"/>
          </p:cNvSpPr>
          <p:nvPr/>
        </p:nvSpPr>
        <p:spPr>
          <a:xfrm>
            <a:off x="685800" y="523875"/>
            <a:ext cx="10820400" cy="952500"/>
          </a:xfrm>
          <a:prstGeom prst="rect">
            <a:avLst/>
          </a:prstGeom>
          <a:noFill/>
          <a:ln w="0">
            <a:noFill/>
          </a:ln>
        </p:spPr>
        <p:txBody>
          <a:bodyPr lIns="0" tIns="0" rIns="0" bIns="0" anchor="t"/>
          <a:lstStyle>
            <a:defPPr>
              <a:defRPr sz="3300" b="1">
                <a:solidFill>
                  <a:srgbClr val="17283C"/>
                </a:solidFill>
              </a:defRPr>
            </a:defPPr>
          </a:lstStyle>
          <a:p>
            <a:pPr>
              <a:defRPr sz="3300" b="1">
                <a:solidFill>
                  <a:srgbClr val="17283C"/>
                </a:solidFill>
              </a:defRPr>
            </a:pPr>
            <a:r>
              <a:rPr sz="3300" b="1">
                <a:solidFill>
                  <a:srgbClr val="17283C"/>
                </a:solidFill>
              </a:rPr>
              <a:t>Course connection and our </a:t>
            </a:r>
            <a:r>
              <a:rPr lang="en-US" sz="3300" b="1">
                <a:solidFill>
                  <a:srgbClr val="17283C"/>
                </a:solidFill>
              </a:rPr>
              <a:t>conclusion</a:t>
            </a:r>
            <a:endParaRPr sz="3300" b="1">
              <a:solidFill>
                <a:srgbClr val="17283C"/>
              </a:solidFill>
            </a:endParaRPr>
          </a:p>
        </p:txBody>
      </p:sp>
      <p:sp>
        <p:nvSpPr>
          <p:cNvPr id="2" name="Rectangle 1">
            <a:extLst>
              <a:ext uri="{FF2B5EF4-FFF2-40B4-BE49-F238E27FC236}">
                <a16:creationId xmlns:a16="http://schemas.microsoft.com/office/drawing/2014/main" id="{6B49066C-3CFF-42FE-A1FF-D3561D438E98}"/>
              </a:ext>
            </a:extLst>
          </p:cNvPr>
          <p:cNvSpPr>
            <a:spLocks noGrp="1"/>
          </p:cNvSpPr>
          <p:nvPr/>
        </p:nvSpPr>
        <p:spPr>
          <a:xfrm>
            <a:off x="10898065" y="6255727"/>
            <a:ext cx="361950" cy="238125"/>
          </a:xfrm>
          <a:prstGeom prst="rect">
            <a:avLst/>
          </a:prstGeom>
          <a:noFill/>
          <a:ln w="0">
            <a:noFill/>
          </a:ln>
        </p:spPr>
        <p:txBody>
          <a:bodyPr lIns="0" tIns="0" rIns="0" bIns="0" anchor="t"/>
          <a:lstStyle>
            <a:defPPr>
              <a:defRPr sz="1275" b="0">
                <a:solidFill>
                  <a:srgbClr val="526173"/>
                </a:solidFill>
              </a:defRPr>
            </a:defPPr>
          </a:lstStyle>
          <a:p>
            <a:pPr>
              <a:defRPr sz="1275" b="0">
                <a:solidFill>
                  <a:srgbClr val="526173"/>
                </a:solidFill>
              </a:defRPr>
            </a:pPr>
            <a:r>
              <a:rPr sz="1275" b="0">
                <a:solidFill>
                  <a:srgbClr val="526173"/>
                </a:solidFill>
              </a:rPr>
              <a:t>12</a:t>
            </a:r>
          </a:p>
        </p:txBody>
      </p:sp>
      <p:sp>
        <p:nvSpPr>
          <p:cNvPr id="3" name="Rectangle 2">
            <a:extLst>
              <a:ext uri="{FF2B5EF4-FFF2-40B4-BE49-F238E27FC236}">
                <a16:creationId xmlns:a16="http://schemas.microsoft.com/office/drawing/2014/main" id="{F6F868FA-C6AD-4721-AA95-533D3A59E3A4}"/>
              </a:ext>
            </a:extLst>
          </p:cNvPr>
          <p:cNvSpPr>
            <a:spLocks noGrp="1"/>
          </p:cNvSpPr>
          <p:nvPr/>
        </p:nvSpPr>
        <p:spPr>
          <a:xfrm>
            <a:off x="685800" y="6210300"/>
            <a:ext cx="10001250" cy="333375"/>
          </a:xfrm>
          <a:prstGeom prst="rect">
            <a:avLst/>
          </a:prstGeom>
          <a:noFill/>
          <a:ln w="0">
            <a:noFill/>
          </a:ln>
        </p:spPr>
        <p:txBody>
          <a:bodyPr lIns="0" tIns="0" rIns="0" bIns="0" anchor="t"/>
          <a:lstStyle>
            <a:defPPr>
              <a:defRPr sz="1200" b="0">
                <a:solidFill>
                  <a:srgbClr val="526173"/>
                </a:solidFill>
              </a:defRPr>
            </a:defPPr>
          </a:lstStyle>
          <a:p>
            <a:pPr>
              <a:defRPr sz="1200" b="0">
                <a:solidFill>
                  <a:srgbClr val="526173"/>
                </a:solidFill>
              </a:defRPr>
            </a:pPr>
            <a:r>
              <a:rPr sz="1200" b="0">
                <a:solidFill>
                  <a:srgbClr val="526173"/>
                </a:solidFill>
              </a:rPr>
              <a:t>Paper §3–6. Course connection and verdict by the presenters.</a:t>
            </a:r>
          </a:p>
        </p:txBody>
      </p:sp>
      <p:sp>
        <p:nvSpPr>
          <p:cNvPr id="4" name="Rectangle 3">
            <a:extLst>
              <a:ext uri="{FF2B5EF4-FFF2-40B4-BE49-F238E27FC236}">
                <a16:creationId xmlns:a16="http://schemas.microsoft.com/office/drawing/2014/main" id="{1CC2F459-CC5E-4D12-A241-F5B4FF786524}"/>
              </a:ext>
            </a:extLst>
          </p:cNvPr>
          <p:cNvSpPr>
            <a:spLocks noGrp="1"/>
          </p:cNvSpPr>
          <p:nvPr/>
        </p:nvSpPr>
        <p:spPr>
          <a:xfrm>
            <a:off x="685800" y="1809750"/>
            <a:ext cx="4572000" cy="523875"/>
          </a:xfrm>
          <a:prstGeom prst="rect">
            <a:avLst/>
          </a:prstGeom>
          <a:noFill/>
          <a:ln w="0">
            <a:noFill/>
          </a:ln>
        </p:spPr>
        <p:txBody>
          <a:bodyPr lIns="0" tIns="0" rIns="0" bIns="0" anchor="t"/>
          <a:lstStyle>
            <a:defPPr>
              <a:defRPr sz="2325" b="1">
                <a:solidFill>
                  <a:srgbClr val="245CC5"/>
                </a:solidFill>
              </a:defRPr>
            </a:defPPr>
          </a:lstStyle>
          <a:p>
            <a:pPr>
              <a:defRPr sz="2325" b="1">
                <a:solidFill>
                  <a:srgbClr val="245CC5"/>
                </a:solidFill>
              </a:defRPr>
            </a:pPr>
            <a:r>
              <a:rPr sz="2325" b="1">
                <a:solidFill>
                  <a:srgbClr val="245CC5"/>
                </a:solidFill>
              </a:rPr>
              <a:t>Course connection</a:t>
            </a:r>
          </a:p>
        </p:txBody>
      </p:sp>
      <p:sp>
        <p:nvSpPr>
          <p:cNvPr id="5" name="Rectangle 4">
            <a:extLst>
              <a:ext uri="{FF2B5EF4-FFF2-40B4-BE49-F238E27FC236}">
                <a16:creationId xmlns:a16="http://schemas.microsoft.com/office/drawing/2014/main" id="{B78338AE-7D43-4083-995A-85ACCC1D88F3}"/>
              </a:ext>
            </a:extLst>
          </p:cNvPr>
          <p:cNvSpPr>
            <a:spLocks noGrp="1"/>
          </p:cNvSpPr>
          <p:nvPr/>
        </p:nvSpPr>
        <p:spPr>
          <a:xfrm>
            <a:off x="685800" y="2571750"/>
            <a:ext cx="10287000" cy="1428750"/>
          </a:xfrm>
          <a:prstGeom prst="rect">
            <a:avLst/>
          </a:prstGeom>
          <a:noFill/>
          <a:ln w="0">
            <a:noFill/>
          </a:ln>
        </p:spPr>
        <p:txBody>
          <a:bodyPr lIns="0" tIns="0" rIns="0" bIns="0" anchor="t"/>
          <a:lstStyle>
            <a:defPPr>
              <a:defRPr sz="2175" b="0">
                <a:solidFill>
                  <a:srgbClr val="17283C"/>
                </a:solidFill>
              </a:defRPr>
            </a:defPPr>
          </a:lstStyle>
          <a:p>
            <a:pPr>
              <a:defRPr sz="2175" b="0">
                <a:solidFill>
                  <a:srgbClr val="17283C"/>
                </a:solidFill>
              </a:defRPr>
            </a:pPr>
            <a:r>
              <a:rPr sz="2175" b="0">
                <a:solidFill>
                  <a:srgbClr val="17283C"/>
                </a:solidFill>
              </a:rPr>
              <a:t>Pretrained models applied to cybersecurity</a:t>
            </a:r>
          </a:p>
          <a:p>
            <a:pPr>
              <a:defRPr sz="2175" b="0">
                <a:solidFill>
                  <a:srgbClr val="17283C"/>
                </a:solidFill>
              </a:defRPr>
            </a:pPr>
            <a:r>
              <a:rPr sz="2175" b="0">
                <a:solidFill>
                  <a:srgbClr val="17283C"/>
                </a:solidFill>
              </a:rPr>
              <a:t>Inference-time reasoning and tool use</a:t>
            </a:r>
          </a:p>
          <a:p>
            <a:pPr>
              <a:defRPr sz="2175" b="0">
                <a:solidFill>
                  <a:srgbClr val="17283C"/>
                </a:solidFill>
              </a:defRPr>
            </a:pPr>
            <a:r>
              <a:rPr sz="2175" b="0">
                <a:solidFill>
                  <a:srgbClr val="17283C"/>
                </a:solidFill>
              </a:rPr>
              <a:t>Action traces and limits of explainability</a:t>
            </a:r>
          </a:p>
        </p:txBody>
      </p:sp>
      <p:sp>
        <p:nvSpPr>
          <p:cNvPr id="6" name="Rectangle 5">
            <a:extLst>
              <a:ext uri="{FF2B5EF4-FFF2-40B4-BE49-F238E27FC236}">
                <a16:creationId xmlns:a16="http://schemas.microsoft.com/office/drawing/2014/main" id="{BA127D80-0192-4C10-9E16-1886C3AB5911}"/>
              </a:ext>
            </a:extLst>
          </p:cNvPr>
          <p:cNvSpPr>
            <a:spLocks noGrp="1"/>
          </p:cNvSpPr>
          <p:nvPr/>
        </p:nvSpPr>
        <p:spPr>
          <a:xfrm>
            <a:off x="685800" y="4286250"/>
            <a:ext cx="5715000" cy="476250"/>
          </a:xfrm>
          <a:prstGeom prst="rect">
            <a:avLst/>
          </a:prstGeom>
          <a:noFill/>
          <a:ln w="0">
            <a:noFill/>
          </a:ln>
        </p:spPr>
        <p:txBody>
          <a:bodyPr lIns="0" tIns="0" rIns="0" bIns="0" anchor="t"/>
          <a:lstStyle>
            <a:defPPr>
              <a:defRPr sz="2325" b="1">
                <a:solidFill>
                  <a:srgbClr val="087F79"/>
                </a:solidFill>
              </a:defRPr>
            </a:defPPr>
          </a:lstStyle>
          <a:p>
            <a:pPr>
              <a:defRPr sz="2325" b="1">
                <a:solidFill>
                  <a:srgbClr val="087F79"/>
                </a:solidFill>
              </a:defRPr>
            </a:pPr>
            <a:r>
              <a:rPr sz="2300" b="1">
                <a:solidFill>
                  <a:srgbClr val="087F79"/>
                </a:solidFill>
              </a:rPr>
              <a:t>Our </a:t>
            </a:r>
            <a:r>
              <a:rPr lang="en-US" sz="2300">
                <a:solidFill>
                  <a:srgbClr val="087F79"/>
                </a:solidFill>
                <a:ea typeface="+mn-lt"/>
                <a:cs typeface="+mn-lt"/>
              </a:rPr>
              <a:t>conclusion</a:t>
            </a:r>
            <a:endParaRPr sz="2325" b="1">
              <a:solidFill>
                <a:srgbClr val="087F79"/>
              </a:solidFill>
            </a:endParaRPr>
          </a:p>
        </p:txBody>
      </p:sp>
      <p:sp>
        <p:nvSpPr>
          <p:cNvPr id="7" name="Rectangle 6">
            <a:extLst>
              <a:ext uri="{FF2B5EF4-FFF2-40B4-BE49-F238E27FC236}">
                <a16:creationId xmlns:a16="http://schemas.microsoft.com/office/drawing/2014/main" id="{BD8F6E12-6552-4109-AF57-170B206F1629}"/>
              </a:ext>
            </a:extLst>
          </p:cNvPr>
          <p:cNvSpPr>
            <a:spLocks noGrp="1"/>
          </p:cNvSpPr>
          <p:nvPr/>
        </p:nvSpPr>
        <p:spPr>
          <a:xfrm>
            <a:off x="685800" y="4857750"/>
            <a:ext cx="10572750" cy="1190625"/>
          </a:xfrm>
          <a:prstGeom prst="rect">
            <a:avLst/>
          </a:prstGeom>
          <a:noFill/>
          <a:ln w="0">
            <a:noFill/>
          </a:ln>
        </p:spPr>
        <p:txBody>
          <a:bodyPr lIns="0" tIns="0" rIns="0" bIns="0" anchor="t"/>
          <a:lstStyle>
            <a:defPPr>
              <a:defRPr sz="2250" b="1">
                <a:solidFill>
                  <a:srgbClr val="17283C"/>
                </a:solidFill>
              </a:defRPr>
            </a:defPPr>
          </a:lstStyle>
          <a:p>
            <a:pPr>
              <a:defRPr sz="2250" b="1">
                <a:solidFill>
                  <a:srgbClr val="17283C"/>
                </a:solidFill>
              </a:defRPr>
            </a:pPr>
            <a:r>
              <a:rPr sz="2250" b="1">
                <a:solidFill>
                  <a:srgbClr val="17283C"/>
                </a:solidFill>
              </a:rPr>
              <a:t>A useful benchmark for agent workflows.</a:t>
            </a:r>
          </a:p>
          <a:p>
            <a:pPr>
              <a:defRPr sz="2250" b="1">
                <a:solidFill>
                  <a:srgbClr val="17283C"/>
                </a:solidFill>
              </a:defRPr>
            </a:pPr>
            <a:r>
              <a:rPr sz="2250" b="1">
                <a:solidFill>
                  <a:srgbClr val="17283C"/>
                </a:solidFill>
              </a:rPr>
              <a:t>The tested autonomous agent remains unreliable,</a:t>
            </a:r>
          </a:p>
          <a:p>
            <a:pPr>
              <a:defRPr sz="2250" b="1">
                <a:solidFill>
                  <a:srgbClr val="17283C"/>
                </a:solidFill>
              </a:defRPr>
            </a:pPr>
            <a:r>
              <a:rPr sz="2250" b="1">
                <a:solidFill>
                  <a:srgbClr val="17283C"/>
                </a:solidFill>
              </a:rPr>
              <a:t>while informed human guidance improves completion.</a:t>
            </a:r>
          </a:p>
        </p:txBody>
      </p:sp>
    </p:spTree>
    <p:extLst>
      <p:ext uri="{BB962C8B-B14F-4D97-AF65-F5344CB8AC3E}">
        <p14:creationId xmlns:p14="http://schemas.microsoft.com/office/powerpoint/2010/main" val="104490423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2</cp:revision>
  <dcterms:created xsi:type="dcterms:W3CDTF">2026-10-09T15:24:26Z</dcterms:created>
  <dcterms:modified xsi:type="dcterms:W3CDTF">2026-10-11T12:37:32Z</dcterms:modified>
</cp:coreProperties>
</file>